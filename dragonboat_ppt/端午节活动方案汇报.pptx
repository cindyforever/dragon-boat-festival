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050" y="253901"/>
            <a:ext cx="1905000" cy="1015901"/>
          </a:xfrm>
          <a:prstGeom prst="rect">
            <a:avLst/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238500"/>
            <a:ext cx="3810000" cy="1905000"/>
          </a:xfrm>
          <a:prstGeom prst="rect">
            <a:avLst/>
          </a:prstGeom>
          <a:solidFill>
            <a:srgbClr val="4A7C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37049" y="1276499"/>
            <a:ext cx="5669753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粽情端午，"码"上启航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737049" y="2073325"/>
            <a:ext cx="566975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200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——上研分部2026年端午节活动方案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58827" y="2952601"/>
            <a:ext cx="3626346" cy="914400"/>
          </a:xfrm>
          <a:prstGeom prst="roundRect">
            <a:avLst>
              <a:gd name="adj" fmla="val 11111"/>
            </a:avLst>
          </a:prstGeom>
          <a:solidFill>
            <a:srgbClr val="FFF8E7">
              <a:alpha val="15000"/>
            </a:srgbClr>
          </a:solidFill>
          <a:ln w="9525">
            <a:solidFill>
              <a:srgbClr val="F5B84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49352" y="3152626"/>
            <a:ext cx="290220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服务与软件研发管理部 上研分部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49352" y="3428851"/>
            <a:ext cx="290220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2026年6月18日 (周五) 12:00 - 13:00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7638"/>
            <a:ext cx="21761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活动议程一览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43000"/>
            <a:ext cx="1793825" cy="3619500"/>
          </a:xfrm>
          <a:prstGeom prst="roundRect">
            <a:avLst>
              <a:gd name="adj" fmla="val 84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14289" y="9525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B8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55229" y="10382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3789" y="158740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60562" y="1735038"/>
            <a:ext cx="49807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8991" y="2539901"/>
            <a:ext cx="131174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活动主题与目标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3869" y="3193852"/>
            <a:ext cx="12818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传承·创新·聚力·连接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9226" y="1143000"/>
            <a:ext cx="1793974" cy="3619500"/>
          </a:xfrm>
          <a:prstGeom prst="roundRect">
            <a:avLst>
              <a:gd name="adj" fmla="val 8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25713" y="9525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B8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66654" y="10382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35213" y="158740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71986" y="1735038"/>
            <a:ext cx="49807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894423" y="2539901"/>
            <a:ext cx="12434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活动流程总览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75144" y="2917627"/>
            <a:ext cx="128199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时间安排与项目导览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0651" y="1143000"/>
            <a:ext cx="1793974" cy="3619500"/>
          </a:xfrm>
          <a:prstGeom prst="roundRect">
            <a:avLst>
              <a:gd name="adj" fmla="val 8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37138" y="9525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B8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78078" y="10382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46638" y="158740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83411" y="1735038"/>
            <a:ext cx="49807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05847" y="2539901"/>
            <a:ext cx="12434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精彩项目预览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76699" y="2917627"/>
            <a:ext cx="130187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线下体验 + 线上互动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42075" y="1143000"/>
            <a:ext cx="1793974" cy="3619500"/>
          </a:xfrm>
          <a:prstGeom prst="roundRect">
            <a:avLst>
              <a:gd name="adj" fmla="val 8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48563" y="9525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B8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89503" y="10382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58063" y="158740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CE4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94836" y="1735038"/>
            <a:ext cx="49807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083114" y="2539901"/>
            <a:ext cx="131189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分工与预算说明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97993" y="3193852"/>
            <a:ext cx="128199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周密筹备，保障落地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9126"/>
            <a:ext cx="46631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我们的主题：传承·创新·聚力·连接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52351"/>
            <a:ext cx="1952625" cy="3937248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142851"/>
            <a:ext cx="1647825" cy="63401"/>
          </a:xfrm>
          <a:prstGeom prst="roundRect">
            <a:avLst>
              <a:gd name="adj" fmla="val 60094"/>
            </a:avLst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71563" y="1333202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65473" y="1433215"/>
            <a:ext cx="391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🏮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6863" y="2107704"/>
            <a:ext cx="5311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 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8713" y="2441079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文化导向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6922" y="2694980"/>
            <a:ext cx="1680782" cy="319980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体验传统习俗，感受端午节文化内涵，增强文化自信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4125" y="952351"/>
            <a:ext cx="1952625" cy="3937248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76525" y="1142851"/>
            <a:ext cx="1647825" cy="63401"/>
          </a:xfrm>
          <a:prstGeom prst="roundRect">
            <a:avLst>
              <a:gd name="adj" fmla="val 60094"/>
            </a:avLst>
          </a:prstGeom>
          <a:solidFill>
            <a:srgbClr val="F5B8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14688" y="1333202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FFF8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08598" y="1433215"/>
            <a:ext cx="391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39988" y="2107704"/>
            <a:ext cx="5311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 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71838" y="2441079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创新导向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60047" y="2694980"/>
            <a:ext cx="1680782" cy="319980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结合研发特色，打造新颖有趣的线上线下节日体验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7250" y="952351"/>
            <a:ext cx="1952625" cy="3937248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9650" y="1142851"/>
            <a:ext cx="1647825" cy="63401"/>
          </a:xfrm>
          <a:prstGeom prst="roundRect">
            <a:avLst>
              <a:gd name="adj" fmla="val 60094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57813" y="1333202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51723" y="1433215"/>
            <a:ext cx="391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83113" y="2107704"/>
            <a:ext cx="5311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 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14963" y="2441079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团队导向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3172" y="2694980"/>
            <a:ext cx="1680782" cy="319980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放松身心，促进跨团队交流与协作，提升部门凝聚力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10375" y="952351"/>
            <a:ext cx="1952625" cy="3937248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62775" y="1142851"/>
            <a:ext cx="1647825" cy="63401"/>
          </a:xfrm>
          <a:prstGeom prst="roundRect">
            <a:avLst>
              <a:gd name="adj" fmla="val 60094"/>
            </a:avLst>
          </a:prstGeom>
          <a:solidFill>
            <a:srgbClr val="2C5F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00938" y="1333202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94848" y="1433215"/>
            <a:ext cx="391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💝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526238" y="2107704"/>
            <a:ext cx="53116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 接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558088" y="2441079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温暖导向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6297" y="2694980"/>
            <a:ext cx="1680782" cy="319980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通过线上祝福打破时空限制，加深同事间的温暖连接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9126"/>
            <a:ext cx="56676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活动流程总览 | 6月18日 中午12:00-13:00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251" y="1873151"/>
            <a:ext cx="7315200" cy="50750"/>
          </a:xfrm>
          <a:prstGeom prst="roundRect">
            <a:avLst>
              <a:gd name="adj" fmla="val 50049"/>
            </a:avLst>
          </a:prstGeom>
          <a:solidFill>
            <a:srgbClr val="4A7C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2200" y="1587401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F5B841"/>
          </a:solidFill>
          <a:ln/>
          <a:effectLst>
            <a:outerShdw sx="100000" sy="100000" kx="0" ky="0" algn="bl" rotWithShape="0" blurRad="76200" dist="26941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2558951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活动开场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5326" y="2781151"/>
            <a:ext cx="1814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47701" y="1587401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4A7C59"/>
          </a:solidFill>
          <a:ln/>
          <a:effectLst>
            <a:outerShdw sx="100000" sy="100000" kx="0" ky="0" algn="bl" rotWithShape="0" blurRad="76200" dist="26941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47701" y="2558951"/>
            <a:ext cx="582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主题体验区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96442" y="2781151"/>
            <a:ext cx="4834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包粽子·香囊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473351" y="1587401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E07A5F"/>
          </a:solidFill>
          <a:ln/>
          <a:effectLst>
            <a:outerShdw sx="100000" sy="100000" kx="0" ky="0" algn="bl" rotWithShape="0" blurRad="76200" dist="26941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73351" y="2558951"/>
            <a:ext cx="582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竞技游戏区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2092" y="2781151"/>
            <a:ext cx="4834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划龙舟·套圈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99000" y="1587401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2C5F7C"/>
          </a:solidFill>
          <a:ln/>
          <a:effectLst>
            <a:outerShdw sx="100000" sy="100000" kx="0" ky="0" algn="bl" rotWithShape="0" blurRad="76200" dist="26941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56150" y="2558951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合影留念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06975" y="2781151"/>
            <a:ext cx="36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礼品发放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130951" y="1587401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F5B841"/>
          </a:solidFill>
          <a:ln/>
          <a:effectLst>
            <a:outerShdw sx="100000" sy="100000" kx="0" ky="0" algn="bl" rotWithShape="0" blurRad="76200" dist="26941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88101" y="2558951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活动结束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3238351"/>
            <a:ext cx="8128099" cy="844451"/>
          </a:xfrm>
          <a:prstGeom prst="roundRect">
            <a:avLst>
              <a:gd name="adj" fmla="val 15039"/>
            </a:avLst>
          </a:prstGeom>
          <a:solidFill>
            <a:srgbClr val="FFF8E7"/>
          </a:solidFill>
          <a:ln w="19050">
            <a:solidFill>
              <a:srgbClr val="F5B84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99431" y="3520827"/>
            <a:ext cx="16933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线上祝福活动 · 幸福派送中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99431" y="3711327"/>
            <a:ext cx="1693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贯穿全天，随时传递祝福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79691" y="48227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A7C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15944" y="48227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52197" y="48227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B8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30076"/>
            <a:ext cx="30307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手作时光，粽情心意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44401" y="1722090"/>
            <a:ext cx="3968800" cy="1071860"/>
          </a:xfrm>
          <a:prstGeom prst="roundRect">
            <a:avLst>
              <a:gd name="adj" fmla="val 14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2976" y="1722090"/>
            <a:ext cx="0" cy="1071860"/>
          </a:xfrm>
          <a:prstGeom prst="line">
            <a:avLst/>
          </a:prstGeom>
          <a:noFill/>
          <a:ln w="5715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0901" y="1950690"/>
            <a:ext cx="3420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🫔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包粽子体验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0901" y="2369790"/>
            <a:ext cx="342000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专业师傅指导，甜咸粽料自选，体验亲手制作的乐趣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3047851"/>
            <a:ext cx="3968800" cy="1071860"/>
          </a:xfrm>
          <a:prstGeom prst="roundRect">
            <a:avLst>
              <a:gd name="adj" fmla="val 14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976" y="3047851"/>
            <a:ext cx="0" cy="1071860"/>
          </a:xfrm>
          <a:prstGeom prst="line">
            <a:avLst/>
          </a:prstGeom>
          <a:noFill/>
          <a:ln w="57150">
            <a:solidFill>
              <a:srgbClr val="F5B8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901" y="3276451"/>
            <a:ext cx="3420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💐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香囊DIY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0901" y="3695551"/>
            <a:ext cx="342000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配备多种中药材和香囊包，制作专属辟邪祈福香囊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0651" y="952351"/>
            <a:ext cx="3968948" cy="1892350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22665" y="1642914"/>
            <a:ext cx="80046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0"/>
              </a:spcBef>
              <a:spcAft>
                <a:spcPts val="800"/>
              </a:spcAft>
              <a:buNone/>
            </a:pPr>
            <a:r>
              <a:rPr lang="en-US" sz="4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🫔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6357491" y="2506414"/>
            <a:ext cx="72957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端午·粽香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0651" y="2530376"/>
            <a:ext cx="3968948" cy="314325"/>
          </a:xfrm>
          <a:prstGeom prst="rect">
            <a:avLst/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3051" y="2606576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手工包粽 · 传承文化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0651" y="2997101"/>
            <a:ext cx="3968948" cy="1892498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22665" y="3797350"/>
            <a:ext cx="80046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0"/>
              </a:spcBef>
              <a:spcAft>
                <a:spcPts val="800"/>
              </a:spcAft>
              <a:buNone/>
            </a:pPr>
            <a:r>
              <a:rPr lang="en-US" sz="4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💐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4730651" y="4575274"/>
            <a:ext cx="3968948" cy="314325"/>
          </a:xfrm>
          <a:prstGeom prst="rect">
            <a:avLst/>
          </a:prstGeom>
          <a:solidFill>
            <a:srgbClr val="F5B8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83051" y="46514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香囊祈福 · DIY香囊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30076"/>
            <a:ext cx="33500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智勇双全，"码"上争锋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44401" y="952351"/>
            <a:ext cx="2599283" cy="3581846"/>
          </a:xfrm>
          <a:prstGeom prst="roundRect">
            <a:avLst>
              <a:gd name="adj" fmla="val 5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1268" y="1180951"/>
            <a:ext cx="825401" cy="825401"/>
          </a:xfrm>
          <a:prstGeom prst="roundRect">
            <a:avLst>
              <a:gd name="adj" fmla="val 11078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9424" y="2209502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线上划龙舟比赛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3856" y="2498378"/>
            <a:ext cx="23403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通过手机/电脑小程序进行团队划龙舟竞速，科技感十足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72284" y="952351"/>
            <a:ext cx="2599432" cy="3581846"/>
          </a:xfrm>
          <a:prstGeom prst="roundRect">
            <a:avLst>
              <a:gd name="adj" fmla="val 5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59300" y="1180951"/>
            <a:ext cx="825401" cy="825401"/>
          </a:xfrm>
          <a:prstGeom prst="roundRect">
            <a:avLst>
              <a:gd name="adj" fmla="val 110783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23417" y="2209502"/>
            <a:ext cx="8971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一举高"粽"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738" y="2498378"/>
            <a:ext cx="23405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用套圈投掷粽子玩偶，寓意"一举高中"，祈福项目顺利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00316" y="952351"/>
            <a:ext cx="2599283" cy="3581846"/>
          </a:xfrm>
          <a:prstGeom prst="roundRect">
            <a:avLst>
              <a:gd name="adj" fmla="val 5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87183" y="1180951"/>
            <a:ext cx="825401" cy="825401"/>
          </a:xfrm>
          <a:prstGeom prst="roundRect">
            <a:avLst>
              <a:gd name="adj" fmla="val 110783"/>
            </a:avLst>
          </a:prstGeom>
          <a:solidFill>
            <a:srgbClr val="FCE4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46594" y="2209502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趣味留影区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29771" y="2498378"/>
            <a:ext cx="23403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提供端午主题相框和道具，即时打印照片，留下欢乐瞬间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091" y="4889599"/>
            <a:ext cx="91198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精彩游戏，等你来战！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4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30076"/>
            <a:ext cx="457949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💌 好运"粽"动员，幸福派送中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44401" y="927050"/>
            <a:ext cx="4762649" cy="2182267"/>
          </a:xfrm>
          <a:prstGeom prst="roundRect">
            <a:avLst>
              <a:gd name="adj" fmla="val 69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4551" y="1154609"/>
            <a:ext cx="2362200" cy="1727150"/>
          </a:xfrm>
          <a:prstGeom prst="roundRect">
            <a:avLst>
              <a:gd name="adj" fmla="val 7353"/>
            </a:avLst>
          </a:prstGeom>
          <a:solidFill>
            <a:srgbClr val="FFF8E7"/>
          </a:solidFill>
          <a:ln w="38100">
            <a:solidFill>
              <a:srgbClr val="F5B84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76798" y="1613446"/>
            <a:ext cx="711509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0"/>
              </a:spcBef>
              <a:spcAft>
                <a:spcPts val="8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19201" y="2441972"/>
            <a:ext cx="8290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端午安康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61295" y="2768947"/>
            <a:ext cx="11512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粽叶飘香 · 幸福绵长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401" y="3299817"/>
            <a:ext cx="1485900" cy="1615083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6801" y="3706118"/>
            <a:ext cx="12047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6801" y="4125218"/>
            <a:ext cx="12047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温情连接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6801" y="4366468"/>
            <a:ext cx="1204722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打破场地限制，让因工作无法到场的同事也能参与互动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82701" y="3299817"/>
            <a:ext cx="1486049" cy="1615083"/>
          </a:xfrm>
          <a:prstGeom prst="roundRect">
            <a:avLst>
              <a:gd name="adj" fmla="val 85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35101" y="3706118"/>
            <a:ext cx="12048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35101" y="4125218"/>
            <a:ext cx="12048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惊喜体验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35101" y="4366468"/>
            <a:ext cx="120487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收到祝福贺卡的惊喜感，增强员工归属感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21150" y="3299817"/>
            <a:ext cx="1485900" cy="1615083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73550" y="3706118"/>
            <a:ext cx="12047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73550" y="4125218"/>
            <a:ext cx="12047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文化传递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3550" y="4366468"/>
            <a:ext cx="120472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贺卡融入端午元素，传统与现代的美好结合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24500" y="927050"/>
            <a:ext cx="3175099" cy="68580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76900" y="10794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17840" y="116517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0300" y="1188988"/>
            <a:ext cx="12951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选择精美端午电子贺卡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24500" y="1739801"/>
            <a:ext cx="3175099" cy="68580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76900" y="189220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17840" y="197792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0300" y="2001738"/>
            <a:ext cx="1036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撰写个性化祝福语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24500" y="2552551"/>
            <a:ext cx="3175099" cy="68580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76900" y="270495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17840" y="279067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0300" y="2814489"/>
            <a:ext cx="11657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定向或随机送给同事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24500" y="3365302"/>
            <a:ext cx="3175099" cy="68580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76900" y="351770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17840" y="360342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0300" y="3627239"/>
            <a:ext cx="11657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收集祝福，收获温暖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24500" y="4178052"/>
            <a:ext cx="3175099" cy="685800"/>
          </a:xfrm>
          <a:prstGeom prst="roundRect">
            <a:avLst>
              <a:gd name="adj" fmla="val 18518"/>
            </a:avLst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48197" y="4330452"/>
            <a:ext cx="29277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📩 活动日前上线专属H5平台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全天可参与，随时传递祝福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450"/>
          </a:xfrm>
          <a:prstGeom prst="rect">
            <a:avLst/>
          </a:prstGeom>
          <a:solidFill>
            <a:srgbClr val="1C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30076"/>
            <a:ext cx="30307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周密筹备，保障落地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927050"/>
            <a:ext cx="497433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pPr algn="l" indent="0" marL="0">
              <a:buNone/>
            </a:pPr>
            <a:r>
              <a:rPr lang="en-US" sz="1400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活动分工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203275"/>
            <a:ext cx="4876800" cy="2808684"/>
          </a:xfrm>
          <a:prstGeom prst="roundRect">
            <a:avLst>
              <a:gd name="adj" fmla="val 4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3400" y="1979265"/>
            <a:ext cx="4572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5990" y="1584127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总协调组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12850" y="1571476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 - 负责整体统筹与进度把控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3400" y="2607618"/>
            <a:ext cx="4572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990" y="221247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物资组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12850" y="2199829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 - 负责食材、物料采购与分发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400" y="3235970"/>
            <a:ext cx="4572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990" y="2840831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宣传组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12850" y="2828181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 - 负责现场布置、摄影及线上祝福活动预热引导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5990" y="3469184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技术支持组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12850" y="3456533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 - 保障线上比赛流畅及祝福平台稳定运行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4164360"/>
            <a:ext cx="4876800" cy="345877"/>
          </a:xfrm>
          <a:prstGeom prst="roundRect">
            <a:avLst>
              <a:gd name="adj" fmla="val 2937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3400" y="4265861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提示：各小组需在活动前3天完成准备工作，活动当天提前30分钟到场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11701" y="927050"/>
            <a:ext cx="3251299" cy="398785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34636" y="1079450"/>
            <a:ext cx="30054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活动预算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92801" y="1504801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15001" y="1727002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65752" y="1873002"/>
            <a:ext cx="349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总预算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79740" y="267935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2D5A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32140" y="2679353"/>
            <a:ext cx="478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物料费 30%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477595" y="267935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5B8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29995" y="2679353"/>
            <a:ext cx="478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食材费 25%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75450" y="267935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27850" y="2679353"/>
            <a:ext cx="478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奖品费 25%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873305" y="267935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2C5F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025705" y="2679353"/>
            <a:ext cx="478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平台费 20%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5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272951"/>
            <a:ext cx="1054001" cy="0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2951" y="253901"/>
            <a:ext cx="0" cy="1054001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36098" y="272951"/>
            <a:ext cx="1054001" cy="0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71049" y="253901"/>
            <a:ext cx="0" cy="1054001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3901" y="4870549"/>
            <a:ext cx="1054001" cy="0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2951" y="3835598"/>
            <a:ext cx="0" cy="1054001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71049" y="3835598"/>
            <a:ext cx="0" cy="1054001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36098" y="4870549"/>
            <a:ext cx="1054001" cy="0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4505" y="1317575"/>
            <a:ext cx="563499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000" b="1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期待您的参与！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54505" y="2136725"/>
            <a:ext cx="56349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1500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线下欢聚，线上联动，让我们共度一个充满欢声笑语的端午佳节！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11648" y="2701826"/>
            <a:ext cx="3720554" cy="1123950"/>
          </a:xfrm>
          <a:prstGeom prst="roundRect">
            <a:avLst>
              <a:gd name="adj" fmla="val 13559"/>
            </a:avLst>
          </a:prstGeom>
          <a:solidFill>
            <a:srgbClr val="FFF8E7">
              <a:alpha val="20000"/>
            </a:srgbClr>
          </a:solidFill>
          <a:ln w="19050">
            <a:solidFill>
              <a:srgbClr val="F5B84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76804" y="2949476"/>
            <a:ext cx="259024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粽叶飘香，代码传情！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76804" y="3359051"/>
            <a:ext cx="259024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祝大家端午安康！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2026年端午节活动方案</dc:title>
  <dc:subject>PptxGenJS Presentation</dc:subject>
  <dc:creator>服务与软件研发管理部上研分部</dc:creator>
  <cp:lastModifiedBy>服务与软件研发管理部上研分部</cp:lastModifiedBy>
  <cp:revision>1</cp:revision>
  <dcterms:created xsi:type="dcterms:W3CDTF">2026-06-08T03:05:09Z</dcterms:created>
  <dcterms:modified xsi:type="dcterms:W3CDTF">2026-06-08T03:05:09Z</dcterms:modified>
</cp:coreProperties>
</file>