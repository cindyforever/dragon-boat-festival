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27.svg" ContentType="image/svg+xml"/>
  <Override PartName="/ppt/media/image465.svg" ContentType="image/svg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65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0/main" xmlns:ns4="http://schemas.microsoft.com/office/powerpoint/2012/main" xmlns:r="http://schemas.openxmlformats.org/officeDocument/2006/relationships" saveSubsetFonts="1">
  <sldMasterIdLst>
    <sldMasterId id="2147484182" r:id="rId1"/>
    <sldMasterId id="2147484039" r:id="rId2"/>
    <sldMasterId id="2147484062" r:id="rId3"/>
    <sldMasterId id="2147484141" r:id="rId4"/>
    <sldMasterId id="2147484187" r:id="rId5"/>
  </sldMasterIdLst>
  <notesMasterIdLst>
    <notesMasterId r:id="rId155"/>
  </notesMasterIdLst>
  <handoutMasterIdLst>
    <handoutMasterId r:id="rId156"/>
  </handoutMasterIdLst>
  <sldIdLst>
    <sldId id="2147480691" r:id="rId68"/>
    <sldId id="2147480541" r:id="rId16"/>
    <sldId id="313" r:id="rId34"/>
    <sldId id="313" r:id="rId34"/>
    <sldId id="2147482074" r:id="rId82"/>
    <sldId id="2147480541" r:id="rId16"/>
    <sldId id="2147480527" r:id="rId18"/>
  </sldIdLst>
  <sldSz cx="12196763" cy="6858000"/>
  <notesSz cx="6858000" cy="9144000"/>
  <defaultTextStyle>
    <ns2:defPPr>
      <ns2:defRPr lang="en-US"/>
    </ns2:defPPr>
    <ns2:lvl1pPr marL="0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40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78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718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957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196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435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675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913" algn="l" defTabSz="9144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defaultTextStyle>
  <extLst>
    <ext uri="{521415D9-36F7-43E2-AB2F-B90AF26B5E84}">
      <ns3:sectionLst>
        <ns3:section name="封面页" id="{12040CEB-E9D0-4128-8F6D-4D771939BB46}">
          <ns3:sldIdLst>
            <ns3:sldId id="2147482089"/>
          </ns3:sldIdLst>
        </ns3:section>
        <ns3:section name="章节页" id="{82C5FC79-AEEB-4957-80BE-7952453E3992}">
          <ns3:sldIdLst>
            <ns3:sldId id="2147483276"/>
            <ns3:sldId id="2147483342"/>
            <ns3:sldId id="2147483343"/>
            <ns3:sldId id="2147483327"/>
            <ns3:sldId id="2147475017"/>
            <ns3:sldId id="258"/>
            <ns3:sldId id="2147482054"/>
            <ns3:sldId id="2147475079"/>
            <ns3:sldId id="2147480506"/>
            <ns3:sldId id="2147480541"/>
            <ns3:sldId id="312"/>
            <ns3:sldId id="2147480527"/>
            <ns3:sldId id="2147480492"/>
            <ns3:sldId id="2147480494"/>
            <ns3:sldId id="2178"/>
            <ns3:sldId id="2635"/>
            <ns3:sldId id="259"/>
            <ns3:sldId id="2147482078"/>
            <ns3:sldId id="2147483317"/>
            <ns3:sldId id="2147480714"/>
            <ns3:sldId id="2147482057"/>
            <ns3:sldId id="2147480717"/>
            <ns3:sldId id="2147480719"/>
            <ns3:sldId id="2147480756"/>
            <ns3:sldId id="2147480720"/>
            <ns3:sldId id="2147480721"/>
            <ns3:sldId id="2147480722"/>
            <ns3:sldId id="313"/>
            <ns3:sldId id="2147480603"/>
            <ns3:sldId id="1053"/>
            <ns3:sldId id="2147476021"/>
            <ns3:sldId id="2147483309"/>
            <ns3:sldId id="2147483241"/>
            <ns3:sldId id="2147483232"/>
            <ns3:sldId id="2147480700"/>
            <ns3:sldId id="2147480730"/>
            <ns3:sldId id="2147480731"/>
            <ns3:sldId id="2147480732"/>
            <ns3:sldId id="2147480733"/>
            <ns3:sldId id="2147480735"/>
            <ns3:sldId id="2147480736"/>
            <ns3:sldId id="2147480738"/>
            <ns3:sldId id="2147483235"/>
            <ns3:sldId id="2147480742"/>
            <ns3:sldId id="2147480743"/>
            <ns3:sldId id="2147480744"/>
            <ns3:sldId id="2147480745"/>
            <ns3:sldId id="2147480734"/>
            <ns3:sldId id="2147480746"/>
            <ns3:sldId id="2147480749"/>
            <ns3:sldId id="2147483293"/>
            <ns3:sldId id="2147480727"/>
            <ns3:sldId id="2147480728"/>
            <ns3:sldId id="2147483234"/>
            <ns3:sldId id="2147480751"/>
            <ns3:sldId id="2147474965"/>
            <ns3:sldId id="2147474966"/>
            <ns3:sldId id="2147482060"/>
            <ns3:sldId id="2147483325"/>
            <ns3:sldId id="2147474972"/>
            <ns3:sldId id="2147474973"/>
            <ns3:sldId id="2147480691"/>
            <ns3:sldId id="2147480652"/>
            <ns3:sldId id="2147483326"/>
            <ns3:sldId id="284"/>
            <ns3:sldId id="2147483286"/>
            <ns3:sldId id="2147483288"/>
            <ns3:sldId id="288"/>
            <ns3:sldId id="290"/>
            <ns3:sldId id="269"/>
            <ns3:sldId id="2147483320"/>
            <ns3:sldId id="271"/>
            <ns3:sldId id="266"/>
            <ns3:sldId id="2147482072"/>
            <ns3:sldId id="2147482073"/>
            <ns3:sldId id="2147482074"/>
            <ns3:sldId id="2147482076"/>
            <ns3:sldId id="2147483254"/>
            <ns3:sldId id="2147483263"/>
            <ns3:sldId id="2147483266"/>
            <ns3:sldId id="2147483255"/>
            <ns3:sldId id="2147480686"/>
            <ns3:sldId id="2147480696"/>
            <ns3:sldId id="2147483305"/>
            <ns3:sldId id="2147483271"/>
            <ns3:sldId id="2147483272"/>
            <ns3:sldId id="2147483318"/>
            <ns3:sldId id="2147483310"/>
            <ns3:sldId id="2147475104"/>
            <ns3:sldId id="2147483311"/>
            <ns3:sldId id="2147475127"/>
            <ns3:sldId id="2147483313"/>
            <ns3:sldId id="2147483291"/>
            <ns3:sldId id="2147483298"/>
            <ns3:sldId id="2147475698"/>
            <ns3:sldId id="2147483257"/>
            <ns3:sldId id="2147480811"/>
            <ns3:sldId id="2147483259"/>
            <ns3:sldId id="2147483260"/>
            <ns3:sldId id="2147480761"/>
            <ns3:sldId id="2147480704"/>
            <ns3:sldId id="2147480710"/>
            <ns3:sldId id="2147480706"/>
            <ns3:sldId id="2147480708"/>
            <ns3:sldId id="2147482045"/>
            <ns3:sldId id="2147482046"/>
            <ns3:sldId id="2147482047"/>
            <ns3:sldId id="2147482050"/>
            <ns3:sldId id="2147482088"/>
            <ns3:sldId id="2147482066"/>
            <ns3:sldId id="412"/>
            <ns3:sldId id="2147482026"/>
            <ns3:sldId id="2147482067"/>
            <ns3:sldId id="2147482068"/>
            <ns3:sldId id="2147482069"/>
            <ns3:sldId id="2147475424"/>
            <ns3:sldId id="2147483285"/>
            <ns3:sldId id="2147483282"/>
            <ns3:sldId id="2147482084"/>
            <ns3:sldId id="2147480546"/>
            <ns3:sldId id="3080"/>
            <ns3:sldId id="3081"/>
            <ns3:sldId id="2147483292"/>
            <ns3:sldId id="2229"/>
            <ns3:sldId id="2147483300"/>
            <ns3:sldId id="2230"/>
            <ns3:sldId id="2147475020"/>
            <ns3:sldId id="2147483274"/>
            <ns3:sldId id="2147483278"/>
            <ns3:sldId id="2208"/>
            <ns3:sldId id="2210"/>
            <ns3:sldId id="2147475061"/>
            <ns3:sldId id="2147483279"/>
            <ns3:sldId id="2147480671"/>
            <ns3:sldId id="2147480672"/>
            <ns3:sldId id="2147480673"/>
            <ns3:sldId id="2147475070"/>
            <ns3:sldId id="2147475071"/>
            <ns3:sldId id="2147480674"/>
            <ns3:sldId id="2211"/>
            <ns3:sldId id="2147483303"/>
            <ns3:sldId id="2213"/>
            <ns3:sldId id="2147480676"/>
            <ns3:sldId id="2147475065"/>
            <ns3:sldId id="2147475056"/>
            <ns3:sldId id="2147475058"/>
            <ns3:sldId id="2147475049"/>
          </ns3:sldIdLst>
        </ns3:section>
        <ns3:section name="结束页" id="{75E2099A-EB6D-49AB-841A-3D10BB328ECE}">
          <ns3:sldIdLst>
            <ns3:sldId id="280"/>
          </ns3:sldIdLst>
        </ns3:section>
      </ns3:sectionLst>
    </ext>
    <ext uri="{EFAFB233-063F-42B5-8137-9DF3F51BA10A}">
      <ns4:sldGuideLst>
        <ns4:guide id="1" pos="3819" userDrawn="1">
          <ns4:clr>
            <ns2:srgbClr val="A4A3A4"/>
          </ns4:clr>
        </ns4:guide>
        <ns4:guide id="2" orient="horz" pos="709" userDrawn="1">
          <ns4:clr>
            <ns2:srgbClr val="A4A3A4"/>
          </ns4:clr>
        </ns4:guide>
        <ns4:guide id="3" orient="horz" pos="527" userDrawn="1">
          <ns4:clr>
            <ns2:srgbClr val="A4A3A4"/>
          </ns4:clr>
        </ns4:guide>
      </ns4:sldGuideLst>
    </ext>
    <ext uri="{2D200454-40CA-4A62-9FC3-DE9A4176ACB9}">
      <ns4:notesGuideLst/>
    </ext>
  </extLst>
</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wanli" initials="W" lastIdx="1" clrIdx="0">
    <p:extLst>
      <p:ext uri="{19B8F6BF-5375-455C-9EA6-DF929625EA0E}">
        <p15:presenceInfo xmlns:p15="http://schemas.microsoft.com/office/powerpoint/2012/main" userId="S-1-5-21-147214757-305610072-1517763936-631487" providerId="AD"/>
      </p:ext>
    </p:extLst>
  </p:cmAuthor>
  <p:cmAuthor id="2" name="Liaoyuzhong (Daniel)" initials="L(" lastIdx="2" clrIdx="1">
    <p:extLst>
      <p:ext uri="{19B8F6BF-5375-455C-9EA6-DF929625EA0E}">
        <p15:presenceInfo xmlns:p15="http://schemas.microsoft.com/office/powerpoint/2012/main" userId="S-1-5-21-147214757-305610072-1517763936-11985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2C0D7"/>
    <a:srgbClr val="45729C"/>
    <a:srgbClr val="373737"/>
    <a:srgbClr val="B4B4B4"/>
    <a:srgbClr val="ED6D00"/>
    <a:srgbClr val="F5F5F5"/>
    <a:srgbClr val="BFBFBF"/>
    <a:srgbClr val="F2F2F2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67602" autoAdjust="0"/>
  </p:normalViewPr>
  <p:slideViewPr>
    <p:cSldViewPr snapToGrid="0" snapToObjects="1">
      <p:cViewPr varScale="1">
        <p:scale>
          <a:sx n="95" d="100"/>
          <a:sy n="95" d="100"/>
        </p:scale>
        <p:origin x="158" y="72"/>
      </p:cViewPr>
      <p:guideLst>
        <p:guide pos="3819"/>
        <p:guide orient="horz" pos="709"/>
        <p:guide orient="horz" pos="5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16" Type="http://schemas.openxmlformats.org/officeDocument/2006/relationships/slide" Target="slides/slide6.xml"/><Relationship Id="rId18" Type="http://schemas.openxmlformats.org/officeDocument/2006/relationships/slide" Target="slides/slide7.xml"/><Relationship Id="rId34" Type="http://schemas.openxmlformats.org/officeDocument/2006/relationships/slide" Target="slides/slide4.xml"/><Relationship Id="rId68" Type="http://schemas.openxmlformats.org/officeDocument/2006/relationships/slide" Target="slides/slide1.xml"/><Relationship Id="rId82" Type="http://schemas.openxmlformats.org/officeDocument/2006/relationships/slide" Target="slides/slide5.xml"/><Relationship Id="rId155" Type="http://schemas.openxmlformats.org/officeDocument/2006/relationships/notesMaster" Target="notesMasters/notesMaster1.xml"/><Relationship Id="rId156" Type="http://schemas.openxmlformats.org/officeDocument/2006/relationships/handoutMaster" Target="handoutMasters/handoutMaster1.xml"/><Relationship Id="rId157" Type="http://schemas.openxmlformats.org/officeDocument/2006/relationships/commentAuthors" Target="commentAuthors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微软雅黑" panose="020B0503020204020204" pitchFamily="34" charset="-12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微软雅黑" panose="020B0503020204020204" pitchFamily="34" charset="-122"/>
              </a:rPr>
              <a:t>5/12/2026</a:t>
            </a:fld>
            <a:endParaRPr lang="en-US">
              <a:latin typeface="微软雅黑" panose="020B0503020204020204" pitchFamily="34" charset="-12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微软雅黑" panose="020B0503020204020204" pitchFamily="34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微软雅黑" panose="020B0503020204020204" pitchFamily="34" charset="-122"/>
              </a:rPr>
              <a:t>‹#›</a:t>
            </a:fld>
            <a:endParaRPr lang="en-US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微软雅黑" panose="020B0503020204020204" pitchFamily="34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>
                <a:latin typeface="微软雅黑" panose="020B0503020204020204" pitchFamily="34" charset="-122"/>
              </a:rPr>
              <a:t>5/12/2026</a:t>
            </a:fld>
            <a:endParaRPr lang="en-US">
              <a:latin typeface="微软雅黑" panose="020B0503020204020204" pitchFamily="34" charset="-122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微软雅黑" panose="020B0503020204020204" pitchFamily="34" charset="-122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微软雅黑" panose="020B0503020204020204" pitchFamily="34" charset="-122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>
                <a:latin typeface="微软雅黑" panose="020B0503020204020204" pitchFamily="34" charset="-122"/>
              </a:rPr>
              <a:t>‹#›</a:t>
            </a:fld>
            <a:endParaRPr lang="en-US">
              <a:latin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i="0" kern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+mn-ea"/>
                <a:cs typeface="+mn-cs"/>
              </a:rPr>
              <a:t>讲解要点：</a:t>
            </a:r>
          </a:p>
          <a:p>
            <a:r>
              <a:rPr lang="zh-CN" altLang="en-US" dirty="0">
                <a:latin typeface="微软雅黑" panose="020B0503020204020204" pitchFamily="34" charset="-122"/>
              </a:rPr>
              <a:t>华为持续</a:t>
            </a:r>
            <a:r>
              <a:rPr lang="zh-CN" altLang="en-US" baseline="0" dirty="0">
                <a:latin typeface="微软雅黑" panose="020B0503020204020204" pitchFamily="34" charset="-122"/>
              </a:rPr>
              <a:t>成长，得益于我们把握战略方向，持续聚焦核心战略；在战略领域进行压强投入，厚积薄发，实现突破；并坚持“以奋斗者为本” ，构建价值驱动的的分配体系。</a:t>
            </a:r>
            <a:endParaRPr lang="en-US" altLang="zh-CN" baseline="0" dirty="0">
              <a:latin typeface="微软雅黑" panose="020B0503020204020204" pitchFamily="34" charset="-122"/>
            </a:endParaRPr>
          </a:p>
          <a:p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过去三十年和未来，核心价值观是支撑华为持续走下去的内在动力。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核心价值观是华为及其员工的价值取向，是华为在追求经营成功过程中所推崇的基本信念和奉行的行为准则。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华为核心价值观有三条，以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客户为中心，以奋斗者为本，长期艰苦奋斗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。坚持自我批判是纠偏机制。</a:t>
            </a:r>
            <a:endParaRPr lang="en-US" altLang="zh-CN" sz="1600" dirty="0">
              <a:latin typeface="微软雅黑" panose="020B0503020204020204" pitchFamily="34" charset="-122"/>
              <a:cs typeface="Arial" pitchFamily="34" charset="0"/>
            </a:endParaRPr>
          </a:p>
          <a:p>
            <a:r>
              <a:rPr lang="zh-CN" altLang="en-US" sz="1600" b="1" dirty="0">
                <a:latin typeface="微软雅黑" panose="020B0503020204020204" pitchFamily="34" charset="-122"/>
                <a:cs typeface="Arial" pitchFamily="34" charset="0"/>
              </a:rPr>
              <a:t>以客户为中心</a:t>
            </a:r>
            <a:r>
              <a:rPr lang="zh-CN" altLang="en-US" sz="1600" b="1" baseline="0" dirty="0">
                <a:latin typeface="微软雅黑" panose="020B0503020204020204" pitchFamily="34" charset="-122"/>
                <a:cs typeface="Arial" pitchFamily="34" charset="0"/>
              </a:rPr>
              <a:t>： </a:t>
            </a:r>
            <a:endParaRPr lang="en-US" altLang="zh-CN" sz="1600" b="1" baseline="0" dirty="0">
              <a:latin typeface="微软雅黑" panose="020B0503020204020204" pitchFamily="34" charset="-122"/>
              <a:cs typeface="Arial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为客户服务是华为存在的唯一理由。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以客户为中心包含三个方面的意思：</a:t>
            </a:r>
            <a:r>
              <a:rPr lang="zh-CN" altLang="en-US" sz="1600" b="1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第一是成就客户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，心中始终装着客户，为客户的成功全力以赴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。 </a:t>
            </a:r>
            <a:r>
              <a:rPr lang="zh-CN" altLang="en-US" sz="1600" b="1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第二是为创造价值而创新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，保持开放的心态，基于客户的需求进行创新，持续为客户创造价值。</a:t>
            </a:r>
            <a:r>
              <a:rPr lang="zh-CN" altLang="en-US" sz="1600" b="1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第三是产业链的合作共赢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，与合作伙伴共享成长，营造健康和谐的商业环境，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实现共赢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。</a:t>
            </a:r>
            <a:endParaRPr lang="zh-CN" altLang="en-US" sz="16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b="1" baseline="0" dirty="0">
                <a:latin typeface="微软雅黑" panose="020B0503020204020204" pitchFamily="34" charset="-122"/>
                <a:cs typeface="Arial" pitchFamily="34" charset="0"/>
              </a:rPr>
              <a:t>以奋斗者为本</a:t>
            </a:r>
            <a:endParaRPr lang="en-US" altLang="zh-CN" sz="1600" b="1" baseline="0" dirty="0">
              <a:latin typeface="微软雅黑" panose="020B0503020204020204" pitchFamily="34" charset="-122"/>
              <a:cs typeface="Arial" pitchFamily="34" charset="0"/>
            </a:endParaRPr>
          </a:p>
          <a:p>
            <a:r>
              <a:rPr lang="zh-CN" altLang="en-US" sz="1600" dirty="0">
                <a:latin typeface="微软雅黑" panose="020B0503020204020204" pitchFamily="34" charset="-122"/>
                <a:cs typeface="Arial" pitchFamily="34" charset="0"/>
              </a:rPr>
              <a:t>以客户为中心”和“以奋斗者为本”是辩证的。奋斗体现在为客户创造价值的任何微小活动和劳动中，是为公司持续的成功，也是为自我的价值发挥和不断提升。以奋斗者为本，就是</a:t>
            </a:r>
            <a:r>
              <a:rPr lang="zh-CN" altLang="en-US" sz="1600" b="1" dirty="0">
                <a:latin typeface="微软雅黑" panose="020B0503020204020204" pitchFamily="34" charset="-122"/>
                <a:cs typeface="Arial" pitchFamily="34" charset="0"/>
              </a:rPr>
              <a:t>坚持责任结果导向</a:t>
            </a:r>
            <a:r>
              <a:rPr lang="zh-CN" altLang="en-US" sz="1600" dirty="0">
                <a:latin typeface="微软雅黑" panose="020B0503020204020204" pitchFamily="34" charset="-122"/>
                <a:cs typeface="Arial" pitchFamily="34" charset="0"/>
              </a:rPr>
              <a:t>，坚持多劳多得做好做坏不一样，坚持机会和待遇向奋斗者倾斜，包括物质激励和非物质激励</a:t>
            </a:r>
            <a:endParaRPr lang="en-US" altLang="zh-CN" sz="1600" b="0" dirty="0">
              <a:latin typeface="微软雅黑" panose="020B0503020204020204" pitchFamily="34" charset="-122"/>
              <a:cs typeface="Arial" pitchFamily="34" charset="0"/>
            </a:endParaRPr>
          </a:p>
          <a:p>
            <a:r>
              <a:rPr lang="zh-CN" altLang="en-US" sz="1600" b="1" dirty="0">
                <a:latin typeface="微软雅黑" panose="020B0503020204020204" pitchFamily="34" charset="-122"/>
                <a:cs typeface="Arial" pitchFamily="34" charset="0"/>
              </a:rPr>
              <a:t>长期艰苦奋斗</a:t>
            </a:r>
            <a:endParaRPr lang="en-US" altLang="zh-CN" sz="1600" b="1" dirty="0">
              <a:latin typeface="微软雅黑" panose="020B0503020204020204" pitchFamily="34" charset="-122"/>
              <a:cs typeface="Arial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主要表现为四个方面：一是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聚焦工作，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在本职岗位上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扎扎实实做出贡献；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二是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主动担责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愿意付出超出职责的努力，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为客户和公司的成功全力以赴，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永不言弃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；三是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精益求精、追求卓越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，敢于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自我超越，拥抱挑战，</a:t>
            </a:r>
            <a:r>
              <a:rPr lang="zh-CN" altLang="en-US" sz="1600" kern="100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创造机会，变不可能为可能；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四是保持危机感，居安思危</a:t>
            </a:r>
            <a:r>
              <a:rPr lang="zh-CN" altLang="en-US" sz="1600" kern="1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，为理想、使命和责任长期奋斗，特别是在</a:t>
            </a:r>
            <a:r>
              <a:rPr lang="zh-CN" altLang="en-US" sz="1600" kern="100" dirty="0">
                <a:solidFill>
                  <a:srgbClr val="3333FF"/>
                </a:solidFill>
                <a:latin typeface="微软雅黑" pitchFamily="34" charset="-122"/>
                <a:ea typeface="微软雅黑" pitchFamily="34" charset="-122"/>
                <a:cs typeface="Times New Roman"/>
              </a:rPr>
              <a:t>思想上艰苦奋斗。</a:t>
            </a:r>
            <a:endParaRPr lang="zh-CN" altLang="zh-CN" sz="1600" kern="100" dirty="0">
              <a:solidFill>
                <a:srgbClr val="3333FF"/>
              </a:solidFill>
              <a:latin typeface="微软雅黑" pitchFamily="34" charset="-122"/>
              <a:ea typeface="微软雅黑" pitchFamily="34" charset="-122"/>
              <a:cs typeface="Times New Roman"/>
            </a:endParaRPr>
          </a:p>
          <a:p>
            <a:endParaRPr lang="en-US" altLang="zh-CN" sz="1600" dirty="0">
              <a:latin typeface="微软雅黑" panose="020B0503020204020204" pitchFamily="34" charset="-122"/>
              <a:cs typeface="Arial" pitchFamily="34" charset="0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**********************************</a:t>
            </a: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胶片责任人：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王万里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00391410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，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公司品牌管理部</a:t>
            </a:r>
            <a:endParaRPr lang="zh-CN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最新更新：202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4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年1月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推荐受众：所有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**********************************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982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600" b="1" dirty="0"/>
              <a:t>讲解要点：</a:t>
            </a:r>
            <a:endParaRPr lang="en-US" altLang="zh-CN" sz="1600" b="1" dirty="0"/>
          </a:p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华为发布了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《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智能世界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2030》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，对未来十年的智能世界进行系统性描绘和产业趋势展望，帮助各行各业识别新的机会，发掘新的价值。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600" b="1" dirty="0"/>
          </a:p>
          <a:p>
            <a:r>
              <a:rPr lang="zh-CN" altLang="en-US" sz="1600" dirty="0"/>
              <a:t>站在智能世界的入口，眺望 </a:t>
            </a:r>
            <a:r>
              <a:rPr lang="en-US" altLang="zh-CN" sz="1600" dirty="0"/>
              <a:t>2030 </a:t>
            </a:r>
            <a:r>
              <a:rPr lang="zh-CN" altLang="en-US" sz="1600" dirty="0"/>
              <a:t>年：人们希望进一步提升生命质量，普惠绿色饮食，改善居住体验；不再受出行拥堵和城市环境污染的困扰，无顾虑地使用绿色能源、享受各种数字服务；放心地将重复性的、危险的工作交给机器人来完成， 从而把更多时间和精力投入到有意义、有创意的工作和兴趣中去。为此，如何更好地满足人类社会发展的需求成为各行各业持续探索的动力。 我们通过对“医”、“食”、“住”、 “行”、“城市”、“企业”、“能源”、“数字可信” 八个维度在下一个十年的展望，来尝试描绘智能世界 </a:t>
            </a:r>
            <a:r>
              <a:rPr lang="en-US" altLang="zh-CN" sz="1600" dirty="0"/>
              <a:t>2030 </a:t>
            </a:r>
            <a:r>
              <a:rPr lang="zh-CN" altLang="en-US" sz="1600" dirty="0"/>
              <a:t>的美好图景。我们相信智能世界拥有无限可能，需要各行各业持续协作，不断探索，共创美好未来。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（以下内容建议按照实际需求进行选取解读）：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医 </a:t>
            </a:r>
            <a:r>
              <a:rPr lang="en-US" altLang="zh-CN" sz="1600" b="1" dirty="0"/>
              <a:t>: </a:t>
            </a:r>
            <a:r>
              <a:rPr lang="zh-CN" altLang="en-US" sz="1600" dirty="0"/>
              <a:t>让健康可计算，让生命有质量 </a:t>
            </a:r>
            <a:r>
              <a:rPr lang="en-US" altLang="zh-CN" sz="1600" dirty="0"/>
              <a:t>——2030 </a:t>
            </a:r>
            <a:r>
              <a:rPr lang="zh-CN" altLang="en-US" sz="1600" dirty="0"/>
              <a:t>年，人们以依托高灵敏的生物传感器、云端存储的海量健康数据，让健康可计算。人类将能实现 主动预防，从“治已病”到“治未病”；借助物联网、</a:t>
            </a:r>
            <a:r>
              <a:rPr lang="en-US" altLang="zh-CN" sz="1600" dirty="0"/>
              <a:t>AI </a:t>
            </a:r>
            <a:r>
              <a:rPr lang="zh-CN" altLang="en-US" sz="1600" dirty="0"/>
              <a:t>等技术，让未来的治疗方案将不再千篇一律；大型 医疗设备更加便携化，实现居家远程医疗联动。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食：</a:t>
            </a:r>
            <a:r>
              <a:rPr lang="zh-CN" altLang="en-US" sz="1600" dirty="0"/>
              <a:t>用数据换产量，普惠绿色饮食 </a:t>
            </a:r>
            <a:r>
              <a:rPr lang="en-US" altLang="zh-CN" sz="1600" dirty="0"/>
              <a:t>——2030 </a:t>
            </a:r>
            <a:r>
              <a:rPr lang="zh-CN" altLang="en-US" sz="1600" dirty="0"/>
              <a:t>年，人们可以利用农情多元数据图谱，实现精准农耕；通过对数据的收集，模拟作物生长发育所 需的温度、湿度等要素，打造不受变化莫测气候影响的“垂直农场”；通过 </a:t>
            </a:r>
            <a:r>
              <a:rPr lang="en-US" altLang="zh-CN" sz="1600" dirty="0"/>
              <a:t>3D </a:t>
            </a:r>
            <a:r>
              <a:rPr lang="zh-CN" altLang="en-US" sz="1600" dirty="0"/>
              <a:t>打印，获得符合个人健康 需求且口感最佳的人造肉，真正实现从靠天吃饭过渡到靠数据吃饭。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住：</a:t>
            </a:r>
            <a:r>
              <a:rPr lang="zh-CN" altLang="en-US" sz="1600" dirty="0"/>
              <a:t>新交互体验，让空间人性化</a:t>
            </a:r>
            <a:r>
              <a:rPr lang="en-US" altLang="zh-CN" sz="1600" dirty="0"/>
              <a:t>——2030 </a:t>
            </a:r>
            <a:r>
              <a:rPr lang="zh-CN" altLang="en-US" sz="1600" dirty="0"/>
              <a:t>年，基于万兆家庭宽带、全息通信等技术，打造数字化的物品目录，通过自动配送，实现储住分离； 构建智能管理系统，打造物与物的自动交互，让人类有可能在零碳建筑中工作和生活；基于下一代物联 网操作系统，实现居家和办公环境的自适应，打造“懂你”的空间。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行 </a:t>
            </a:r>
            <a:r>
              <a:rPr lang="en-US" altLang="zh-CN" sz="1600" b="1" dirty="0"/>
              <a:t>: </a:t>
            </a:r>
            <a:r>
              <a:rPr lang="zh-CN" altLang="en-US" sz="1600" dirty="0"/>
              <a:t>智能低碳出行，开启移动第三空间 </a:t>
            </a:r>
            <a:r>
              <a:rPr lang="en-US" altLang="zh-CN" sz="1600" dirty="0"/>
              <a:t>——2030 </a:t>
            </a:r>
            <a:r>
              <a:rPr lang="zh-CN" altLang="en-US" sz="1600" dirty="0"/>
              <a:t>年，出行将是多维的创新系统，基于自动驾驶技术的新能源汽车，能让我们拥有专属的移动第三 空间；新型的载人飞行器不但能提升紧急救援效率，降低救急医疗物资的输送成本，甚至还能改变我们的通勤方式；通过定制高效地与他人共享出行方案，来提高交通工具的使用率，促进绿色出行。而这背后需要安全稳定的自动驾驶算法，低成本可靠的各类传感器、高速稳定的空天地一体化网络，以及基于强大算力交通管理大脑。由此，打造电气化、自主化、共享化、网联化的低碳出行体验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城市：</a:t>
            </a:r>
            <a:r>
              <a:rPr lang="zh-CN" altLang="en-US" sz="1600" dirty="0"/>
              <a:t>数字新基建，让城市有温度，更宜居 </a:t>
            </a:r>
            <a:r>
              <a:rPr lang="en-US" altLang="zh-CN" sz="1600" dirty="0"/>
              <a:t>——</a:t>
            </a:r>
            <a:r>
              <a:rPr lang="zh-CN" altLang="en-US" sz="1600" dirty="0"/>
              <a:t>随着新型数字基础设施的普及与应用，城市环境治理方案将进一步优化，资源的利用率和治理的效率将大幅提升，通过实现跨区的一网统管和一网通办平台，让居民将能享有更便利、人性的服务，生活在 有温度，更宜居的城市中。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企业：</a:t>
            </a:r>
            <a:r>
              <a:rPr lang="zh-CN" altLang="en-US" sz="1600" dirty="0"/>
              <a:t>新生产力重塑生产模式，增强企业韧性 </a:t>
            </a:r>
            <a:r>
              <a:rPr lang="en-US" altLang="zh-CN" sz="1600" dirty="0"/>
              <a:t>——2030 </a:t>
            </a:r>
            <a:r>
              <a:rPr lang="zh-CN" altLang="en-US" sz="1600" dirty="0"/>
              <a:t>年，数字化转型推动企业的进一步升级，协作机器人、自主移动机器人等新生产力融入企业；通 过对生产、物流等环节的柔性化重塑，实现以人为中心的新生产模式；供应链将数字化的影响下，变得 可视化、网状化，企业将拥有更强的韧性以应对变化万千的市场环境。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绿色能源更智能</a:t>
            </a:r>
            <a:r>
              <a:rPr lang="zh-CN" altLang="en-US" sz="1600" dirty="0"/>
              <a:t>，呵护蓝色星球 </a:t>
            </a:r>
            <a:r>
              <a:rPr lang="en-US" altLang="zh-CN" sz="1600" dirty="0"/>
              <a:t>—— 2030 </a:t>
            </a:r>
            <a:r>
              <a:rPr lang="zh-CN" altLang="en-US" sz="1600" dirty="0"/>
              <a:t>年，能源将更加绿色、更加智能。人们可以在近海、湖面部署新型能源电厂，利用虚拟电厂、能源云构建“源网荷储”全链路数字化的能源互联网，零碳数据中心和零碳站点将有望成为现实。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dirty="0"/>
              <a:t>数字技术与规则塑造可信未来 </a:t>
            </a:r>
            <a:r>
              <a:rPr lang="en-US" altLang="zh-CN" sz="1600" dirty="0"/>
              <a:t>——2030 </a:t>
            </a:r>
            <a:r>
              <a:rPr lang="zh-CN" altLang="en-US" sz="1600" dirty="0"/>
              <a:t>年，数字可信将成为社会基 础设施的基本要求。区块链、</a:t>
            </a:r>
            <a:r>
              <a:rPr lang="en-US" altLang="zh-CN" sz="1600" dirty="0"/>
              <a:t>AI</a:t>
            </a:r>
            <a:r>
              <a:rPr lang="zh-CN" altLang="en-US" sz="1600" dirty="0"/>
              <a:t>打假、隐私增强计算等技术与</a:t>
            </a:r>
            <a:r>
              <a:rPr lang="en-US" altLang="zh-CN" sz="1600" dirty="0"/>
              <a:t>GDPR</a:t>
            </a:r>
            <a:r>
              <a:rPr lang="zh-CN" altLang="en-US" sz="1600" dirty="0"/>
              <a:t>、隐私安全保护法等数字规则，双管齐下，共建数字可信的智能世界。</a:t>
            </a:r>
            <a:endParaRPr lang="en-US" altLang="zh-CN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600" dirty="0"/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600" dirty="0"/>
              <a:t>同时，我们预测到</a:t>
            </a:r>
            <a:r>
              <a:rPr lang="en-US" altLang="zh-CN" sz="1600" dirty="0"/>
              <a:t>2030</a:t>
            </a:r>
            <a:r>
              <a:rPr lang="zh-CN" altLang="en-US" sz="1600" dirty="0"/>
              <a:t>年，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全球联接总数将达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2000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亿；通用计算算力（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FP32</a:t>
            </a: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）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将达到</a:t>
            </a:r>
            <a:r>
              <a:rPr lang="en-US" altLang="zh-CN" sz="1600" b="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3.3 ZFLOPS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，提升</a:t>
            </a:r>
            <a:r>
              <a:rPr lang="en-US" altLang="zh-CN" sz="1600" b="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10</a:t>
            </a:r>
            <a:r>
              <a:rPr lang="zh-CN" altLang="en-US" sz="1600" b="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倍；</a:t>
            </a:r>
            <a:r>
              <a:rPr lang="en-US" altLang="zh-CN" sz="1600" dirty="0">
                <a:solidFill>
                  <a:srgbClr val="1D1D1A"/>
                </a:solidFill>
                <a:latin typeface="Arial"/>
                <a:ea typeface="微软雅黑"/>
                <a:sym typeface="Arial" panose="020B0604020202020204" pitchFamily="34" charset="0"/>
              </a:rPr>
              <a:t>AI</a:t>
            </a:r>
            <a:r>
              <a:rPr lang="zh-CN" altLang="en-US" sz="1600" dirty="0">
                <a:solidFill>
                  <a:srgbClr val="1D1D1A"/>
                </a:solidFill>
                <a:latin typeface="Arial"/>
                <a:ea typeface="微软雅黑"/>
                <a:sym typeface="Arial" panose="020B0604020202020204" pitchFamily="34" charset="0"/>
              </a:rPr>
              <a:t>计算算</a:t>
            </a:r>
            <a:r>
              <a:rPr lang="zh-CN" altLang="en-US" sz="1600" b="0" dirty="0">
                <a:solidFill>
                  <a:srgbClr val="1D1D1A"/>
                </a:solidFill>
                <a:latin typeface="Arial"/>
                <a:ea typeface="微软雅黑"/>
                <a:sym typeface="Arial" panose="020B0604020202020204" pitchFamily="34" charset="0"/>
              </a:rPr>
              <a:t>力（</a:t>
            </a:r>
            <a:r>
              <a:rPr lang="en-US" altLang="zh-CN" sz="1600" b="0" dirty="0">
                <a:solidFill>
                  <a:srgbClr val="1D1D1A"/>
                </a:solidFill>
                <a:latin typeface="Arial"/>
                <a:ea typeface="微软雅黑"/>
                <a:sym typeface="Arial" panose="020B0604020202020204" pitchFamily="34" charset="0"/>
              </a:rPr>
              <a:t>FP16</a:t>
            </a:r>
            <a:r>
              <a:rPr lang="zh-CN" altLang="en-US" sz="1600" b="0" dirty="0">
                <a:solidFill>
                  <a:srgbClr val="1D1D1A"/>
                </a:solidFill>
                <a:latin typeface="Arial"/>
                <a:ea typeface="微软雅黑"/>
                <a:sym typeface="Arial" panose="020B0604020202020204" pitchFamily="34" charset="0"/>
              </a:rPr>
              <a:t>）达</a:t>
            </a:r>
            <a:r>
              <a:rPr lang="en-US" altLang="zh-CN" sz="1600" b="0" dirty="0">
                <a:solidFill>
                  <a:srgbClr val="C00000"/>
                </a:solidFill>
                <a:latin typeface="Arial" panose="020B0604020202020204" pitchFamily="34" charset="0"/>
                <a:ea typeface="Huawei Sans Medium"/>
                <a:cs typeface="Arial" panose="020B0604020202020204" pitchFamily="34" charset="0"/>
                <a:sym typeface="Arial" panose="020B0604020202020204" pitchFamily="34" charset="0"/>
              </a:rPr>
              <a:t>105 ZFLOPS</a:t>
            </a:r>
            <a:r>
              <a:rPr lang="zh-CN" altLang="en-US" sz="1600" b="0" dirty="0">
                <a:solidFill>
                  <a:srgbClr val="C00000"/>
                </a:solidFill>
                <a:latin typeface="Arial" panose="020B0604020202020204" pitchFamily="34" charset="0"/>
                <a:ea typeface="Huawei Sans Medium"/>
                <a:cs typeface="Arial" panose="020B0604020202020204" pitchFamily="34" charset="0"/>
                <a:sym typeface="Arial" panose="020B0604020202020204" pitchFamily="34" charset="0"/>
              </a:rPr>
              <a:t>，提升</a:t>
            </a:r>
            <a:r>
              <a:rPr lang="en-US" altLang="zh-CN" sz="1600" b="0" dirty="0">
                <a:solidFill>
                  <a:srgbClr val="C00000"/>
                </a:solidFill>
                <a:latin typeface="Arial" panose="020B0604020202020204" pitchFamily="34" charset="0"/>
                <a:ea typeface="Huawei Sans Medium"/>
                <a:cs typeface="Arial" panose="020B0604020202020204" pitchFamily="34" charset="0"/>
                <a:sym typeface="Arial" panose="020B0604020202020204" pitchFamily="34" charset="0"/>
              </a:rPr>
              <a:t>500</a:t>
            </a:r>
            <a:r>
              <a:rPr lang="zh-CN" altLang="en-US" sz="1600" b="0" dirty="0">
                <a:solidFill>
                  <a:srgbClr val="C00000"/>
                </a:solidFill>
                <a:latin typeface="Arial" panose="020B0604020202020204" pitchFamily="34" charset="0"/>
                <a:ea typeface="Huawei Sans Medium"/>
                <a:cs typeface="Arial" panose="020B0604020202020204" pitchFamily="34" charset="0"/>
                <a:sym typeface="Arial" panose="020B0604020202020204" pitchFamily="34" charset="0"/>
              </a:rPr>
              <a:t>倍；</a:t>
            </a:r>
            <a:r>
              <a:rPr lang="zh-CN" altLang="zh-CN" sz="1600" b="0" dirty="0">
                <a:solidFill>
                  <a:srgbClr val="1D1D1A"/>
                </a:solidFill>
                <a:latin typeface="微软雅黑"/>
                <a:ea typeface="微软雅黑"/>
                <a:sym typeface="Arial" panose="020B0604020202020204" pitchFamily="34" charset="0"/>
              </a:rPr>
              <a:t>智能汽车</a:t>
            </a:r>
            <a:r>
              <a:rPr lang="zh-CN" altLang="en-US" sz="1600" b="0" dirty="0">
                <a:solidFill>
                  <a:srgbClr val="1D1D1A"/>
                </a:solidFill>
                <a:latin typeface="微软雅黑"/>
                <a:ea typeface="微软雅黑"/>
                <a:sym typeface="Arial" panose="020B0604020202020204" pitchFamily="34" charset="0"/>
              </a:rPr>
              <a:t>整车算力</a:t>
            </a:r>
            <a:r>
              <a:rPr lang="zh-CN" altLang="en-US" sz="2000" b="0" dirty="0">
                <a:solidFill>
                  <a:srgbClr val="1D1D1A"/>
                </a:solidFill>
                <a:latin typeface="微软雅黑"/>
                <a:ea typeface="微软雅黑"/>
                <a:cs typeface="Times New Roman" panose="02020603050405020304" pitchFamily="18" charset="0"/>
                <a:sym typeface="Arial" panose="020B0604020202020204" pitchFamily="34" charset="0"/>
              </a:rPr>
              <a:t>达</a:t>
            </a:r>
            <a:r>
              <a:rPr lang="en-US" altLang="zh-CN" sz="1600" b="0" dirty="0">
                <a:solidFill>
                  <a:srgbClr val="C00000"/>
                </a:solidFill>
                <a:latin typeface="Arial" panose="020B0604020202020204" pitchFamily="34" charset="0"/>
                <a:ea typeface="Huawei Sans Medium"/>
                <a:cs typeface="Arial" panose="020B0604020202020204" pitchFamily="34" charset="0"/>
                <a:sym typeface="Arial" panose="020B0604020202020204" pitchFamily="34" charset="0"/>
              </a:rPr>
              <a:t>5000 TOPS</a:t>
            </a:r>
            <a:r>
              <a:rPr lang="zh-CN" altLang="en-US" sz="1600" b="0" dirty="0">
                <a:solidFill>
                  <a:srgbClr val="C00000"/>
                </a:solidFill>
                <a:latin typeface="Arial" panose="020B0604020202020204" pitchFamily="34" charset="0"/>
                <a:ea typeface="Huawei Sans Medium"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r>
              <a:rPr lang="zh-CN" altLang="en-US" sz="1600" b="0" dirty="0">
                <a:solidFill>
                  <a:srgbClr val="1D1D1A"/>
                </a:solidFill>
                <a:latin typeface="微软雅黑"/>
                <a:ea typeface="微软雅黑"/>
                <a:sym typeface="Arial" panose="020B0604020202020204" pitchFamily="34" charset="0"/>
              </a:rPr>
              <a:t>云服务占企业应用支出达</a:t>
            </a:r>
            <a:r>
              <a:rPr lang="en-US" altLang="zh-CN" sz="1600" b="0" dirty="0">
                <a:solidFill>
                  <a:srgbClr val="1D1D1A"/>
                </a:solidFill>
                <a:latin typeface="微软雅黑"/>
                <a:ea typeface="微软雅黑"/>
                <a:sym typeface="Arial" panose="020B0604020202020204" pitchFamily="34" charset="0"/>
              </a:rPr>
              <a:t>87%</a:t>
            </a:r>
            <a:r>
              <a:rPr lang="zh-CN" altLang="en-US" sz="1600" b="0" dirty="0">
                <a:solidFill>
                  <a:srgbClr val="1D1D1A"/>
                </a:solidFill>
                <a:latin typeface="微软雅黑"/>
                <a:ea typeface="微软雅黑"/>
                <a:sym typeface="Arial" panose="020B0604020202020204" pitchFamily="34" charset="0"/>
              </a:rPr>
              <a:t>；</a:t>
            </a:r>
            <a:r>
              <a:rPr lang="zh-CN" altLang="en-US" sz="1600" b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全球可再生能源占全球发电量达</a:t>
            </a:r>
            <a:r>
              <a:rPr lang="en-US" altLang="zh-CN" sz="1600" b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50%</a:t>
            </a:r>
            <a:r>
              <a:rPr lang="zh-CN" altLang="en-US" sz="1600" b="0" dirty="0">
                <a:solidFill>
                  <a:srgbClr val="1D1D1A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以上。</a:t>
            </a:r>
            <a:endParaRPr lang="en-US" altLang="zh-CN" sz="1600" b="0" dirty="0">
              <a:solidFill>
                <a:srgbClr val="1D1D1A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**********************************</a:t>
            </a: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胶片责任人：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丁敢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00391746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ICT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洞察部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最新更新：202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4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年1月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推荐受众：所有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**********************************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4881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64705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138071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讲解要点：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随着泛在万兆超宽带接入的广泛部署，业务流量将进一步增长，承载网需要同步进行升级，华为推出面向云时代的智能路由器平台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NetEngine 8000 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系列路由器，打造绿色超宽的网络。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NetEngine 8000 X16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单卡提供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42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400GE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端口，并支持未来升级到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800GE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NetEngine 8000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系列路由器提供全业务支持能力，有效降低多业务并发带来的性能设备性能下降问题，经过测试，全业务路由器在多业务并发时，性能下降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6%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，而业界其他通用路由器的业务性能下降达到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60%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。高并发、高流量不等于高功耗，华为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NetEngine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通过三级节能设计，有效降低单比特功耗；首先是设备及节能，华为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NetEngine 8000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路由器通过风扇智能调频、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变相散热材料等实现设备功耗的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30%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的降低，实现设备级节能。通过全业务路由器设计，一套设备同时提供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SR/BNG/CGN/IPSEC/SA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能力，节省设备数量，从网络级实现节能。最后，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NetEngine8000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系列路由器还通过客户化的能耗管理，支持空闲资源一键休眠，从运营级实现节能。</a:t>
            </a:r>
            <a:endParaRPr lang="en-US" altLang="zh-CN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zh-CN" altLang="en-US" dirty="0"/>
            </a:br>
            <a:r>
              <a:rPr lang="zh-CN" altLang="en-US" dirty="0"/>
              <a:t>另一方面，随着数字化发展的不断深入，传统行业的数字化转型已经广泛开展，对传统的承载网络提出差异化的体验诉求。按需的网络切片打破过去传统专网建设模式，通过一张网络中的资源划分，就可以为不同的业务、应用和用户切分出专属网络资源。一方面可以实现不同业务间的安全隔离，另一方面可以降低企业建网成本，更好的满足不同企业和用户的差异化网络诉求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**********************************</a:t>
            </a: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胶片责任人：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薛松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00421081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，数据通信营销运作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部</a:t>
            </a:r>
            <a:endParaRPr lang="en-US" altLang="zh-CN" sz="16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最新更新：202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4</a:t>
            </a: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年1月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推荐受众：所有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Arial" pitchFamily="34" charset="0"/>
              </a:rPr>
              <a:t>**********************************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6639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062653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2025197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13856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555776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041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399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en-US" altLang="zh-CN" dirty="0"/>
              <a:t>Ari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227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29095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6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23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425" indent="0" algn="ctr">
              <a:buNone/>
              <a:defRPr sz="2596"/>
            </a:lvl2pPr>
            <a:lvl3pPr marL="1186848" indent="0" algn="ctr">
              <a:buNone/>
              <a:defRPr sz="2336"/>
            </a:lvl3pPr>
            <a:lvl4pPr marL="1780274" indent="0" algn="ctr">
              <a:buNone/>
              <a:defRPr sz="2077"/>
            </a:lvl4pPr>
            <a:lvl5pPr marL="2373698" indent="0" algn="ctr">
              <a:buNone/>
              <a:defRPr sz="2077"/>
            </a:lvl5pPr>
            <a:lvl6pPr marL="2967122" indent="0" algn="ctr">
              <a:buNone/>
              <a:defRPr sz="2077"/>
            </a:lvl6pPr>
            <a:lvl7pPr marL="3560546" indent="0" algn="ctr">
              <a:buNone/>
              <a:defRPr sz="2077"/>
            </a:lvl7pPr>
            <a:lvl8pPr marL="4153972" indent="0" algn="ctr">
              <a:buNone/>
              <a:defRPr sz="2077"/>
            </a:lvl8pPr>
            <a:lvl9pPr marL="4747395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10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6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45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2pPr>
            <a:lvl3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3pPr>
            <a:lvl4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4pPr>
            <a:lvl5pPr marL="525430" indent="-171023">
              <a:buFont typeface="Arial" panose="020B0604020202020204" pitchFamily="34" charset="0"/>
              <a:buChar char="•"/>
              <a:tabLst>
                <a:tab pos="1207454" algn="ctr"/>
              </a:tabLst>
              <a:defRPr sz="1297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327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954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022199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72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7" Type="http://schemas.openxmlformats.org/officeDocument/2006/relationships/image" Target="../media/image1.tif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Relationship Id="rId3" Type="http://schemas.openxmlformats.org/officeDocument/2006/relationships/image" Target="../media/image1.tif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5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04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+mj-lt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+mj-lt"/>
                <a:cs typeface="Arial" panose="020B0604020202020204" pitchFamily="34" charset="0"/>
              </a:rPr>
              <a:pPr defTabSz="890849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46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189" r:id="rId2"/>
    <p:sldLayoutId id="2147484190" r:id="rId3"/>
    <p:sldLayoutId id="2147484191" r:id="rId4"/>
    <p:sldLayoutId id="2147484192" r:id="rId5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849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cs typeface="Arial" panose="020B0604020202020204" pitchFamily="34" charset="0"/>
              </a:rPr>
              <a:pPr defTabSz="890849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62" y="0"/>
            <a:ext cx="12204000" cy="686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221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3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62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50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orient="horz" pos="3974">
          <p15:clr>
            <a:srgbClr val="F26B43"/>
          </p15:clr>
        </p15:guide>
        <p15:guide id="6" orient="horz" pos="38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Copyright©2024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2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8543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1D1D1B"/>
                </a:solidFill>
                <a:latin typeface="+mj-lt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+mj-lt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3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8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16">
          <p15:clr>
            <a:srgbClr val="F26B43"/>
          </p15:clr>
        </p15:guide>
        <p15:guide id="3" orient="horz" pos="560">
          <p15:clr>
            <a:srgbClr val="F26B43"/>
          </p15:clr>
        </p15:guide>
        <p15:guide id="4" orient="horz" pos="728">
          <p15:clr>
            <a:srgbClr val="F26B43"/>
          </p15:clr>
        </p15:guide>
        <p15:guide id="5" orient="horz" pos="3968">
          <p15:clr>
            <a:srgbClr val="F26B43"/>
          </p15:clr>
        </p15:guide>
        <p15:guide id="6" orient="horz" pos="380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6.jpeg"/><Relationship Id="rId4" Type="http://schemas.openxmlformats.org/officeDocument/2006/relationships/image" Target="../media/image1.tif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jpeg"/><Relationship Id="rId4" Type="http://schemas.openxmlformats.org/officeDocument/2006/relationships/image" Target="../media/image1.tif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6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7.xml"/><Relationship Id="rId4" Type="http://schemas.openxmlformats.org/officeDocument/2006/relationships/image" Target="../media/image433.png"/><Relationship Id="rId5" Type="http://schemas.microsoft.com/office/2007/relationships/hdphoto" Target="../media/hdphoto43.wdp"/><Relationship Id="rId6" Type="http://schemas.openxmlformats.org/officeDocument/2006/relationships/image" Target="../media/image448.png"/><Relationship Id="rId7" Type="http://schemas.microsoft.com/office/2007/relationships/hdphoto" Target="../media/hdphoto45.wdp"/><Relationship Id="rId8" Type="http://schemas.openxmlformats.org/officeDocument/2006/relationships/image" Target="../media/image449.png"/><Relationship Id="rId9" Type="http://schemas.openxmlformats.org/officeDocument/2006/relationships/image" Target="../media/image450.png"/><Relationship Id="rId10" Type="http://schemas.openxmlformats.org/officeDocument/2006/relationships/image" Target="../media/image451.png"/><Relationship Id="rId11" Type="http://schemas.openxmlformats.org/officeDocument/2006/relationships/image" Target="../media/image452.png"/><Relationship Id="rId12" Type="http://schemas.openxmlformats.org/officeDocument/2006/relationships/image" Target="../media/image453.png"/><Relationship Id="rId13" Type="http://schemas.openxmlformats.org/officeDocument/2006/relationships/image" Target="../media/image454.png"/><Relationship Id="rId14" Type="http://schemas.openxmlformats.org/officeDocument/2006/relationships/image" Target="../media/image455.png"/><Relationship Id="rId15" Type="http://schemas.openxmlformats.org/officeDocument/2006/relationships/image" Target="../media/image456.png"/><Relationship Id="rId16" Type="http://schemas.openxmlformats.org/officeDocument/2006/relationships/image" Target="../media/image457.png"/><Relationship Id="rId17" Type="http://schemas.openxmlformats.org/officeDocument/2006/relationships/image" Target="../media/image458.png"/><Relationship Id="rId18" Type="http://schemas.openxmlformats.org/officeDocument/2006/relationships/image" Target="../media/image51.png"/><Relationship Id="rId19" Type="http://schemas.openxmlformats.org/officeDocument/2006/relationships/image" Target="../media/image459.png"/><Relationship Id="rId20" Type="http://schemas.openxmlformats.org/officeDocument/2006/relationships/image" Target="../media/image460.png"/><Relationship Id="rId21" Type="http://schemas.openxmlformats.org/officeDocument/2006/relationships/image" Target="../media/image461.png"/><Relationship Id="rId22" Type="http://schemas.openxmlformats.org/officeDocument/2006/relationships/image" Target="../media/image462.png"/><Relationship Id="rId23" Type="http://schemas.openxmlformats.org/officeDocument/2006/relationships/image" Target="../media/image463.png"/><Relationship Id="rId24" Type="http://schemas.openxmlformats.org/officeDocument/2006/relationships/image" Target="../media/image464.png"/><Relationship Id="rId25" Type="http://schemas.openxmlformats.org/officeDocument/2006/relationships/image" Target="../media/image465.svg"/><Relationship Id="rId26" Type="http://schemas.openxmlformats.org/officeDocument/2006/relationships/image" Target="../media/image46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7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9.png"/><Relationship Id="rId5" Type="http://schemas.microsoft.com/office/2007/relationships/hdphoto" Target="../media/hdphoto7.wdp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8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microsoft.com/office/2007/relationships/hdphoto" Target="../media/hdphoto3.wdp"/><Relationship Id="rId7" Type="http://schemas.openxmlformats.org/officeDocument/2006/relationships/image" Target="../media/image26.png"/><Relationship Id="rId8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雪山上滑雪的人&#10;&#10;描述已自动生成">
            <a:extLst>
              <a:ext uri="{FF2B5EF4-FFF2-40B4-BE49-F238E27FC236}">
                <a16:creationId xmlns:a16="http://schemas.microsoft.com/office/drawing/2014/main" id="{C8169490-2BE6-827E-250F-587F017AD0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9" y="1339"/>
            <a:ext cx="12188386" cy="685532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909EC4F-BCB3-94AB-1C6F-EA922E8482E3}"/>
              </a:ext>
            </a:extLst>
          </p:cNvPr>
          <p:cNvSpPr/>
          <p:nvPr/>
        </p:nvSpPr>
        <p:spPr>
          <a:xfrm>
            <a:off x="4492460" y="2219923"/>
            <a:ext cx="3211845" cy="830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398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/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20D540B-3B31-2A88-DB76-44C078589C4C}"/>
              </a:ext>
            </a:extLst>
          </p:cNvPr>
          <p:cNvCxnSpPr>
            <a:cxnSpLocks/>
          </p:cNvCxnSpPr>
          <p:nvPr/>
        </p:nvCxnSpPr>
        <p:spPr>
          <a:xfrm>
            <a:off x="6098381" y="3144050"/>
            <a:ext cx="1331480" cy="0"/>
          </a:xfrm>
          <a:prstGeom prst="line">
            <a:avLst/>
          </a:prstGeom>
          <a:ln w="28575">
            <a:solidFill>
              <a:srgbClr val="C700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46">
            <a:extLst>
              <a:ext uri="{FF2B5EF4-FFF2-40B4-BE49-F238E27FC236}">
                <a16:creationId xmlns:a16="http://schemas.microsoft.com/office/drawing/2014/main" id="{888F210D-A0E6-BB4F-56BE-6B885DB325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4576" y="6322287"/>
            <a:ext cx="1270304" cy="274917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8086A146-FCB7-BAC6-284E-015BFBF1DCA4}"/>
              </a:ext>
            </a:extLst>
          </p:cNvPr>
          <p:cNvSpPr/>
          <p:nvPr/>
        </p:nvSpPr>
        <p:spPr>
          <a:xfrm>
            <a:off x="1140031" y="3572279"/>
            <a:ext cx="1711974" cy="431831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粽情端午，"码"上启航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E50DDE-E52A-7DAB-AA95-A4AF22237E83}"/>
              </a:ext>
            </a:extLst>
          </p:cNvPr>
          <p:cNvSpPr/>
          <p:nvPr/>
        </p:nvSpPr>
        <p:spPr>
          <a:xfrm>
            <a:off x="9553535" y="3572279"/>
            <a:ext cx="1503197" cy="431831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/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EDF910-6EB7-0818-0DA9-6B611836B03A}"/>
              </a:ext>
            </a:extLst>
          </p:cNvPr>
          <p:cNvSpPr/>
          <p:nvPr/>
        </p:nvSpPr>
        <p:spPr>
          <a:xfrm>
            <a:off x="7945996" y="3572279"/>
            <a:ext cx="1503197" cy="431831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2026年6月18日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C59094-982A-A948-B6DE-253117CE2DD4}"/>
              </a:ext>
            </a:extLst>
          </p:cNvPr>
          <p:cNvSpPr/>
          <p:nvPr/>
        </p:nvSpPr>
        <p:spPr>
          <a:xfrm>
            <a:off x="5920899" y="3572279"/>
            <a:ext cx="1920752" cy="431831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99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+mn-cs"/>
                <a:sym typeface="微软雅黑" panose="020B0503020204020204" pitchFamily="34" charset="-122"/>
              </a:rPr>
              <a:t>上研分部2026年端午节活动方案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A5D843-78E5-62EB-E6FA-D179E5741F87}"/>
              </a:ext>
            </a:extLst>
          </p:cNvPr>
          <p:cNvSpPr/>
          <p:nvPr/>
        </p:nvSpPr>
        <p:spPr>
          <a:xfrm>
            <a:off x="4563891" y="3572279"/>
            <a:ext cx="1252665" cy="431831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/>
            <a:r>
              <a:rPr lang="zh-CN" altLang="en-US" sz="1599" kern="0" dirty="0">
                <a:solidFill>
                  <a:srgbClr val="666666">
                    <a:lumMod val="75000"/>
                  </a:srgbClr>
                </a:solidFill>
                <a:latin typeface="微软雅黑" panose="020B0503020204020204" pitchFamily="34" charset="-122"/>
                <a:ea typeface="微软雅黑"/>
                <a:sym typeface="微软雅黑" panose="020B0503020204020204" pitchFamily="34" charset="-122"/>
              </a:rPr>
              <a:t/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2CE4E4-00E2-CF96-7D0B-CBD680C900A3}"/>
              </a:ext>
            </a:extLst>
          </p:cNvPr>
          <p:cNvSpPr/>
          <p:nvPr/>
        </p:nvSpPr>
        <p:spPr>
          <a:xfrm>
            <a:off x="2956350" y="3572279"/>
            <a:ext cx="1503197" cy="431831"/>
          </a:xfrm>
          <a:prstGeom prst="rect">
            <a:avLst/>
          </a:prstGeom>
          <a:solidFill>
            <a:srgbClr val="C00000"/>
          </a:solidFill>
          <a:ln w="15875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914400"/>
            <a:r>
              <a:rPr lang="zh-CN" altLang="en-US" sz="1599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/>
                <a:sym typeface="微软雅黑" panose="020B0503020204020204" pitchFamily="34" charset="-122"/>
              </a:rPr>
              <a:t>服务与软件研发管理部</a:t>
            </a:r>
          </a:p>
        </p:txBody>
      </p:sp>
    </p:spTree>
    <p:extLst>
      <p:ext uri="{BB962C8B-B14F-4D97-AF65-F5344CB8AC3E}">
        <p14:creationId xmlns:p14="http://schemas.microsoft.com/office/powerpoint/2010/main" val="102788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1">
                <a:lumMod val="40000"/>
                <a:lumOff val="60000"/>
              </a:schemeClr>
            </a:gs>
            <a:gs pos="69000">
              <a:schemeClr val="accent2">
                <a:lumMod val="20000"/>
                <a:lumOff val="80000"/>
              </a:schemeClr>
            </a:gs>
            <a:gs pos="0">
              <a:schemeClr val="tx2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 descr="雪山上滑雪的人&#10;&#10;描述已自动生成">
            <a:extLst>
              <a:ext uri="{FF2B5EF4-FFF2-40B4-BE49-F238E27FC236}">
                <a16:creationId xmlns:a16="http://schemas.microsoft.com/office/drawing/2014/main" id="{C8169490-2BE6-827E-250F-587F017AD05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8" y="0"/>
            <a:ext cx="12193147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909EC4F-BCB3-94AB-1C6F-EA922E8482E3}"/>
              </a:ext>
            </a:extLst>
          </p:cNvPr>
          <p:cNvSpPr/>
          <p:nvPr/>
        </p:nvSpPr>
        <p:spPr>
          <a:xfrm>
            <a:off x="4491831" y="2219449"/>
            <a:ext cx="3213100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78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/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A20D540B-3B31-2A88-DB76-44C078589C4C}"/>
              </a:ext>
            </a:extLst>
          </p:cNvPr>
          <p:cNvCxnSpPr>
            <a:cxnSpLocks/>
          </p:cNvCxnSpPr>
          <p:nvPr/>
        </p:nvCxnSpPr>
        <p:spPr>
          <a:xfrm>
            <a:off x="6098381" y="3143939"/>
            <a:ext cx="1332000" cy="0"/>
          </a:xfrm>
          <a:prstGeom prst="line">
            <a:avLst/>
          </a:prstGeom>
          <a:ln w="28575">
            <a:solidFill>
              <a:srgbClr val="C7000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46">
            <a:extLst>
              <a:ext uri="{FF2B5EF4-FFF2-40B4-BE49-F238E27FC236}">
                <a16:creationId xmlns:a16="http://schemas.microsoft.com/office/drawing/2014/main" id="{888F210D-A0E6-BB4F-56BE-6B885DB325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8086A146-FCB7-BAC6-284E-015BFBF1DCA4}"/>
              </a:ext>
            </a:extLst>
          </p:cNvPr>
          <p:cNvSpPr/>
          <p:nvPr/>
        </p:nvSpPr>
        <p:spPr>
          <a:xfrm>
            <a:off x="1138094" y="3572334"/>
            <a:ext cx="1712643" cy="432000"/>
          </a:xfrm>
          <a:prstGeom prst="rect">
            <a:avLst/>
          </a:prstGeom>
          <a:solidFill>
            <a:srgbClr val="C00000"/>
          </a:solidFill>
          <a:ln w="15875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【游戏】划龙舟·套圈·留影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E50DDE-E52A-7DAB-AA95-A4AF22237E83}"/>
              </a:ext>
            </a:extLst>
          </p:cNvPr>
          <p:cNvSpPr/>
          <p:nvPr/>
        </p:nvSpPr>
        <p:spPr>
          <a:xfrm>
            <a:off x="9554884" y="3572334"/>
            <a:ext cx="1503784" cy="43200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【合影】定格美好瞬间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8EDF910-6EB7-0818-0DA9-6B611836B03A}"/>
              </a:ext>
            </a:extLst>
          </p:cNvPr>
          <p:cNvSpPr/>
          <p:nvPr/>
        </p:nvSpPr>
        <p:spPr>
          <a:xfrm>
            <a:off x="7946717" y="3572334"/>
            <a:ext cx="1503784" cy="43200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【活动开场】分组就座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7C59094-982A-A948-B6DE-253117CE2DD4}"/>
              </a:ext>
            </a:extLst>
          </p:cNvPr>
          <p:cNvSpPr/>
          <p:nvPr/>
        </p:nvSpPr>
        <p:spPr>
          <a:xfrm>
            <a:off x="5920830" y="3572334"/>
            <a:ext cx="1921502" cy="43200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【手作】包粽子·香囊DIY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A5D843-78E5-62EB-E6FA-D179E5741F87}"/>
              </a:ext>
            </a:extLst>
          </p:cNvPr>
          <p:cNvSpPr/>
          <p:nvPr/>
        </p:nvSpPr>
        <p:spPr>
          <a:xfrm>
            <a:off x="4563291" y="3572334"/>
            <a:ext cx="1253154" cy="43200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/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52CE4E4-00E2-CF96-7D0B-CBD680C900A3}"/>
              </a:ext>
            </a:extLst>
          </p:cNvPr>
          <p:cNvSpPr/>
          <p:nvPr/>
        </p:nvSpPr>
        <p:spPr>
          <a:xfrm>
            <a:off x="2955122" y="3572334"/>
            <a:ext cx="1503784" cy="432000"/>
          </a:xfrm>
          <a:prstGeom prst="rect">
            <a:avLst/>
          </a:prstGeom>
          <a:gradFill>
            <a:gsLst>
              <a:gs pos="100000">
                <a:schemeClr val="tx2">
                  <a:alpha val="0"/>
                </a:schemeClr>
              </a:gs>
              <a:gs pos="45000">
                <a:schemeClr val="tx2">
                  <a:alpha val="39000"/>
                </a:schemeClr>
              </a:gs>
              <a:gs pos="0">
                <a:schemeClr val="tx2"/>
              </a:gs>
            </a:gsLst>
            <a:path path="circle">
              <a:fillToRect l="100000" b="100000"/>
            </a:path>
          </a:gradFill>
          <a:ln w="1270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666666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【线上】好运粽动员祝福</a:t>
            </a:r>
          </a:p>
        </p:txBody>
      </p:sp>
    </p:spTree>
    <p:extLst>
      <p:ext uri="{BB962C8B-B14F-4D97-AF65-F5344CB8AC3E}">
        <p14:creationId xmlns:p14="http://schemas.microsoft.com/office/powerpoint/2010/main" val="3837465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矩形 336">
            <a:extLst>
              <a:ext uri="{FF2B5EF4-FFF2-40B4-BE49-F238E27FC236}">
                <a16:creationId xmlns:a16="http://schemas.microsoft.com/office/drawing/2014/main" id="{7FC76788-8ADF-4155-9B1F-41D7A1092FF3}"/>
              </a:ext>
            </a:extLst>
          </p:cNvPr>
          <p:cNvSpPr/>
          <p:nvPr/>
        </p:nvSpPr>
        <p:spPr>
          <a:xfrm>
            <a:off x="735932" y="2487806"/>
            <a:ext cx="5091321" cy="3918773"/>
          </a:xfrm>
          <a:prstGeom prst="rect">
            <a:avLst/>
          </a:prstGeom>
          <a:gradFill>
            <a:gsLst>
              <a:gs pos="100000">
                <a:schemeClr val="tx2">
                  <a:lumMod val="95000"/>
                  <a:alpha val="0"/>
                </a:schemeClr>
              </a:gs>
              <a:gs pos="0">
                <a:schemeClr val="tx2">
                  <a:lumMod val="95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DDDDDD">
                  <a:lumMod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F87AA589-4059-4729-9190-FE033B6D73D4}"/>
              </a:ext>
            </a:extLst>
          </p:cNvPr>
          <p:cNvSpPr/>
          <p:nvPr/>
        </p:nvSpPr>
        <p:spPr>
          <a:xfrm>
            <a:off x="6373265" y="2487806"/>
            <a:ext cx="5091321" cy="3918773"/>
          </a:xfrm>
          <a:prstGeom prst="rect">
            <a:avLst/>
          </a:prstGeom>
          <a:gradFill>
            <a:gsLst>
              <a:gs pos="100000">
                <a:schemeClr val="tx2">
                  <a:lumMod val="95000"/>
                  <a:alpha val="0"/>
                </a:schemeClr>
              </a:gs>
              <a:gs pos="0">
                <a:schemeClr val="tx2">
                  <a:lumMod val="95000"/>
                </a:schemeClr>
              </a:gs>
            </a:gsLst>
            <a:lin ang="54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DDDDDD">
                  <a:lumMod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100" name="图片 99">
            <a:extLst>
              <a:ext uri="{FF2B5EF4-FFF2-40B4-BE49-F238E27FC236}">
                <a16:creationId xmlns:a16="http://schemas.microsoft.com/office/drawing/2014/main" id="{681FA72C-F01E-420E-A6DA-8CFA236D262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 cstate="hqprint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 flipH="1">
            <a:off x="2108383" y="3235535"/>
            <a:ext cx="1961280" cy="842805"/>
          </a:xfrm>
          <a:prstGeom prst="rect">
            <a:avLst/>
          </a:prstGeom>
        </p:spPr>
      </p:pic>
      <p:sp>
        <p:nvSpPr>
          <p:cNvPr id="340" name="梯形 339">
            <a:extLst>
              <a:ext uri="{FF2B5EF4-FFF2-40B4-BE49-F238E27FC236}">
                <a16:creationId xmlns:a16="http://schemas.microsoft.com/office/drawing/2014/main" id="{874319C0-DF2C-44C1-A289-B67D1A5D169E}"/>
              </a:ext>
            </a:extLst>
          </p:cNvPr>
          <p:cNvSpPr/>
          <p:nvPr/>
        </p:nvSpPr>
        <p:spPr>
          <a:xfrm>
            <a:off x="6369039" y="2107076"/>
            <a:ext cx="5099770" cy="333860"/>
          </a:xfrm>
          <a:prstGeom prst="trapezoid">
            <a:avLst>
              <a:gd name="adj" fmla="val 233391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7000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sp>
        <p:nvSpPr>
          <p:cNvPr id="338" name="梯形 337">
            <a:extLst>
              <a:ext uri="{FF2B5EF4-FFF2-40B4-BE49-F238E27FC236}">
                <a16:creationId xmlns:a16="http://schemas.microsoft.com/office/drawing/2014/main" id="{4CBF527A-6A0D-42A9-A823-0179C9F79B79}"/>
              </a:ext>
            </a:extLst>
          </p:cNvPr>
          <p:cNvSpPr/>
          <p:nvPr/>
        </p:nvSpPr>
        <p:spPr>
          <a:xfrm>
            <a:off x="746760" y="2107076"/>
            <a:ext cx="5073743" cy="333860"/>
          </a:xfrm>
          <a:prstGeom prst="trapezoid">
            <a:avLst>
              <a:gd name="adj" fmla="val 233391"/>
            </a:avLst>
          </a:prstGeom>
          <a:gradFill>
            <a:gsLst>
              <a:gs pos="100000">
                <a:srgbClr val="A3A3A3">
                  <a:alpha val="20000"/>
                </a:srgbClr>
              </a:gs>
              <a:gs pos="0">
                <a:srgbClr val="F2F2F2"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C7000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itchFamily="34" charset="0"/>
            </a:endParaRPr>
          </a:p>
        </p:txBody>
      </p: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872EC5EF-4CDA-427E-A89C-C2381CFF75C9}"/>
              </a:ext>
            </a:extLst>
          </p:cNvPr>
          <p:cNvGrpSpPr/>
          <p:nvPr/>
        </p:nvGrpSpPr>
        <p:grpSpPr>
          <a:xfrm>
            <a:off x="7211578" y="5595132"/>
            <a:ext cx="3414692" cy="377411"/>
            <a:chOff x="6557995" y="5628614"/>
            <a:chExt cx="3414692" cy="377411"/>
          </a:xfrm>
        </p:grpSpPr>
        <p:sp>
          <p:nvSpPr>
            <p:cNvPr id="335" name="矩形 334">
              <a:extLst>
                <a:ext uri="{FF2B5EF4-FFF2-40B4-BE49-F238E27FC236}">
                  <a16:creationId xmlns:a16="http://schemas.microsoft.com/office/drawing/2014/main" id="{B8194DE9-4946-4D1D-B4ED-AB30645A1C20}"/>
                </a:ext>
              </a:extLst>
            </p:cNvPr>
            <p:cNvSpPr/>
            <p:nvPr/>
          </p:nvSpPr>
          <p:spPr>
            <a:xfrm>
              <a:off x="7055097" y="5628614"/>
              <a:ext cx="2917590" cy="377411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marL="0" marR="0" lvl="0" indent="0" algn="l" defTabSz="914478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28282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切片随建随拆，切片专线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溢价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10%</a:t>
              </a:r>
            </a:p>
          </p:txBody>
        </p:sp>
        <p:pic>
          <p:nvPicPr>
            <p:cNvPr id="336" name="图片 335">
              <a:extLst>
                <a:ext uri="{FF2B5EF4-FFF2-40B4-BE49-F238E27FC236}">
                  <a16:creationId xmlns:a16="http://schemas.microsoft.com/office/drawing/2014/main" id="{ED78AAC3-7519-4885-84A3-9EDF30403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9949" b="89796" l="6331" r="91442">
                          <a14:foregroundMark x1="16413" y1="13010" x2="16413" y2="13010"/>
                          <a14:foregroundMark x1="6565" y1="18878" x2="6565" y2="18878"/>
                          <a14:foregroundMark x1="6331" y1="32908" x2="6331" y2="32908"/>
                          <a14:foregroundMark x1="9261" y1="64541" x2="9261" y2="64541"/>
                          <a14:foregroundMark x1="9496" y1="75765" x2="9496" y2="75765"/>
                          <a14:foregroundMark x1="36225" y1="69388" x2="36225" y2="69388"/>
                          <a14:foregroundMark x1="42321" y1="65306" x2="42321" y2="65306"/>
                          <a14:foregroundMark x1="45721" y1="67347" x2="45721" y2="67347"/>
                          <a14:foregroundMark x1="45252" y1="63776" x2="45252" y2="63776"/>
                          <a14:foregroundMark x1="38218" y1="63776" x2="38218" y2="63776"/>
                          <a14:foregroundMark x1="49472" y1="72449" x2="49472" y2="72449"/>
                          <a14:foregroundMark x1="58030" y1="65816" x2="58030" y2="65816"/>
                          <a14:foregroundMark x1="60258" y1="69388" x2="60258" y2="69388"/>
                          <a14:foregroundMark x1="62368" y1="65561" x2="62368" y2="65561"/>
                          <a14:foregroundMark x1="64244" y1="65561" x2="64244" y2="65561"/>
                          <a14:foregroundMark x1="68933" y1="63776" x2="68933" y2="63776"/>
                          <a14:foregroundMark x1="74326" y1="64031" x2="74326" y2="64031"/>
                          <a14:foregroundMark x1="86518" y1="64286" x2="86518" y2="64286"/>
                          <a14:foregroundMark x1="88277" y1="64031" x2="88277" y2="64031"/>
                          <a14:foregroundMark x1="91442" y1="64796" x2="91442" y2="64796"/>
                          <a14:foregroundMark x1="91442" y1="72959" x2="91442" y2="72959"/>
                          <a14:foregroundMark x1="34701" y1="80102" x2="34701" y2="80102"/>
                          <a14:foregroundMark x1="39156" y1="80102" x2="39156" y2="80102"/>
                          <a14:foregroundMark x1="42321" y1="79337" x2="42321" y2="79337"/>
                          <a14:foregroundMark x1="47128" y1="79082" x2="47128" y2="79082"/>
                          <a14:foregroundMark x1="50645" y1="79082" x2="50645" y2="79082"/>
                          <a14:foregroundMark x1="54982" y1="79337" x2="54982" y2="79337"/>
                          <a14:foregroundMark x1="57444" y1="80102" x2="57444" y2="80102"/>
                          <a14:foregroundMark x1="64009" y1="79592" x2="64009" y2="79592"/>
                          <a14:foregroundMark x1="67292" y1="80102" x2="67292" y2="80102"/>
                          <a14:foregroundMark x1="71161" y1="79337" x2="71161" y2="79337"/>
                          <a14:foregroundMark x1="74560" y1="79592" x2="74560" y2="79592"/>
                          <a14:foregroundMark x1="78312" y1="79592" x2="78312" y2="79592"/>
                          <a14:foregroundMark x1="82532" y1="79337" x2="82532" y2="79337"/>
                          <a14:foregroundMark x1="86987" y1="79592" x2="86987" y2="79592"/>
                          <a14:foregroundMark x1="44783" y1="80102" x2="44783" y2="80102"/>
                          <a14:foregroundMark x1="44549" y1="78316" x2="44549" y2="78316"/>
                          <a14:foregroundMark x1="43611" y1="81122" x2="43611" y2="81122"/>
                          <a14:foregroundMark x1="72098" y1="80867" x2="72098" y2="80867"/>
                          <a14:foregroundMark x1="80657" y1="80612" x2="80657" y2="80612"/>
                          <a14:foregroundMark x1="58968" y1="81122" x2="58968" y2="81122"/>
                          <a14:backgroundMark x1="82298" y1="67857" x2="82298" y2="67857"/>
                          <a14:backgroundMark x1="83939" y1="79592" x2="83939" y2="79592"/>
                          <a14:backgroundMark x1="43494" y1="79082" x2="43494" y2="7908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557995" y="5705670"/>
              <a:ext cx="548403" cy="252020"/>
            </a:xfrm>
            <a:prstGeom prst="rect">
              <a:avLst/>
            </a:prstGeom>
            <a:effectLst/>
          </p:spPr>
        </p:pic>
      </p:grpSp>
      <p:grpSp>
        <p:nvGrpSpPr>
          <p:cNvPr id="251" name="组合 250">
            <a:extLst>
              <a:ext uri="{FF2B5EF4-FFF2-40B4-BE49-F238E27FC236}">
                <a16:creationId xmlns:a16="http://schemas.microsoft.com/office/drawing/2014/main" id="{8F1D1B3A-C2B2-4FE1-B9CA-191838121872}"/>
              </a:ext>
            </a:extLst>
          </p:cNvPr>
          <p:cNvGrpSpPr/>
          <p:nvPr/>
        </p:nvGrpSpPr>
        <p:grpSpPr>
          <a:xfrm>
            <a:off x="1887949" y="5595132"/>
            <a:ext cx="2983277" cy="438952"/>
            <a:chOff x="1616945" y="5715677"/>
            <a:chExt cx="2983277" cy="438952"/>
          </a:xfrm>
        </p:grpSpPr>
        <p:sp>
          <p:nvSpPr>
            <p:cNvPr id="333" name="矩形 332">
              <a:extLst>
                <a:ext uri="{FF2B5EF4-FFF2-40B4-BE49-F238E27FC236}">
                  <a16:creationId xmlns:a16="http://schemas.microsoft.com/office/drawing/2014/main" id="{AE366099-94E6-4F42-9F13-3B03E18B2C78}"/>
                </a:ext>
              </a:extLst>
            </p:cNvPr>
            <p:cNvSpPr/>
            <p:nvPr/>
          </p:nvSpPr>
          <p:spPr>
            <a:xfrm>
              <a:off x="2060872" y="5838925"/>
              <a:ext cx="2539350" cy="215315"/>
            </a:xfrm>
            <a:prstGeom prst="rect">
              <a:avLst/>
            </a:prstGeom>
          </p:spPr>
          <p:txBody>
            <a:bodyPr wrap="none" lIns="0" tIns="0" rIns="0" bIns="0" anchor="ctr">
              <a:spAutoFit/>
            </a:bodyPr>
            <a:lstStyle/>
            <a:p>
              <a:pPr marL="0" marR="0" lvl="0" indent="0" algn="ctr" defTabSz="118732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99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400GE</a:t>
              </a:r>
              <a:r>
                <a:rPr kumimoji="0" lang="zh-CN" altLang="en-US" sz="1399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相对</a:t>
              </a:r>
              <a:r>
                <a:rPr kumimoji="0" lang="en-US" altLang="zh-CN" sz="1399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100GE </a:t>
              </a:r>
              <a:r>
                <a:rPr kumimoji="0" lang="en-US" altLang="zh-CN" sz="1399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OPEX</a:t>
              </a:r>
              <a:r>
                <a:rPr kumimoji="0" lang="zh-CN" altLang="en-US" sz="1399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r>
                <a:rPr kumimoji="0" lang="en-US" altLang="zh-CN" sz="1399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70%</a:t>
              </a:r>
              <a:r>
                <a:rPr kumimoji="0" lang="zh-CN" altLang="en-US" sz="1399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↓</a:t>
              </a:r>
              <a:endParaRPr kumimoji="0" lang="en-US" altLang="zh-CN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334" name="Picture 2" descr="Logo&#10;&#10;Description automatically generated">
              <a:extLst>
                <a:ext uri="{FF2B5EF4-FFF2-40B4-BE49-F238E27FC236}">
                  <a16:creationId xmlns:a16="http://schemas.microsoft.com/office/drawing/2014/main" id="{C6827C51-64B5-4AAB-8E9F-DA18C0F1C8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16945" y="5715677"/>
              <a:ext cx="468000" cy="438952"/>
            </a:xfrm>
            <a:prstGeom prst="rect">
              <a:avLst/>
            </a:prstGeom>
          </p:spPr>
        </p:pic>
      </p:grpSp>
      <p:sp>
        <p:nvSpPr>
          <p:cNvPr id="255" name="矩形 254">
            <a:extLst>
              <a:ext uri="{FF2B5EF4-FFF2-40B4-BE49-F238E27FC236}">
                <a16:creationId xmlns:a16="http://schemas.microsoft.com/office/drawing/2014/main" id="{1C6A257F-DEC4-4204-AB58-565643B9873C}"/>
              </a:ext>
            </a:extLst>
          </p:cNvPr>
          <p:cNvSpPr/>
          <p:nvPr/>
        </p:nvSpPr>
        <p:spPr>
          <a:xfrm>
            <a:off x="7808525" y="2049211"/>
            <a:ext cx="22208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2. 撰写祝福语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/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/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A1884B1F-FE96-422A-B029-BD9973EFF293}"/>
              </a:ext>
            </a:extLst>
          </p:cNvPr>
          <p:cNvSpPr/>
          <p:nvPr/>
        </p:nvSpPr>
        <p:spPr>
          <a:xfrm>
            <a:off x="2170552" y="2049211"/>
            <a:ext cx="2361544" cy="3508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4. 收集祝福收获温暖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/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/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6D8D4CA-3FD1-45A9-B72F-581F9ADC879F}"/>
              </a:ext>
            </a:extLst>
          </p:cNvPr>
          <p:cNvGrpSpPr/>
          <p:nvPr/>
        </p:nvGrpSpPr>
        <p:grpSpPr>
          <a:xfrm>
            <a:off x="6727448" y="2597351"/>
            <a:ext cx="4638022" cy="2116764"/>
            <a:chOff x="6389590" y="2162055"/>
            <a:chExt cx="5034622" cy="2297769"/>
          </a:xfrm>
        </p:grpSpPr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E6B1AC74-BF1F-4B6F-A2C9-EC9B414817FB}"/>
                </a:ext>
              </a:extLst>
            </p:cNvPr>
            <p:cNvGrpSpPr/>
            <p:nvPr/>
          </p:nvGrpSpPr>
          <p:grpSpPr>
            <a:xfrm>
              <a:off x="6389590" y="2247315"/>
              <a:ext cx="2144468" cy="2212508"/>
              <a:chOff x="1538027" y="1668534"/>
              <a:chExt cx="2144468" cy="2979330"/>
            </a:xfrm>
          </p:grpSpPr>
          <p:pic>
            <p:nvPicPr>
              <p:cNvPr id="321" name="图片 320" descr="底部云 拷贝 3">
                <a:extLst>
                  <a:ext uri="{FF2B5EF4-FFF2-40B4-BE49-F238E27FC236}">
                    <a16:creationId xmlns:a16="http://schemas.microsoft.com/office/drawing/2014/main" id="{D821C605-7F07-4EE0-8E46-FC64103AD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38027" y="3827604"/>
                <a:ext cx="2144468" cy="820260"/>
              </a:xfrm>
              <a:prstGeom prst="rect">
                <a:avLst/>
              </a:prstGeom>
            </p:spPr>
          </p:pic>
          <p:pic>
            <p:nvPicPr>
              <p:cNvPr id="322" name="图片 321" descr="2">
                <a:extLst>
                  <a:ext uri="{FF2B5EF4-FFF2-40B4-BE49-F238E27FC236}">
                    <a16:creationId xmlns:a16="http://schemas.microsoft.com/office/drawing/2014/main" id="{74C509CA-68D8-46E4-83AD-2E0F2C08E5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59404" y="1740551"/>
                <a:ext cx="556650" cy="307597"/>
              </a:xfrm>
              <a:prstGeom prst="rect">
                <a:avLst/>
              </a:prstGeom>
            </p:spPr>
          </p:pic>
          <p:pic>
            <p:nvPicPr>
              <p:cNvPr id="323" name="图片 322" descr="1">
                <a:extLst>
                  <a:ext uri="{FF2B5EF4-FFF2-40B4-BE49-F238E27FC236}">
                    <a16:creationId xmlns:a16="http://schemas.microsoft.com/office/drawing/2014/main" id="{4835A9F8-34A3-4B93-AAEC-DBCF91E0F9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951165" y="1668534"/>
                <a:ext cx="803035" cy="379973"/>
              </a:xfrm>
              <a:prstGeom prst="rect">
                <a:avLst/>
              </a:prstGeom>
            </p:spPr>
          </p:pic>
          <p:pic>
            <p:nvPicPr>
              <p:cNvPr id="324" name="图片 323" descr="管道">
                <a:extLst>
                  <a:ext uri="{FF2B5EF4-FFF2-40B4-BE49-F238E27FC236}">
                    <a16:creationId xmlns:a16="http://schemas.microsoft.com/office/drawing/2014/main" id="{C5BC1ADC-2E84-41FD-8CFB-C52C306CC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20293" y="2048417"/>
                <a:ext cx="1295806" cy="2032359"/>
              </a:xfrm>
              <a:prstGeom prst="rect">
                <a:avLst/>
              </a:prstGeom>
            </p:spPr>
          </p:pic>
          <p:pic>
            <p:nvPicPr>
              <p:cNvPr id="325" name="图片 324" descr="远程控制">
                <a:extLst>
                  <a:ext uri="{FF2B5EF4-FFF2-40B4-BE49-F238E27FC236}">
                    <a16:creationId xmlns:a16="http://schemas.microsoft.com/office/drawing/2014/main" id="{0EDB1034-909C-4876-BDE5-CAA6FF7822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08835" y="4084428"/>
                <a:ext cx="160716" cy="181649"/>
              </a:xfrm>
              <a:prstGeom prst="rect">
                <a:avLst/>
              </a:prstGeom>
            </p:spPr>
          </p:pic>
          <p:pic>
            <p:nvPicPr>
              <p:cNvPr id="326" name="图片 325" descr="视频监控 (1)">
                <a:extLst>
                  <a:ext uri="{FF2B5EF4-FFF2-40B4-BE49-F238E27FC236}">
                    <a16:creationId xmlns:a16="http://schemas.microsoft.com/office/drawing/2014/main" id="{123C4877-166A-4071-A73A-4EB920BE1A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07994" y="4066426"/>
                <a:ext cx="168370" cy="207601"/>
              </a:xfrm>
              <a:prstGeom prst="rect">
                <a:avLst/>
              </a:prstGeom>
            </p:spPr>
          </p:pic>
          <p:pic>
            <p:nvPicPr>
              <p:cNvPr id="327" name="图片 326" descr="网络3">
                <a:extLst>
                  <a:ext uri="{FF2B5EF4-FFF2-40B4-BE49-F238E27FC236}">
                    <a16:creationId xmlns:a16="http://schemas.microsoft.com/office/drawing/2014/main" id="{2139CEB7-7BB8-4E4A-A4A2-AB1E4C8DC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58124" y="4084428"/>
                <a:ext cx="160716" cy="181649"/>
              </a:xfrm>
              <a:prstGeom prst="rect">
                <a:avLst/>
              </a:prstGeom>
            </p:spPr>
          </p:pic>
          <p:sp>
            <p:nvSpPr>
              <p:cNvPr id="328" name="TextBox 2">
                <a:extLst>
                  <a:ext uri="{FF2B5EF4-FFF2-40B4-BE49-F238E27FC236}">
                    <a16:creationId xmlns:a16="http://schemas.microsoft.com/office/drawing/2014/main" id="{D813EFCA-D4EC-42EE-BDA4-D18F0B1B061A}"/>
                  </a:ext>
                </a:extLst>
              </p:cNvPr>
              <p:cNvSpPr txBox="1"/>
              <p:nvPr/>
            </p:nvSpPr>
            <p:spPr>
              <a:xfrm>
                <a:off x="1618225" y="4280173"/>
                <a:ext cx="558132" cy="255816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484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粗黑简体" panose="02000000000000000000" charset="-122"/>
                  </a:rPr>
                  <a:t>远程控制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8484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兰亭粗黑简体" panose="02000000000000000000" charset="-122"/>
                </a:endParaRPr>
              </a:p>
            </p:txBody>
          </p:sp>
          <p:sp>
            <p:nvSpPr>
              <p:cNvPr id="329" name="TextBox 2">
                <a:extLst>
                  <a:ext uri="{FF2B5EF4-FFF2-40B4-BE49-F238E27FC236}">
                    <a16:creationId xmlns:a16="http://schemas.microsoft.com/office/drawing/2014/main" id="{B9074596-0CF6-4640-BEC1-6DC453E3CEC8}"/>
                  </a:ext>
                </a:extLst>
              </p:cNvPr>
              <p:cNvSpPr txBox="1"/>
              <p:nvPr/>
            </p:nvSpPr>
            <p:spPr>
              <a:xfrm>
                <a:off x="2286707" y="4280173"/>
                <a:ext cx="558133" cy="255816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8484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粗黑简体" panose="02000000000000000000" charset="-122"/>
                  </a:rPr>
                  <a:t>视频监控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8484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兰亭粗黑简体" panose="02000000000000000000" charset="-122"/>
                </a:endParaRPr>
              </a:p>
            </p:txBody>
          </p:sp>
          <p:sp>
            <p:nvSpPr>
              <p:cNvPr id="330" name="TextBox 2">
                <a:extLst>
                  <a:ext uri="{FF2B5EF4-FFF2-40B4-BE49-F238E27FC236}">
                    <a16:creationId xmlns:a16="http://schemas.microsoft.com/office/drawing/2014/main" id="{43D8EB7D-E7A3-44D5-B1E5-1C4FA02DA8AD}"/>
                  </a:ext>
                </a:extLst>
              </p:cNvPr>
              <p:cNvSpPr txBox="1"/>
              <p:nvPr/>
            </p:nvSpPr>
            <p:spPr>
              <a:xfrm>
                <a:off x="3054878" y="4280173"/>
                <a:ext cx="558133" cy="255816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484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粗黑简体" panose="02000000000000000000" charset="-122"/>
                  </a:rPr>
                  <a:t>办公业务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8484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兰亭粗黑简体" panose="02000000000000000000" charset="-122"/>
                </a:endParaRPr>
              </a:p>
            </p:txBody>
          </p:sp>
          <p:sp>
            <p:nvSpPr>
              <p:cNvPr id="331" name="TextBox 2">
                <a:extLst>
                  <a:ext uri="{FF2B5EF4-FFF2-40B4-BE49-F238E27FC236}">
                    <a16:creationId xmlns:a16="http://schemas.microsoft.com/office/drawing/2014/main" id="{C929DE95-8738-47A0-859E-241BB2A2C23E}"/>
                  </a:ext>
                </a:extLst>
              </p:cNvPr>
              <p:cNvSpPr txBox="1"/>
              <p:nvPr/>
            </p:nvSpPr>
            <p:spPr>
              <a:xfrm>
                <a:off x="2790217" y="2621550"/>
                <a:ext cx="232036" cy="898780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>
                <a:spAutoFit/>
              </a:bodyPr>
              <a:lstStyle/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办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公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业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务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</p:txBody>
          </p:sp>
          <p:sp>
            <p:nvSpPr>
              <p:cNvPr id="332" name="TextBox 2">
                <a:extLst>
                  <a:ext uri="{FF2B5EF4-FFF2-40B4-BE49-F238E27FC236}">
                    <a16:creationId xmlns:a16="http://schemas.microsoft.com/office/drawing/2014/main" id="{A1DAE447-EC1C-4025-A615-7FE67028A93A}"/>
                  </a:ext>
                </a:extLst>
              </p:cNvPr>
              <p:cNvSpPr txBox="1"/>
              <p:nvPr/>
            </p:nvSpPr>
            <p:spPr>
              <a:xfrm>
                <a:off x="2272918" y="2613497"/>
                <a:ext cx="232036" cy="898780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>
                <a:spAutoFit/>
              </a:bodyPr>
              <a:lstStyle/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生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产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业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ctr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务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14C7F7A4-3434-4912-A859-CE99361B26B6}"/>
                </a:ext>
              </a:extLst>
            </p:cNvPr>
            <p:cNvGrpSpPr/>
            <p:nvPr/>
          </p:nvGrpSpPr>
          <p:grpSpPr>
            <a:xfrm>
              <a:off x="8939923" y="2162055"/>
              <a:ext cx="2484289" cy="2297769"/>
              <a:chOff x="5764900" y="1633718"/>
              <a:chExt cx="2484289" cy="3088391"/>
            </a:xfrm>
          </p:grpSpPr>
          <p:pic>
            <p:nvPicPr>
              <p:cNvPr id="309" name="图片 308" descr="底部云 拷贝 3">
                <a:extLst>
                  <a:ext uri="{FF2B5EF4-FFF2-40B4-BE49-F238E27FC236}">
                    <a16:creationId xmlns:a16="http://schemas.microsoft.com/office/drawing/2014/main" id="{A3C2A78C-DFF6-4FD4-842E-161B3E2C8A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764900" y="3901729"/>
                <a:ext cx="2484289" cy="820380"/>
              </a:xfrm>
              <a:prstGeom prst="rect">
                <a:avLst/>
              </a:prstGeom>
            </p:spPr>
          </p:pic>
          <p:pic>
            <p:nvPicPr>
              <p:cNvPr id="311" name="图片 310" descr="管道2">
                <a:extLst>
                  <a:ext uri="{FF2B5EF4-FFF2-40B4-BE49-F238E27FC236}">
                    <a16:creationId xmlns:a16="http://schemas.microsoft.com/office/drawing/2014/main" id="{93CC771C-1739-473A-AD9D-B34FBB5FC2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330573" y="2013604"/>
                <a:ext cx="1350559" cy="2115892"/>
              </a:xfrm>
              <a:prstGeom prst="rect">
                <a:avLst/>
              </a:prstGeom>
            </p:spPr>
          </p:pic>
          <p:sp>
            <p:nvSpPr>
              <p:cNvPr id="312" name="TextBox 2">
                <a:extLst>
                  <a:ext uri="{FF2B5EF4-FFF2-40B4-BE49-F238E27FC236}">
                    <a16:creationId xmlns:a16="http://schemas.microsoft.com/office/drawing/2014/main" id="{EB83D012-AFA0-41F1-8523-B1FAD6F25829}"/>
                  </a:ext>
                </a:extLst>
              </p:cNvPr>
              <p:cNvSpPr txBox="1"/>
              <p:nvPr/>
            </p:nvSpPr>
            <p:spPr>
              <a:xfrm>
                <a:off x="7250003" y="2645937"/>
                <a:ext cx="232036" cy="897109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 anchor="ctr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办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公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切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片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</p:txBody>
          </p:sp>
          <p:sp>
            <p:nvSpPr>
              <p:cNvPr id="313" name="TextBox 2">
                <a:extLst>
                  <a:ext uri="{FF2B5EF4-FFF2-40B4-BE49-F238E27FC236}">
                    <a16:creationId xmlns:a16="http://schemas.microsoft.com/office/drawing/2014/main" id="{77E0C381-518E-4329-B9A1-176468DA33C7}"/>
                  </a:ext>
                </a:extLst>
              </p:cNvPr>
              <p:cNvSpPr txBox="1"/>
              <p:nvPr/>
            </p:nvSpPr>
            <p:spPr>
              <a:xfrm>
                <a:off x="6928042" y="2645937"/>
                <a:ext cx="232036" cy="897109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 anchor="ctr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视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频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切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片</a:t>
                </a:r>
              </a:p>
            </p:txBody>
          </p:sp>
          <p:sp>
            <p:nvSpPr>
              <p:cNvPr id="314" name="TextBox 2">
                <a:extLst>
                  <a:ext uri="{FF2B5EF4-FFF2-40B4-BE49-F238E27FC236}">
                    <a16:creationId xmlns:a16="http://schemas.microsoft.com/office/drawing/2014/main" id="{20ADE560-267C-4B74-8972-3FEB52CDBA59}"/>
                  </a:ext>
                </a:extLst>
              </p:cNvPr>
              <p:cNvSpPr txBox="1"/>
              <p:nvPr/>
            </p:nvSpPr>
            <p:spPr>
              <a:xfrm>
                <a:off x="6676302" y="2634902"/>
                <a:ext cx="194935" cy="897109"/>
              </a:xfrm>
              <a:prstGeom prst="rect">
                <a:avLst/>
              </a:prstGeom>
              <a:noFill/>
            </p:spPr>
            <p:txBody>
              <a:bodyPr wrap="square" lIns="51396" tIns="25698" rIns="51396" bIns="25698" rtlCol="0" anchor="ctr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控制切</a:t>
                </a:r>
                <a:endParaRPr kumimoji="0" lang="en-US" altLang="zh-CN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103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j-ea"/>
                </a:endParaRPr>
              </a:p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030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j-ea"/>
                  </a:rPr>
                  <a:t>片</a:t>
                </a:r>
              </a:p>
            </p:txBody>
          </p:sp>
          <p:pic>
            <p:nvPicPr>
              <p:cNvPr id="315" name="图片 314" descr="远程控制">
                <a:extLst>
                  <a:ext uri="{FF2B5EF4-FFF2-40B4-BE49-F238E27FC236}">
                    <a16:creationId xmlns:a16="http://schemas.microsoft.com/office/drawing/2014/main" id="{49D3F7FB-8D40-4898-9DBD-76AD7825D7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279626" y="4131089"/>
                <a:ext cx="160716" cy="181650"/>
              </a:xfrm>
              <a:prstGeom prst="rect">
                <a:avLst/>
              </a:prstGeom>
            </p:spPr>
          </p:pic>
          <p:pic>
            <p:nvPicPr>
              <p:cNvPr id="316" name="图片 315" descr="视频监控 (1)">
                <a:extLst>
                  <a:ext uri="{FF2B5EF4-FFF2-40B4-BE49-F238E27FC236}">
                    <a16:creationId xmlns:a16="http://schemas.microsoft.com/office/drawing/2014/main" id="{30302C23-72B3-4791-B9EB-4E7E0E2DA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78786" y="4113083"/>
                <a:ext cx="168370" cy="207600"/>
              </a:xfrm>
              <a:prstGeom prst="rect">
                <a:avLst/>
              </a:prstGeom>
            </p:spPr>
          </p:pic>
          <p:pic>
            <p:nvPicPr>
              <p:cNvPr id="317" name="图片 316" descr="网络3">
                <a:extLst>
                  <a:ext uri="{FF2B5EF4-FFF2-40B4-BE49-F238E27FC236}">
                    <a16:creationId xmlns:a16="http://schemas.microsoft.com/office/drawing/2014/main" id="{E6EA7363-90C7-4D05-B49C-CBDB36A36B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628915" y="4131089"/>
                <a:ext cx="160716" cy="181650"/>
              </a:xfrm>
              <a:prstGeom prst="rect">
                <a:avLst/>
              </a:prstGeom>
            </p:spPr>
          </p:pic>
          <p:sp>
            <p:nvSpPr>
              <p:cNvPr id="318" name="TextBox 2">
                <a:extLst>
                  <a:ext uri="{FF2B5EF4-FFF2-40B4-BE49-F238E27FC236}">
                    <a16:creationId xmlns:a16="http://schemas.microsoft.com/office/drawing/2014/main" id="{FD27E71B-87DF-4E39-96B5-46ECE856C6E0}"/>
                  </a:ext>
                </a:extLst>
              </p:cNvPr>
              <p:cNvSpPr txBox="1"/>
              <p:nvPr/>
            </p:nvSpPr>
            <p:spPr>
              <a:xfrm>
                <a:off x="6089015" y="4365726"/>
                <a:ext cx="558132" cy="255341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 anchor="ctr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484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粗黑简体" panose="02000000000000000000" charset="-122"/>
                  </a:rPr>
                  <a:t>远程控制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8484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兰亭粗黑简体" panose="02000000000000000000" charset="-122"/>
                </a:endParaRPr>
              </a:p>
            </p:txBody>
          </p:sp>
          <p:sp>
            <p:nvSpPr>
              <p:cNvPr id="319" name="TextBox 2">
                <a:extLst>
                  <a:ext uri="{FF2B5EF4-FFF2-40B4-BE49-F238E27FC236}">
                    <a16:creationId xmlns:a16="http://schemas.microsoft.com/office/drawing/2014/main" id="{36DD935E-20EF-48F7-8FF1-2A83BA5C2286}"/>
                  </a:ext>
                </a:extLst>
              </p:cNvPr>
              <p:cNvSpPr txBox="1"/>
              <p:nvPr/>
            </p:nvSpPr>
            <p:spPr>
              <a:xfrm>
                <a:off x="6757500" y="4365726"/>
                <a:ext cx="558132" cy="255341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 anchor="ctr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48484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粗黑简体" panose="02000000000000000000" charset="-122"/>
                  </a:rPr>
                  <a:t>视频监控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8484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兰亭粗黑简体" panose="02000000000000000000" charset="-122"/>
                </a:endParaRPr>
              </a:p>
            </p:txBody>
          </p:sp>
          <p:sp>
            <p:nvSpPr>
              <p:cNvPr id="320" name="TextBox 2">
                <a:extLst>
                  <a:ext uri="{FF2B5EF4-FFF2-40B4-BE49-F238E27FC236}">
                    <a16:creationId xmlns:a16="http://schemas.microsoft.com/office/drawing/2014/main" id="{34A41029-A1FC-4993-A693-8ECCF73E1F5D}"/>
                  </a:ext>
                </a:extLst>
              </p:cNvPr>
              <p:cNvSpPr txBox="1"/>
              <p:nvPr/>
            </p:nvSpPr>
            <p:spPr>
              <a:xfrm>
                <a:off x="7525670" y="4365726"/>
                <a:ext cx="558132" cy="255341"/>
              </a:xfrm>
              <a:prstGeom prst="rect">
                <a:avLst/>
              </a:prstGeom>
              <a:noFill/>
            </p:spPr>
            <p:txBody>
              <a:bodyPr wrap="none" lIns="51396" tIns="25698" rIns="51396" bIns="25698" rtlCol="0" anchor="ctr">
                <a:spAutoFit/>
              </a:bodyPr>
              <a:lstStyle/>
              <a:p>
                <a:pPr marL="0" marR="0" lvl="0" indent="0" algn="l" defTabSz="91411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4848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方正兰亭粗黑简体" panose="02000000000000000000" charset="-122"/>
                  </a:rPr>
                  <a:t>办公业务</a:t>
                </a:r>
                <a:endPara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8484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方正兰亭粗黑简体" panose="02000000000000000000" charset="-122"/>
                </a:endParaRPr>
              </a:p>
            </p:txBody>
          </p:sp>
          <p:pic>
            <p:nvPicPr>
              <p:cNvPr id="310" name="图片 309" descr="上">
                <a:extLst>
                  <a:ext uri="{FF2B5EF4-FFF2-40B4-BE49-F238E27FC236}">
                    <a16:creationId xmlns:a16="http://schemas.microsoft.com/office/drawing/2014/main" id="{9CBAB972-9A45-4A0F-9624-1C6AA8A83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5984617" y="1633718"/>
                <a:ext cx="1998463" cy="591996"/>
              </a:xfrm>
              <a:prstGeom prst="rect">
                <a:avLst/>
              </a:prstGeom>
            </p:spPr>
          </p:pic>
        </p:grpSp>
      </p:grpSp>
      <p:sp>
        <p:nvSpPr>
          <p:cNvPr id="259" name="TextBox 5">
            <a:extLst>
              <a:ext uri="{FF2B5EF4-FFF2-40B4-BE49-F238E27FC236}">
                <a16:creationId xmlns:a16="http://schemas.microsoft.com/office/drawing/2014/main" id="{A266F455-D016-4CC8-9BB2-131F47D8278F}"/>
              </a:ext>
            </a:extLst>
          </p:cNvPr>
          <p:cNvSpPr txBox="1"/>
          <p:nvPr/>
        </p:nvSpPr>
        <p:spPr>
          <a:xfrm>
            <a:off x="7866364" y="3532694"/>
            <a:ext cx="2218409" cy="2845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112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定向或随机送同事</a:t>
            </a:r>
            <a:r>
              <a:rPr kumimoji="1" lang="en-US" altLang="zh-CN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Wingdings" panose="05000000000000000000" pitchFamily="2" charset="2"/>
              </a:rPr>
              <a:t/>
            </a:r>
            <a:r>
              <a:rPr kumimoji="1" lang="en-US" altLang="zh-CN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1" lang="zh-CN" altLang="en-US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1" lang="en-US" altLang="zh-CN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r>
              <a:rPr kumimoji="1" lang="zh-CN" altLang="en-US" sz="1399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/>
            </a:r>
            <a:endParaRPr kumimoji="1" lang="en-US" sz="1399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0" name="梯形 259">
            <a:extLst>
              <a:ext uri="{FF2B5EF4-FFF2-40B4-BE49-F238E27FC236}">
                <a16:creationId xmlns:a16="http://schemas.microsoft.com/office/drawing/2014/main" id="{CFB523C1-F8DF-40F2-944F-FFD000D43CC8}"/>
              </a:ext>
            </a:extLst>
          </p:cNvPr>
          <p:cNvSpPr/>
          <p:nvPr/>
        </p:nvSpPr>
        <p:spPr>
          <a:xfrm>
            <a:off x="702268" y="5961631"/>
            <a:ext cx="5180305" cy="153344"/>
          </a:xfrm>
          <a:prstGeom prst="trapezoid">
            <a:avLst>
              <a:gd name="adj" fmla="val 169425"/>
            </a:avLst>
          </a:prstGeom>
          <a:gradFill>
            <a:gsLst>
              <a:gs pos="100000">
                <a:srgbClr val="666666">
                  <a:lumMod val="60000"/>
                  <a:lumOff val="40000"/>
                  <a:alpha val="20000"/>
                </a:srgbClr>
              </a:gs>
              <a:gs pos="0">
                <a:srgbClr val="666666">
                  <a:lumMod val="60000"/>
                  <a:lumOff val="40000"/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1" name="梯形 260">
            <a:extLst>
              <a:ext uri="{FF2B5EF4-FFF2-40B4-BE49-F238E27FC236}">
                <a16:creationId xmlns:a16="http://schemas.microsoft.com/office/drawing/2014/main" id="{30481321-1BE0-4306-8266-14E95184FE89}"/>
              </a:ext>
            </a:extLst>
          </p:cNvPr>
          <p:cNvSpPr/>
          <p:nvPr/>
        </p:nvSpPr>
        <p:spPr>
          <a:xfrm>
            <a:off x="6328772" y="5933695"/>
            <a:ext cx="5180305" cy="153344"/>
          </a:xfrm>
          <a:prstGeom prst="trapezoid">
            <a:avLst>
              <a:gd name="adj" fmla="val 169425"/>
            </a:avLst>
          </a:prstGeom>
          <a:gradFill>
            <a:gsLst>
              <a:gs pos="100000">
                <a:srgbClr val="666666">
                  <a:lumMod val="60000"/>
                  <a:lumOff val="40000"/>
                  <a:alpha val="20000"/>
                </a:srgbClr>
              </a:gs>
              <a:gs pos="0">
                <a:srgbClr val="666666">
                  <a:lumMod val="60000"/>
                  <a:lumOff val="40000"/>
                  <a:alpha val="0"/>
                </a:srgbClr>
              </a:gs>
            </a:gsLst>
            <a:lin ang="5400000" scaled="0"/>
          </a:gradFill>
          <a:ln w="3175">
            <a:gradFill>
              <a:gsLst>
                <a:gs pos="100000">
                  <a:srgbClr val="666666">
                    <a:lumMod val="60000"/>
                    <a:lumOff val="40000"/>
                    <a:alpha val="30000"/>
                  </a:srgbClr>
                </a:gs>
                <a:gs pos="0">
                  <a:srgbClr val="666666">
                    <a:lumMod val="60000"/>
                    <a:lumOff val="40000"/>
                    <a:alpha val="0"/>
                  </a:srgbClr>
                </a:gs>
              </a:gsLst>
              <a:lin ang="5400000" scaled="0"/>
            </a:gra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62" name="Picture 13" descr="D:\蔡光泽\2017.11\数字化站点\03 设计文件\20180207\5\底盘 拷贝.png">
            <a:extLst>
              <a:ext uri="{FF2B5EF4-FFF2-40B4-BE49-F238E27FC236}">
                <a16:creationId xmlns:a16="http://schemas.microsoft.com/office/drawing/2014/main" id="{67016698-DD07-4E4F-BBAD-F1FE794B5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screen">
            <a:duotone>
              <a:prstClr val="black"/>
              <a:srgbClr val="666666">
                <a:tint val="45000"/>
                <a:satMod val="400000"/>
              </a:srgbClr>
            </a:duotone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21503" y="5110394"/>
            <a:ext cx="1304447" cy="445039"/>
          </a:xfrm>
          <a:prstGeom prst="rect">
            <a:avLst/>
          </a:prstGeom>
          <a:noFill/>
        </p:spPr>
      </p:pic>
      <p:pic>
        <p:nvPicPr>
          <p:cNvPr id="263" name="Picture 13" descr="D:\蔡光泽\2017.11\数字化站点\03 设计文件\20180207\5\底盘 拷贝.png">
            <a:extLst>
              <a:ext uri="{FF2B5EF4-FFF2-40B4-BE49-F238E27FC236}">
                <a16:creationId xmlns:a16="http://schemas.microsoft.com/office/drawing/2014/main" id="{99046B5C-D1FB-41A7-B6D0-E62E02C756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screen">
            <a:duotone>
              <a:prstClr val="black"/>
              <a:srgbClr val="666666">
                <a:tint val="45000"/>
                <a:satMod val="400000"/>
              </a:srgbClr>
            </a:duotone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48399" y="5110394"/>
            <a:ext cx="1304447" cy="445039"/>
          </a:xfrm>
          <a:prstGeom prst="rect">
            <a:avLst/>
          </a:prstGeom>
          <a:noFill/>
        </p:spPr>
      </p:pic>
      <p:pic>
        <p:nvPicPr>
          <p:cNvPr id="264" name="Picture 13" descr="D:\蔡光泽\2017.11\数字化站点\03 设计文件\20180207\5\底盘 拷贝.png">
            <a:extLst>
              <a:ext uri="{FF2B5EF4-FFF2-40B4-BE49-F238E27FC236}">
                <a16:creationId xmlns:a16="http://schemas.microsoft.com/office/drawing/2014/main" id="{63A37219-59DE-413D-BBE0-6BDC4AF36B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 cstate="screen">
            <a:duotone>
              <a:prstClr val="black"/>
              <a:srgbClr val="666666">
                <a:tint val="45000"/>
                <a:satMod val="400000"/>
              </a:srgbClr>
            </a:duotone>
            <a:alphaModFix amt="6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384938" y="5110394"/>
            <a:ext cx="1304447" cy="445039"/>
          </a:xfrm>
          <a:prstGeom prst="rect">
            <a:avLst/>
          </a:prstGeom>
          <a:noFill/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95272629-8FB0-4EBE-8ABC-A54152C279D8}"/>
              </a:ext>
            </a:extLst>
          </p:cNvPr>
          <p:cNvGrpSpPr/>
          <p:nvPr/>
        </p:nvGrpSpPr>
        <p:grpSpPr>
          <a:xfrm>
            <a:off x="1051411" y="4836721"/>
            <a:ext cx="4737408" cy="416918"/>
            <a:chOff x="1051411" y="4836721"/>
            <a:chExt cx="4737408" cy="416918"/>
          </a:xfrm>
        </p:grpSpPr>
        <p:sp>
          <p:nvSpPr>
            <p:cNvPr id="252" name="圆角矩形 14">
              <a:extLst>
                <a:ext uri="{FF2B5EF4-FFF2-40B4-BE49-F238E27FC236}">
                  <a16:creationId xmlns:a16="http://schemas.microsoft.com/office/drawing/2014/main" id="{70961DED-1BD8-47DB-917F-3122DBDC4D14}"/>
                </a:ext>
              </a:extLst>
            </p:cNvPr>
            <p:cNvSpPr/>
            <p:nvPr/>
          </p:nvSpPr>
          <p:spPr>
            <a:xfrm>
              <a:off x="2661229" y="4836721"/>
              <a:ext cx="1478786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网络级节能，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60%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↓</a:t>
              </a:r>
            </a:p>
          </p:txBody>
        </p:sp>
        <p:sp>
          <p:nvSpPr>
            <p:cNvPr id="253" name="圆角矩形 14">
              <a:extLst>
                <a:ext uri="{FF2B5EF4-FFF2-40B4-BE49-F238E27FC236}">
                  <a16:creationId xmlns:a16="http://schemas.microsoft.com/office/drawing/2014/main" id="{5E0884C7-6928-4E03-9F89-F1BCAAF7CCD2}"/>
                </a:ext>
              </a:extLst>
            </p:cNvPr>
            <p:cNvSpPr/>
            <p:nvPr/>
          </p:nvSpPr>
          <p:spPr>
            <a:xfrm>
              <a:off x="4285503" y="4836721"/>
              <a:ext cx="1503316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运营级节能，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30%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↓</a:t>
              </a:r>
            </a:p>
          </p:txBody>
        </p:sp>
        <p:sp>
          <p:nvSpPr>
            <p:cNvPr id="254" name="圆角矩形 14">
              <a:extLst>
                <a:ext uri="{FF2B5EF4-FFF2-40B4-BE49-F238E27FC236}">
                  <a16:creationId xmlns:a16="http://schemas.microsoft.com/office/drawing/2014/main" id="{4B158B8C-14D1-4389-B76E-CFA5311BA3D6}"/>
                </a:ext>
              </a:extLst>
            </p:cNvPr>
            <p:cNvSpPr/>
            <p:nvPr/>
          </p:nvSpPr>
          <p:spPr>
            <a:xfrm>
              <a:off x="1051411" y="4836721"/>
              <a:ext cx="1444630" cy="215444"/>
            </a:xfrm>
            <a:prstGeom prst="rect">
              <a:avLst/>
            </a:prstGeom>
            <a:noFill/>
            <a:ln w="63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设备级节能，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30%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  <a:sym typeface="微软雅黑" panose="020B0503020204020204" pitchFamily="34" charset="-122"/>
                </a:rPr>
                <a:t>↓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endParaRPr>
            </a:p>
          </p:txBody>
        </p:sp>
        <p:sp>
          <p:nvSpPr>
            <p:cNvPr id="265" name="文本框 264">
              <a:extLst>
                <a:ext uri="{FF2B5EF4-FFF2-40B4-BE49-F238E27FC236}">
                  <a16:creationId xmlns:a16="http://schemas.microsoft.com/office/drawing/2014/main" id="{EBB86FD4-7086-4485-91F2-314AA308018E}"/>
                </a:ext>
              </a:extLst>
            </p:cNvPr>
            <p:cNvSpPr txBox="1"/>
            <p:nvPr/>
          </p:nvSpPr>
          <p:spPr>
            <a:xfrm>
              <a:off x="1176608" y="5115140"/>
              <a:ext cx="1194237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智能调频、</a:t>
              </a:r>
              <a:r>
                <a:rPr kumimoji="1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VC</a:t>
              </a: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相变散热</a:t>
              </a:r>
            </a:p>
          </p:txBody>
        </p:sp>
        <p:sp>
          <p:nvSpPr>
            <p:cNvPr id="266" name="文本框 265">
              <a:extLst>
                <a:ext uri="{FF2B5EF4-FFF2-40B4-BE49-F238E27FC236}">
                  <a16:creationId xmlns:a16="http://schemas.microsoft.com/office/drawing/2014/main" id="{85F88E3D-7959-4333-9011-6FAC89BBC6F2}"/>
                </a:ext>
              </a:extLst>
            </p:cNvPr>
            <p:cNvSpPr txBox="1"/>
            <p:nvPr/>
          </p:nvSpPr>
          <p:spPr>
            <a:xfrm>
              <a:off x="2708126" y="5115140"/>
              <a:ext cx="138499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全业务路由器、五合一设计</a:t>
              </a:r>
            </a:p>
          </p:txBody>
        </p:sp>
        <p:sp>
          <p:nvSpPr>
            <p:cNvPr id="267" name="文本框 266">
              <a:extLst>
                <a:ext uri="{FF2B5EF4-FFF2-40B4-BE49-F238E27FC236}">
                  <a16:creationId xmlns:a16="http://schemas.microsoft.com/office/drawing/2014/main" id="{E85859FB-8D3F-48C8-BCCC-484F43BF4705}"/>
                </a:ext>
              </a:extLst>
            </p:cNvPr>
            <p:cNvSpPr txBox="1"/>
            <p:nvPr/>
          </p:nvSpPr>
          <p:spPr>
            <a:xfrm>
              <a:off x="4517788" y="5115140"/>
              <a:ext cx="1038746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能耗可视，一键休眠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C052D6D9-9C00-4B9F-8659-EECF62B0B9B7}"/>
              </a:ext>
            </a:extLst>
          </p:cNvPr>
          <p:cNvGrpSpPr/>
          <p:nvPr/>
        </p:nvGrpSpPr>
        <p:grpSpPr>
          <a:xfrm>
            <a:off x="6582832" y="4790555"/>
            <a:ext cx="4672184" cy="746374"/>
            <a:chOff x="6582832" y="4790555"/>
            <a:chExt cx="4672184" cy="746374"/>
          </a:xfrm>
        </p:grpSpPr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71C1C148-7227-44CA-9B2B-753DA1A471F7}"/>
                </a:ext>
              </a:extLst>
            </p:cNvPr>
            <p:cNvSpPr txBox="1"/>
            <p:nvPr/>
          </p:nvSpPr>
          <p:spPr>
            <a:xfrm>
              <a:off x="6582832" y="4790555"/>
              <a:ext cx="1507318" cy="307777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R="0" lvl="0" indent="0" algn="ctr" defTabSz="1219444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 sz="1000" ker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defRPr>
              </a:lvl1pPr>
            </a:lstStyle>
            <a:p>
              <a:pPr marL="0" marR="0" lvl="0" indent="0" algn="ctr" defTabSz="12194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独家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100K</a:t>
              </a: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级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切片</a:t>
              </a:r>
            </a:p>
          </p:txBody>
        </p:sp>
        <p:sp>
          <p:nvSpPr>
            <p:cNvPr id="269" name="文本框 268">
              <a:extLst>
                <a:ext uri="{FF2B5EF4-FFF2-40B4-BE49-F238E27FC236}">
                  <a16:creationId xmlns:a16="http://schemas.microsoft.com/office/drawing/2014/main" id="{9764EB4C-B0E7-451F-AF11-4F8FB2AC6CE2}"/>
                </a:ext>
              </a:extLst>
            </p:cNvPr>
            <p:cNvSpPr txBox="1"/>
            <p:nvPr/>
          </p:nvSpPr>
          <p:spPr>
            <a:xfrm>
              <a:off x="8173596" y="4790555"/>
              <a:ext cx="1565136" cy="307777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R="0" lvl="0" indent="0" algn="ctr" defTabSz="1219444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 sz="1000" ker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defRPr>
              </a:lvl1pPr>
            </a:lstStyle>
            <a:p>
              <a:pPr marL="0" marR="0" lvl="0" indent="0" algn="ctr" defTabSz="12194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指纹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专利免规划</a:t>
              </a:r>
            </a:p>
          </p:txBody>
        </p:sp>
        <p:sp>
          <p:nvSpPr>
            <p:cNvPr id="270" name="文本框 269">
              <a:extLst>
                <a:ext uri="{FF2B5EF4-FFF2-40B4-BE49-F238E27FC236}">
                  <a16:creationId xmlns:a16="http://schemas.microsoft.com/office/drawing/2014/main" id="{17F56546-C515-451E-AC86-28F674BF0749}"/>
                </a:ext>
              </a:extLst>
            </p:cNvPr>
            <p:cNvSpPr txBox="1"/>
            <p:nvPr/>
          </p:nvSpPr>
          <p:spPr>
            <a:xfrm>
              <a:off x="9861540" y="4790555"/>
              <a:ext cx="1393476" cy="307777"/>
            </a:xfrm>
            <a:prstGeom prst="rect">
              <a:avLst/>
            </a:prstGeom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marR="0" lvl="0" indent="0" algn="ctr" defTabSz="1219444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 sz="1000" kern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defRPr>
              </a:lvl1pPr>
            </a:lstStyle>
            <a:p>
              <a:pPr marL="0" marR="0" lvl="0" indent="0" algn="ctr" defTabSz="12194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独家</a:t>
              </a: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10M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EBEBEB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</a:rPr>
                <a:t>硬隔离</a:t>
              </a:r>
            </a:p>
          </p:txBody>
        </p:sp>
        <p:pic>
          <p:nvPicPr>
            <p:cNvPr id="271" name="Picture 13" descr="D:\蔡光泽\2017.11\数字化站点\03 设计文件\20180207\5\底盘 拷贝.png">
              <a:extLst>
                <a:ext uri="{FF2B5EF4-FFF2-40B4-BE49-F238E27FC236}">
                  <a16:creationId xmlns:a16="http://schemas.microsoft.com/office/drawing/2014/main" id="{09CFFF0F-130F-4696-A274-BC64203CA8C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 cstate="screen">
              <a:duotone>
                <a:prstClr val="black"/>
                <a:srgbClr val="666666">
                  <a:tint val="45000"/>
                  <a:satMod val="400000"/>
                </a:srgbClr>
              </a:duotone>
              <a:alphaModFix amt="6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667690" y="5091890"/>
              <a:ext cx="1304447" cy="445039"/>
            </a:xfrm>
            <a:prstGeom prst="rect">
              <a:avLst/>
            </a:prstGeom>
            <a:noFill/>
          </p:spPr>
        </p:pic>
        <p:pic>
          <p:nvPicPr>
            <p:cNvPr id="272" name="Picture 13" descr="D:\蔡光泽\2017.11\数字化站点\03 设计文件\20180207\5\底盘 拷贝.png">
              <a:extLst>
                <a:ext uri="{FF2B5EF4-FFF2-40B4-BE49-F238E27FC236}">
                  <a16:creationId xmlns:a16="http://schemas.microsoft.com/office/drawing/2014/main" id="{657F97A9-4239-4AD6-A48B-3B196710A6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 cstate="screen">
              <a:duotone>
                <a:prstClr val="black"/>
                <a:srgbClr val="666666">
                  <a:tint val="45000"/>
                  <a:satMod val="400000"/>
                </a:srgbClr>
              </a:duotone>
              <a:alphaModFix amt="6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294586" y="5091890"/>
              <a:ext cx="1304447" cy="445039"/>
            </a:xfrm>
            <a:prstGeom prst="rect">
              <a:avLst/>
            </a:prstGeom>
            <a:noFill/>
          </p:spPr>
        </p:pic>
        <p:pic>
          <p:nvPicPr>
            <p:cNvPr id="273" name="Picture 13" descr="D:\蔡光泽\2017.11\数字化站点\03 设计文件\20180207\5\底盘 拷贝.png">
              <a:extLst>
                <a:ext uri="{FF2B5EF4-FFF2-40B4-BE49-F238E27FC236}">
                  <a16:creationId xmlns:a16="http://schemas.microsoft.com/office/drawing/2014/main" id="{08DD77BA-9320-41F6-9557-AEA1357E21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 cstate="screen">
              <a:duotone>
                <a:prstClr val="black"/>
                <a:srgbClr val="666666">
                  <a:tint val="45000"/>
                  <a:satMod val="400000"/>
                </a:srgbClr>
              </a:duotone>
              <a:alphaModFix amt="6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9931125" y="5091890"/>
              <a:ext cx="1304447" cy="445039"/>
            </a:xfrm>
            <a:prstGeom prst="rect">
              <a:avLst/>
            </a:prstGeom>
            <a:noFill/>
          </p:spPr>
        </p:pic>
        <p:sp>
          <p:nvSpPr>
            <p:cNvPr id="274" name="文本框 273">
              <a:extLst>
                <a:ext uri="{FF2B5EF4-FFF2-40B4-BE49-F238E27FC236}">
                  <a16:creationId xmlns:a16="http://schemas.microsoft.com/office/drawing/2014/main" id="{EDA077B7-C518-4FE3-8D3B-B0D29427CB24}"/>
                </a:ext>
              </a:extLst>
            </p:cNvPr>
            <p:cNvSpPr txBox="1"/>
            <p:nvPr/>
          </p:nvSpPr>
          <p:spPr>
            <a:xfrm>
              <a:off x="7050952" y="5115140"/>
              <a:ext cx="65883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100K vs 128</a:t>
              </a:r>
              <a:endPara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E7E430FB-C33F-4E2C-BD13-29ABFE85EB85}"/>
                </a:ext>
              </a:extLst>
            </p:cNvPr>
            <p:cNvSpPr txBox="1"/>
            <p:nvPr/>
          </p:nvSpPr>
          <p:spPr>
            <a:xfrm>
              <a:off x="8536439" y="5115140"/>
              <a:ext cx="820739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SRv6 Slicing ID</a:t>
              </a:r>
              <a:endPara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76" name="文本框 275">
              <a:extLst>
                <a:ext uri="{FF2B5EF4-FFF2-40B4-BE49-F238E27FC236}">
                  <a16:creationId xmlns:a16="http://schemas.microsoft.com/office/drawing/2014/main" id="{39D9F824-AF1D-4924-ABA9-46723A95EFE8}"/>
                </a:ext>
              </a:extLst>
            </p:cNvPr>
            <p:cNvSpPr txBox="1"/>
            <p:nvPr/>
          </p:nvSpPr>
          <p:spPr>
            <a:xfrm>
              <a:off x="10227940" y="5115140"/>
              <a:ext cx="734175" cy="1384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10Mbps/slice</a:t>
              </a:r>
              <a:endParaRPr kumimoji="1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0E60AB01-CF2A-4ED1-86DC-9D0518E3990B}"/>
              </a:ext>
            </a:extLst>
          </p:cNvPr>
          <p:cNvGrpSpPr/>
          <p:nvPr/>
        </p:nvGrpSpPr>
        <p:grpSpPr>
          <a:xfrm>
            <a:off x="836862" y="2812373"/>
            <a:ext cx="2199138" cy="1792686"/>
            <a:chOff x="876378" y="2357791"/>
            <a:chExt cx="2199138" cy="1792686"/>
          </a:xfrm>
        </p:grpSpPr>
        <p:grpSp>
          <p:nvGrpSpPr>
            <p:cNvPr id="296" name="组合 295">
              <a:extLst>
                <a:ext uri="{FF2B5EF4-FFF2-40B4-BE49-F238E27FC236}">
                  <a16:creationId xmlns:a16="http://schemas.microsoft.com/office/drawing/2014/main" id="{B340A08E-1CC7-4E7B-BC2D-ADEA4C5E5203}"/>
                </a:ext>
              </a:extLst>
            </p:cNvPr>
            <p:cNvGrpSpPr/>
            <p:nvPr/>
          </p:nvGrpSpPr>
          <p:grpSpPr>
            <a:xfrm>
              <a:off x="876378" y="3485752"/>
              <a:ext cx="2199138" cy="664725"/>
              <a:chOff x="2188832" y="1766351"/>
              <a:chExt cx="3532516" cy="664725"/>
            </a:xfrm>
          </p:grpSpPr>
          <p:grpSp>
            <p:nvGrpSpPr>
              <p:cNvPr id="300" name="组合 299">
                <a:extLst>
                  <a:ext uri="{FF2B5EF4-FFF2-40B4-BE49-F238E27FC236}">
                    <a16:creationId xmlns:a16="http://schemas.microsoft.com/office/drawing/2014/main" id="{A4E2B1C3-3035-4349-A139-4526AD66E8F7}"/>
                  </a:ext>
                </a:extLst>
              </p:cNvPr>
              <p:cNvGrpSpPr/>
              <p:nvPr/>
            </p:nvGrpSpPr>
            <p:grpSpPr>
              <a:xfrm>
                <a:off x="2188832" y="1854556"/>
                <a:ext cx="3532516" cy="544123"/>
                <a:chOff x="2188832" y="1911668"/>
                <a:chExt cx="3532516" cy="544123"/>
              </a:xfrm>
            </p:grpSpPr>
            <p:grpSp>
              <p:nvGrpSpPr>
                <p:cNvPr id="302" name="组合 301">
                  <a:extLst>
                    <a:ext uri="{FF2B5EF4-FFF2-40B4-BE49-F238E27FC236}">
                      <a16:creationId xmlns:a16="http://schemas.microsoft.com/office/drawing/2014/main" id="{17E4E4B3-57F4-437F-BEB6-7C88E545ECDF}"/>
                    </a:ext>
                  </a:extLst>
                </p:cNvPr>
                <p:cNvGrpSpPr/>
                <p:nvPr/>
              </p:nvGrpSpPr>
              <p:grpSpPr>
                <a:xfrm>
                  <a:off x="2188832" y="1911668"/>
                  <a:ext cx="3532516" cy="544123"/>
                  <a:chOff x="2188832" y="1911668"/>
                  <a:chExt cx="3532516" cy="544123"/>
                </a:xfrm>
              </p:grpSpPr>
              <p:sp>
                <p:nvSpPr>
                  <p:cNvPr id="304" name="矩形 303">
                    <a:extLst>
                      <a:ext uri="{FF2B5EF4-FFF2-40B4-BE49-F238E27FC236}">
                        <a16:creationId xmlns:a16="http://schemas.microsoft.com/office/drawing/2014/main" id="{F99E49BE-58B2-46DF-B77A-C5F5C79808F2}"/>
                      </a:ext>
                    </a:extLst>
                  </p:cNvPr>
                  <p:cNvSpPr/>
                  <p:nvPr/>
                </p:nvSpPr>
                <p:spPr>
                  <a:xfrm>
                    <a:off x="2188832" y="1911668"/>
                    <a:ext cx="1470801" cy="544123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marL="0" marR="0" lvl="0" indent="0" algn="r" defTabSz="516133" rtl="0" eaLnBrk="1" fontAlgn="ctr" latinLnBrk="0" hangingPunct="1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129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uawei Sans Light" panose="020C0303030203020204" pitchFamily="34" charset="0"/>
                      </a:rPr>
                      <a:t>400GE</a:t>
                    </a:r>
                    <a:r>
                      <a:rPr kumimoji="0" lang="zh-CN" altLang="en-US" sz="1129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uawei Sans Light" panose="020C0303030203020204" pitchFamily="34" charset="0"/>
                      </a:rPr>
                      <a:t>线卡</a:t>
                    </a:r>
                    <a:endParaRPr kumimoji="0" lang="en-US" altLang="zh-CN" sz="1129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Huawei Sans Light" panose="020C0303030203020204" pitchFamily="34" charset="0"/>
                    </a:endParaRPr>
                  </a:p>
                  <a:p>
                    <a:pPr marL="0" marR="0" lvl="0" indent="0" algn="r" defTabSz="516133" rtl="0" eaLnBrk="1" fontAlgn="ctr" latinLnBrk="0" hangingPunct="1">
                      <a:lnSpc>
                        <a:spcPct val="13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129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uawei Sans Light" panose="020C0303030203020204" pitchFamily="34" charset="0"/>
                      </a:rPr>
                      <a:t>端口</a:t>
                    </a:r>
                    <a:endParaRPr kumimoji="0" lang="en-US" altLang="zh-CN" sz="1129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Huawei Sans Light" panose="020C0303030203020204" pitchFamily="34" charset="0"/>
                    </a:endParaRPr>
                  </a:p>
                </p:txBody>
              </p:sp>
              <p:grpSp>
                <p:nvGrpSpPr>
                  <p:cNvPr id="305" name="组合 304">
                    <a:extLst>
                      <a:ext uri="{FF2B5EF4-FFF2-40B4-BE49-F238E27FC236}">
                        <a16:creationId xmlns:a16="http://schemas.microsoft.com/office/drawing/2014/main" id="{4CBABE2F-AF89-4E19-BE3A-975FE83612BB}"/>
                      </a:ext>
                    </a:extLst>
                  </p:cNvPr>
                  <p:cNvGrpSpPr/>
                  <p:nvPr/>
                </p:nvGrpSpPr>
                <p:grpSpPr>
                  <a:xfrm>
                    <a:off x="3576340" y="2044522"/>
                    <a:ext cx="1435607" cy="338842"/>
                    <a:chOff x="6697202" y="1870317"/>
                    <a:chExt cx="987956" cy="218745"/>
                  </a:xfrm>
                </p:grpSpPr>
                <p:sp>
                  <p:nvSpPr>
                    <p:cNvPr id="307" name="矩形 306">
                      <a:extLst>
                        <a:ext uri="{FF2B5EF4-FFF2-40B4-BE49-F238E27FC236}">
                          <a16:creationId xmlns:a16="http://schemas.microsoft.com/office/drawing/2014/main" id="{0C77CC61-8E99-4C9C-917D-08FD8E9202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6998331" y="1709225"/>
                      <a:ext cx="78709" cy="680966"/>
                    </a:xfrm>
                    <a:prstGeom prst="rect">
                      <a:avLst/>
                    </a:prstGeom>
                    <a:gradFill>
                      <a:gsLst>
                        <a:gs pos="0">
                          <a:srgbClr val="1D1D1A">
                            <a:alpha val="30000"/>
                          </a:srgbClr>
                        </a:gs>
                        <a:gs pos="100000">
                          <a:srgbClr val="1D1D1A">
                            <a:alpha val="0"/>
                          </a:srgbClr>
                        </a:gs>
                      </a:gsLst>
                      <a:lin ang="5400000" scaled="0"/>
                    </a:gradFill>
                    <a:ln w="31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103228" tIns="51614" rIns="103228" bIns="51614" numCol="1" spcCol="0" rtlCol="0" fromWordArt="0" anchor="ctr" anchorCtr="0" forceAA="0" compatLnSpc="1">
                      <a:noAutofit/>
                    </a:bodyPr>
                    <a:lstStyle/>
                    <a:p>
                      <a:pPr marL="0" marR="0" lvl="0" indent="0" algn="ctr" defTabSz="5161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032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itchFamily="34" charset="0"/>
                      </a:endParaRPr>
                    </a:p>
                  </p:txBody>
                </p:sp>
                <p:sp>
                  <p:nvSpPr>
                    <p:cNvPr id="308" name="矩形 307">
                      <a:extLst>
                        <a:ext uri="{FF2B5EF4-FFF2-40B4-BE49-F238E27FC236}">
                          <a16:creationId xmlns:a16="http://schemas.microsoft.com/office/drawing/2014/main" id="{0F535D0F-FBDF-4A6F-93E3-5744441A86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7151825" y="1415694"/>
                      <a:ext cx="78709" cy="987956"/>
                    </a:xfrm>
                    <a:prstGeom prst="rect">
                      <a:avLst/>
                    </a:prstGeom>
                    <a:gradFill flip="none" rotWithShape="1">
                      <a:gsLst>
                        <a:gs pos="0">
                          <a:srgbClr val="FF0000">
                            <a:alpha val="0"/>
                          </a:srgbClr>
                        </a:gs>
                        <a:gs pos="88000">
                          <a:srgbClr val="FF0000">
                            <a:alpha val="32000"/>
                          </a:srgbClr>
                        </a:gs>
                      </a:gsLst>
                      <a:lin ang="16200000" scaled="1"/>
                      <a:tileRect/>
                    </a:gradFill>
                    <a:ln w="3175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ot="0" spcFirstLastPara="0" vert="horz" wrap="square" lIns="103228" tIns="51614" rIns="103228" bIns="51614" numCol="1" spcCol="0" rtlCol="0" fromWordArt="0" anchor="ctr" anchorCtr="0" forceAA="0" compatLnSpc="1">
                      <a:noAutofit/>
                    </a:bodyPr>
                    <a:lstStyle/>
                    <a:p>
                      <a:pPr marL="0" marR="0" lvl="0" indent="0" algn="ctr" defTabSz="51613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2032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itchFamily="34" charset="0"/>
                      </a:endParaRPr>
                    </a:p>
                  </p:txBody>
                </p:sp>
              </p:grpSp>
              <p:sp>
                <p:nvSpPr>
                  <p:cNvPr id="306" name="矩形 305">
                    <a:extLst>
                      <a:ext uri="{FF2B5EF4-FFF2-40B4-BE49-F238E27FC236}">
                        <a16:creationId xmlns:a16="http://schemas.microsoft.com/office/drawing/2014/main" id="{DD8760A8-C181-4F3D-9977-91A54FCABF5B}"/>
                      </a:ext>
                    </a:extLst>
                  </p:cNvPr>
                  <p:cNvSpPr/>
                  <p:nvPr/>
                </p:nvSpPr>
                <p:spPr>
                  <a:xfrm>
                    <a:off x="4966378" y="1982372"/>
                    <a:ext cx="754970" cy="246221"/>
                  </a:xfrm>
                  <a:prstGeom prst="rect">
                    <a:avLst/>
                  </a:prstGeom>
                </p:spPr>
                <p:txBody>
                  <a:bodyPr wrap="none" anchor="ctr">
                    <a:spAutoFit/>
                  </a:bodyPr>
                  <a:lstStyle/>
                  <a:p>
                    <a:pPr marL="0" marR="0" lvl="0" indent="0" algn="l" defTabSz="516133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zh-CN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uawei Sans Light" panose="020C0303030203020204" pitchFamily="34" charset="0"/>
                      </a:rPr>
                      <a:t>42</a:t>
                    </a:r>
                    <a:r>
                      <a:rPr kumimoji="0" lang="zh-CN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Huawei Sans Light" panose="020C0303030203020204" pitchFamily="34" charset="0"/>
                      </a:rPr>
                      <a:t>个</a:t>
                    </a:r>
                    <a:endParaRPr kumimoji="0" lang="en-US" altLang="zh-CN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Huawei Sans Light" panose="020C0303030203020204" pitchFamily="34" charset="0"/>
                    </a:endParaRPr>
                  </a:p>
                </p:txBody>
              </p:sp>
            </p:grpSp>
            <p:sp>
              <p:nvSpPr>
                <p:cNvPr id="303" name="矩形 302">
                  <a:extLst>
                    <a:ext uri="{FF2B5EF4-FFF2-40B4-BE49-F238E27FC236}">
                      <a16:creationId xmlns:a16="http://schemas.microsoft.com/office/drawing/2014/main" id="{46A19DA0-1E1B-4F81-B721-DB3CE529D59D}"/>
                    </a:ext>
                  </a:extLst>
                </p:cNvPr>
                <p:cNvSpPr/>
                <p:nvPr/>
              </p:nvSpPr>
              <p:spPr>
                <a:xfrm>
                  <a:off x="4524114" y="2204887"/>
                  <a:ext cx="744670" cy="246221"/>
                </a:xfrm>
                <a:prstGeom prst="rect">
                  <a:avLst/>
                </a:prstGeom>
              </p:spPr>
              <p:txBody>
                <a:bodyPr wrap="none" anchor="ctr">
                  <a:spAutoFit/>
                </a:bodyPr>
                <a:lstStyle/>
                <a:p>
                  <a:pPr marL="0" marR="0" lvl="0" indent="0" algn="l" defTabSz="516133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Huawei Sans Light" panose="020C0303030203020204" pitchFamily="34" charset="0"/>
                    </a:rPr>
                    <a:t>36</a:t>
                  </a:r>
                  <a:r>
                    <a:rPr kumimoji="0" lang="zh-CN" altLang="en-US" sz="10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  <a:cs typeface="Huawei Sans Light" panose="020C0303030203020204" pitchFamily="34" charset="0"/>
                    </a:rPr>
                    <a:t>个</a:t>
                  </a:r>
                  <a:endParaRPr kumimoji="0" lang="en-US" altLang="zh-CN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Huawei Sans Light" panose="020C0303030203020204" pitchFamily="34" charset="0"/>
                  </a:endParaRPr>
                </a:p>
              </p:txBody>
            </p:sp>
          </p:grpSp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E8BEB847-55AA-4616-93F7-9A4AB173357B}"/>
                  </a:ext>
                </a:extLst>
              </p:cNvPr>
              <p:cNvCxnSpPr/>
              <p:nvPr/>
            </p:nvCxnSpPr>
            <p:spPr>
              <a:xfrm>
                <a:off x="3576339" y="1766351"/>
                <a:ext cx="0" cy="664725"/>
              </a:xfrm>
              <a:prstGeom prst="line">
                <a:avLst/>
              </a:prstGeom>
              <a:noFill/>
              <a:ln w="6350" cap="flat" cmpd="sng" algn="ctr">
                <a:gradFill>
                  <a:gsLst>
                    <a:gs pos="0">
                      <a:srgbClr val="C7000A">
                        <a:lumMod val="5000"/>
                        <a:lumOff val="95000"/>
                        <a:alpha val="0"/>
                      </a:srgbClr>
                    </a:gs>
                    <a:gs pos="50000">
                      <a:srgbClr val="1D1D1A"/>
                    </a:gs>
                    <a:gs pos="100000">
                      <a:srgbClr val="1D1D1A"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</p:cxnSp>
        </p:grpSp>
        <p:grpSp>
          <p:nvGrpSpPr>
            <p:cNvPr id="297" name="组合 296">
              <a:extLst>
                <a:ext uri="{FF2B5EF4-FFF2-40B4-BE49-F238E27FC236}">
                  <a16:creationId xmlns:a16="http://schemas.microsoft.com/office/drawing/2014/main" id="{BBC1DD45-941C-4E22-9087-2C080625770F}"/>
                </a:ext>
              </a:extLst>
            </p:cNvPr>
            <p:cNvGrpSpPr/>
            <p:nvPr/>
          </p:nvGrpSpPr>
          <p:grpSpPr>
            <a:xfrm>
              <a:off x="1090927" y="2357791"/>
              <a:ext cx="1449427" cy="1169034"/>
              <a:chOff x="322130" y="2095128"/>
              <a:chExt cx="2387622" cy="1925734"/>
            </a:xfrm>
          </p:grpSpPr>
          <p:sp>
            <p:nvSpPr>
              <p:cNvPr id="298" name="矩形 297">
                <a:extLst>
                  <a:ext uri="{FF2B5EF4-FFF2-40B4-BE49-F238E27FC236}">
                    <a16:creationId xmlns:a16="http://schemas.microsoft.com/office/drawing/2014/main" id="{C6B63E74-9C4D-483E-AE07-E18E23761FA7}"/>
                  </a:ext>
                </a:extLst>
              </p:cNvPr>
              <p:cNvSpPr/>
              <p:nvPr/>
            </p:nvSpPr>
            <p:spPr>
              <a:xfrm>
                <a:off x="322130" y="2848365"/>
                <a:ext cx="1765060" cy="6590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NetEngine 8000</a:t>
                </a:r>
                <a:r>
                  <a:rPr kumimoji="0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r>
                  <a:rPr kumimoji="0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X16</a:t>
                </a:r>
                <a:endParaRPr kumimoji="0" lang="zh-CN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pic>
            <p:nvPicPr>
              <p:cNvPr id="299" name="图片 298">
                <a:extLst>
                  <a:ext uri="{FF2B5EF4-FFF2-40B4-BE49-F238E27FC236}">
                    <a16:creationId xmlns:a16="http://schemas.microsoft.com/office/drawing/2014/main" id="{2BE89D52-C4C7-41ED-9084-F5E3675D0C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61337" y="2095128"/>
                <a:ext cx="648415" cy="1925734"/>
              </a:xfrm>
              <a:prstGeom prst="rect">
                <a:avLst/>
              </a:prstGeom>
            </p:spPr>
          </p:pic>
        </p:grpSp>
      </p:grpSp>
      <p:grpSp>
        <p:nvGrpSpPr>
          <p:cNvPr id="278" name="组合 277">
            <a:extLst>
              <a:ext uri="{FF2B5EF4-FFF2-40B4-BE49-F238E27FC236}">
                <a16:creationId xmlns:a16="http://schemas.microsoft.com/office/drawing/2014/main" id="{7AB76FDB-F4FC-426F-B8DB-FB57B8FF0B39}"/>
              </a:ext>
            </a:extLst>
          </p:cNvPr>
          <p:cNvGrpSpPr/>
          <p:nvPr/>
        </p:nvGrpSpPr>
        <p:grpSpPr>
          <a:xfrm>
            <a:off x="3621503" y="3033090"/>
            <a:ext cx="1879501" cy="1573725"/>
            <a:chOff x="3301843" y="2473100"/>
            <a:chExt cx="1879501" cy="1573725"/>
          </a:xfrm>
        </p:grpSpPr>
        <p:pic>
          <p:nvPicPr>
            <p:cNvPr id="285" name="Picture 13" descr="D:\蔡光泽\2017.11\数字化站点\03 设计文件\20180207\5\底盘 拷贝.png">
              <a:extLst>
                <a:ext uri="{FF2B5EF4-FFF2-40B4-BE49-F238E27FC236}">
                  <a16:creationId xmlns:a16="http://schemas.microsoft.com/office/drawing/2014/main" id="{EE549B07-C84A-4D44-919E-76A16EBF933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 cstate="screen">
              <a:duotone>
                <a:prstClr val="black"/>
                <a:srgbClr val="666666">
                  <a:tint val="45000"/>
                  <a:satMod val="400000"/>
                </a:srgbClr>
              </a:duotone>
              <a:alphaModFix amt="66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3301843" y="2595947"/>
              <a:ext cx="1879501" cy="445039"/>
            </a:xfrm>
            <a:prstGeom prst="rect">
              <a:avLst/>
            </a:prstGeom>
            <a:noFill/>
          </p:spPr>
        </p:pic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7DE4F16E-1D5B-464E-8D4A-57C283E02D98}"/>
                </a:ext>
              </a:extLst>
            </p:cNvPr>
            <p:cNvGrpSpPr/>
            <p:nvPr/>
          </p:nvGrpSpPr>
          <p:grpSpPr>
            <a:xfrm>
              <a:off x="3489634" y="3051853"/>
              <a:ext cx="1544262" cy="994972"/>
              <a:chOff x="3397753" y="3446642"/>
              <a:chExt cx="1544262" cy="791524"/>
            </a:xfrm>
          </p:grpSpPr>
          <p:sp>
            <p:nvSpPr>
              <p:cNvPr id="289" name="圆柱形 288">
                <a:extLst>
                  <a:ext uri="{FF2B5EF4-FFF2-40B4-BE49-F238E27FC236}">
                    <a16:creationId xmlns:a16="http://schemas.microsoft.com/office/drawing/2014/main" id="{9C2914B1-69B3-43D1-885D-AB71D73DE605}"/>
                  </a:ext>
                </a:extLst>
              </p:cNvPr>
              <p:cNvSpPr/>
              <p:nvPr/>
            </p:nvSpPr>
            <p:spPr>
              <a:xfrm>
                <a:off x="4467275" y="3446643"/>
                <a:ext cx="344344" cy="625510"/>
              </a:xfrm>
              <a:prstGeom prst="can">
                <a:avLst/>
              </a:prstGeom>
              <a:solidFill>
                <a:schemeClr val="tx2">
                  <a:lumMod val="75000"/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0" name="圆柱形 289">
                <a:extLst>
                  <a:ext uri="{FF2B5EF4-FFF2-40B4-BE49-F238E27FC236}">
                    <a16:creationId xmlns:a16="http://schemas.microsoft.com/office/drawing/2014/main" id="{DFCFEE16-80F6-4441-A3E9-F0D990D9D300}"/>
                  </a:ext>
                </a:extLst>
              </p:cNvPr>
              <p:cNvSpPr/>
              <p:nvPr/>
            </p:nvSpPr>
            <p:spPr>
              <a:xfrm>
                <a:off x="3505705" y="3446642"/>
                <a:ext cx="344344" cy="634157"/>
              </a:xfrm>
              <a:prstGeom prst="can">
                <a:avLst/>
              </a:prstGeom>
              <a:solidFill>
                <a:schemeClr val="tx2">
                  <a:lumMod val="75000"/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1" name="圆柱形 290">
                <a:extLst>
                  <a:ext uri="{FF2B5EF4-FFF2-40B4-BE49-F238E27FC236}">
                    <a16:creationId xmlns:a16="http://schemas.microsoft.com/office/drawing/2014/main" id="{CFC432A3-6EBC-4F1F-A7B6-F1BA62E84B98}"/>
                  </a:ext>
                </a:extLst>
              </p:cNvPr>
              <p:cNvSpPr/>
              <p:nvPr/>
            </p:nvSpPr>
            <p:spPr>
              <a:xfrm>
                <a:off x="3505705" y="3483842"/>
                <a:ext cx="344344" cy="596957"/>
              </a:xfrm>
              <a:prstGeom prst="can">
                <a:avLst/>
              </a:prstGeom>
              <a:solidFill>
                <a:schemeClr val="accent6">
                  <a:lumMod val="60000"/>
                  <a:lumOff val="40000"/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2" name="圆柱形 291">
                <a:extLst>
                  <a:ext uri="{FF2B5EF4-FFF2-40B4-BE49-F238E27FC236}">
                    <a16:creationId xmlns:a16="http://schemas.microsoft.com/office/drawing/2014/main" id="{1DE12C13-8BFC-4C11-BD47-AFE3FF516071}"/>
                  </a:ext>
                </a:extLst>
              </p:cNvPr>
              <p:cNvSpPr/>
              <p:nvPr/>
            </p:nvSpPr>
            <p:spPr>
              <a:xfrm>
                <a:off x="4467275" y="3740944"/>
                <a:ext cx="344344" cy="339856"/>
              </a:xfrm>
              <a:prstGeom prst="can">
                <a:avLst/>
              </a:prstGeom>
              <a:solidFill>
                <a:schemeClr val="accent6">
                  <a:lumMod val="60000"/>
                  <a:lumOff val="40000"/>
                  <a:alpha val="6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293" name="文本框 292">
                <a:extLst>
                  <a:ext uri="{FF2B5EF4-FFF2-40B4-BE49-F238E27FC236}">
                    <a16:creationId xmlns:a16="http://schemas.microsoft.com/office/drawing/2014/main" id="{C137861C-826A-4752-8AE8-3EF71AB39C06}"/>
                  </a:ext>
                </a:extLst>
              </p:cNvPr>
              <p:cNvSpPr txBox="1"/>
              <p:nvPr/>
            </p:nvSpPr>
            <p:spPr>
              <a:xfrm>
                <a:off x="3397753" y="4115744"/>
                <a:ext cx="556242" cy="122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华为 </a:t>
                </a:r>
                <a:r>
                  <a:rPr kumimoji="1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6%</a:t>
                </a:r>
                <a:r>
                  <a:rPr kumimoji="1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↓</a:t>
                </a:r>
              </a:p>
            </p:txBody>
          </p:sp>
          <p:sp>
            <p:nvSpPr>
              <p:cNvPr id="294" name="文本框 293">
                <a:extLst>
                  <a:ext uri="{FF2B5EF4-FFF2-40B4-BE49-F238E27FC236}">
                    <a16:creationId xmlns:a16="http://schemas.microsoft.com/office/drawing/2014/main" id="{D68459E1-059B-429D-B51F-8D0ADF2F9CDF}"/>
                  </a:ext>
                </a:extLst>
              </p:cNvPr>
              <p:cNvSpPr txBox="1"/>
              <p:nvPr/>
            </p:nvSpPr>
            <p:spPr>
              <a:xfrm>
                <a:off x="4268754" y="4115744"/>
                <a:ext cx="673261" cy="1224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业界 </a:t>
                </a:r>
                <a:r>
                  <a:rPr kumimoji="1" lang="en-US" altLang="zh-CN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60%</a:t>
                </a:r>
                <a:r>
                  <a:rPr kumimoji="1" lang="zh-CN" altLang="en-US" sz="1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↓</a:t>
                </a:r>
              </a:p>
            </p:txBody>
          </p:sp>
          <p:sp>
            <p:nvSpPr>
              <p:cNvPr id="295" name="文本框 294">
                <a:extLst>
                  <a:ext uri="{FF2B5EF4-FFF2-40B4-BE49-F238E27FC236}">
                    <a16:creationId xmlns:a16="http://schemas.microsoft.com/office/drawing/2014/main" id="{AAAAC254-8DDB-41D8-9298-43E6CD8DED3D}"/>
                  </a:ext>
                </a:extLst>
              </p:cNvPr>
              <p:cNvSpPr txBox="1"/>
              <p:nvPr/>
            </p:nvSpPr>
            <p:spPr>
              <a:xfrm>
                <a:off x="4037147" y="3714016"/>
                <a:ext cx="246863" cy="2203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vs</a:t>
                </a:r>
                <a:endPara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284" name="组合 283">
              <a:extLst>
                <a:ext uri="{FF2B5EF4-FFF2-40B4-BE49-F238E27FC236}">
                  <a16:creationId xmlns:a16="http://schemas.microsoft.com/office/drawing/2014/main" id="{819287D8-A17C-4BA1-A0A3-E6967E8B00C1}"/>
                </a:ext>
              </a:extLst>
            </p:cNvPr>
            <p:cNvGrpSpPr/>
            <p:nvPr/>
          </p:nvGrpSpPr>
          <p:grpSpPr>
            <a:xfrm>
              <a:off x="3571012" y="2473100"/>
              <a:ext cx="1400702" cy="317431"/>
              <a:chOff x="3531352" y="3079923"/>
              <a:chExt cx="1400702" cy="317431"/>
            </a:xfrm>
          </p:grpSpPr>
          <p:pic>
            <p:nvPicPr>
              <p:cNvPr id="286" name="图片 285">
                <a:extLst>
                  <a:ext uri="{FF2B5EF4-FFF2-40B4-BE49-F238E27FC236}">
                    <a16:creationId xmlns:a16="http://schemas.microsoft.com/office/drawing/2014/main" id="{06823C1F-9155-4F77-9A41-0BFCC5E80C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1352" y="3097001"/>
                <a:ext cx="300353" cy="300353"/>
              </a:xfrm>
              <a:prstGeom prst="rect">
                <a:avLst/>
              </a:prstGeom>
            </p:spPr>
          </p:pic>
          <p:pic>
            <p:nvPicPr>
              <p:cNvPr id="287" name="图片 286">
                <a:extLst>
                  <a:ext uri="{FF2B5EF4-FFF2-40B4-BE49-F238E27FC236}">
                    <a16:creationId xmlns:a16="http://schemas.microsoft.com/office/drawing/2014/main" id="{5451023A-33C3-46B1-9C11-94DE45F58E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1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4025604" y="3121025"/>
                <a:ext cx="419458" cy="272221"/>
              </a:xfrm>
              <a:prstGeom prst="rect">
                <a:avLst/>
              </a:prstGeom>
            </p:spPr>
          </p:pic>
          <p:pic>
            <p:nvPicPr>
              <p:cNvPr id="288" name="图片 287">
                <a:extLst>
                  <a:ext uri="{FF2B5EF4-FFF2-40B4-BE49-F238E27FC236}">
                    <a16:creationId xmlns:a16="http://schemas.microsoft.com/office/drawing/2014/main" id="{9BA6E56F-00C5-4B28-9858-7882DE0F7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627617" y="3079923"/>
                <a:ext cx="304437" cy="304437"/>
              </a:xfrm>
              <a:prstGeom prst="rect">
                <a:avLst/>
              </a:prstGeom>
            </p:spPr>
          </p:pic>
        </p:grpSp>
      </p:grpSp>
      <p:sp>
        <p:nvSpPr>
          <p:cNvPr id="341" name="矩形 340">
            <a:extLst>
              <a:ext uri="{FF2B5EF4-FFF2-40B4-BE49-F238E27FC236}">
                <a16:creationId xmlns:a16="http://schemas.microsoft.com/office/drawing/2014/main" id="{C8617B3F-78DE-438E-B0AC-EEBEFB9A00D1}"/>
              </a:ext>
            </a:extLst>
          </p:cNvPr>
          <p:cNvSpPr/>
          <p:nvPr/>
        </p:nvSpPr>
        <p:spPr>
          <a:xfrm>
            <a:off x="3310685" y="2700193"/>
            <a:ext cx="25195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</a:rPr>
              <a:t>1. 选择端午电子贺卡</a:t>
            </a:r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77156589-AA4A-448F-9FBD-6A76B8D18572}"/>
              </a:ext>
            </a:extLst>
          </p:cNvPr>
          <p:cNvSpPr/>
          <p:nvPr/>
        </p:nvSpPr>
        <p:spPr>
          <a:xfrm>
            <a:off x="746716" y="1031663"/>
            <a:ext cx="10683284" cy="719773"/>
          </a:xfrm>
          <a:prstGeom prst="ellipse">
            <a:avLst/>
          </a:prstGeom>
          <a:gradFill>
            <a:gsLst>
              <a:gs pos="100000">
                <a:srgbClr val="C2C2C2">
                  <a:alpha val="25000"/>
                </a:srgbClr>
              </a:gs>
              <a:gs pos="39000">
                <a:schemeClr val="bg2">
                  <a:lumMod val="90000"/>
                  <a:alpha val="11000"/>
                </a:schemeClr>
              </a:gs>
              <a:gs pos="0">
                <a:schemeClr val="bg2">
                  <a:lumMod val="90000"/>
                  <a:alpha val="0"/>
                </a:schemeClr>
              </a:gs>
            </a:gsLst>
            <a:lin ang="5400000" scaled="1"/>
          </a:gradFill>
          <a:ln w="9525">
            <a:gradFill flip="none" rotWithShape="1">
              <a:gsLst>
                <a:gs pos="38000">
                  <a:schemeClr val="tx2">
                    <a:alpha val="0"/>
                  </a:schemeClr>
                </a:gs>
                <a:gs pos="68000">
                  <a:schemeClr val="tx2">
                    <a:lumMod val="75000"/>
                  </a:schemeClr>
                </a:gs>
                <a:gs pos="100000">
                  <a:schemeClr val="tx2">
                    <a:lumMod val="75000"/>
                  </a:schemeClr>
                </a:gs>
              </a:gsLst>
              <a:lin ang="54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E699E4D-1A89-4EC3-BCC0-92C2447E91F9}"/>
              </a:ext>
            </a:extLst>
          </p:cNvPr>
          <p:cNvGrpSpPr/>
          <p:nvPr/>
        </p:nvGrpSpPr>
        <p:grpSpPr>
          <a:xfrm>
            <a:off x="1589176" y="1120892"/>
            <a:ext cx="2109919" cy="460800"/>
            <a:chOff x="1703476" y="1120892"/>
            <a:chExt cx="2109919" cy="460800"/>
          </a:xfrm>
        </p:grpSpPr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2AC1727D-BCED-4D3A-BB6A-B930DAEBECE0}"/>
                </a:ext>
              </a:extLst>
            </p:cNvPr>
            <p:cNvSpPr/>
            <p:nvPr/>
          </p:nvSpPr>
          <p:spPr>
            <a:xfrm>
              <a:off x="1703476" y="1120892"/>
              <a:ext cx="460800" cy="460800"/>
            </a:xfrm>
            <a:prstGeom prst="ellipse">
              <a:avLst/>
            </a:prstGeom>
            <a:gradFill flip="none" rotWithShape="1">
              <a:gsLst>
                <a:gs pos="100000">
                  <a:schemeClr val="bg2">
                    <a:alpha val="49000"/>
                  </a:schemeClr>
                </a:gs>
                <a:gs pos="67000">
                  <a:schemeClr val="bg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5300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0" name="矩形 149">
              <a:extLst>
                <a:ext uri="{FF2B5EF4-FFF2-40B4-BE49-F238E27FC236}">
                  <a16:creationId xmlns:a16="http://schemas.microsoft.com/office/drawing/2014/main" id="{0FB7FC0F-03A5-4E5B-8D36-C0C96F177AE1}"/>
                </a:ext>
              </a:extLst>
            </p:cNvPr>
            <p:cNvSpPr/>
            <p:nvPr/>
          </p:nvSpPr>
          <p:spPr>
            <a:xfrm>
              <a:off x="2171599" y="1203973"/>
              <a:ext cx="164179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73747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接入侧</a:t>
              </a: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10Gbps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能力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A659C683-3E38-4771-8DB9-933659337CC0}"/>
              </a:ext>
            </a:extLst>
          </p:cNvPr>
          <p:cNvGrpSpPr/>
          <p:nvPr/>
        </p:nvGrpSpPr>
        <p:grpSpPr>
          <a:xfrm>
            <a:off x="5038174" y="1217898"/>
            <a:ext cx="2116195" cy="460800"/>
            <a:chOff x="5034790" y="1303623"/>
            <a:chExt cx="2116195" cy="460800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74A56004-86BF-498A-BD64-C4FA0BF94413}"/>
                </a:ext>
              </a:extLst>
            </p:cNvPr>
            <p:cNvSpPr/>
            <p:nvPr/>
          </p:nvSpPr>
          <p:spPr>
            <a:xfrm>
              <a:off x="5034790" y="1303623"/>
              <a:ext cx="460800" cy="460800"/>
            </a:xfrm>
            <a:prstGeom prst="ellipse">
              <a:avLst/>
            </a:prstGeom>
            <a:gradFill flip="none" rotWithShape="1">
              <a:gsLst>
                <a:gs pos="100000">
                  <a:schemeClr val="bg2">
                    <a:alpha val="49000"/>
                  </a:schemeClr>
                </a:gs>
                <a:gs pos="67000">
                  <a:schemeClr val="bg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5300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3" name="矩形 152">
              <a:extLst>
                <a:ext uri="{FF2B5EF4-FFF2-40B4-BE49-F238E27FC236}">
                  <a16:creationId xmlns:a16="http://schemas.microsoft.com/office/drawing/2014/main" id="{3128309A-DB83-4036-83F7-69F2D7C25E79}"/>
                </a:ext>
              </a:extLst>
            </p:cNvPr>
            <p:cNvSpPr/>
            <p:nvPr/>
          </p:nvSpPr>
          <p:spPr>
            <a:xfrm>
              <a:off x="5546058" y="1380135"/>
              <a:ext cx="160492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73747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78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国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制定碳中和目标</a:t>
              </a: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pic>
        <p:nvPicPr>
          <p:cNvPr id="156" name="图片 155" descr="Echo 11 Thunderbolt 4 Dock - SONNETTECH">
            <a:extLst>
              <a:ext uri="{FF2B5EF4-FFF2-40B4-BE49-F238E27FC236}">
                <a16:creationId xmlns:a16="http://schemas.microsoft.com/office/drawing/2014/main" id="{C13CB1A2-5625-4F8F-8719-236926859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4712" y="1269870"/>
            <a:ext cx="371888" cy="162843"/>
          </a:xfrm>
          <a:custGeom>
            <a:avLst/>
            <a:gdLst>
              <a:gd name="connsiteX0" fmla="*/ 101600 w 1558925"/>
              <a:gd name="connsiteY0" fmla="*/ 0 h 682625"/>
              <a:gd name="connsiteX1" fmla="*/ 1466850 w 1558925"/>
              <a:gd name="connsiteY1" fmla="*/ 0 h 682625"/>
              <a:gd name="connsiteX2" fmla="*/ 1558925 w 1558925"/>
              <a:gd name="connsiteY2" fmla="*/ 387350 h 682625"/>
              <a:gd name="connsiteX3" fmla="*/ 1558925 w 1558925"/>
              <a:gd name="connsiteY3" fmla="*/ 682625 h 682625"/>
              <a:gd name="connsiteX4" fmla="*/ 0 w 1558925"/>
              <a:gd name="connsiteY4" fmla="*/ 682625 h 68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58925" h="682625">
                <a:moveTo>
                  <a:pt x="101600" y="0"/>
                </a:moveTo>
                <a:lnTo>
                  <a:pt x="1466850" y="0"/>
                </a:lnTo>
                <a:lnTo>
                  <a:pt x="1558925" y="387350"/>
                </a:lnTo>
                <a:lnTo>
                  <a:pt x="1558925" y="682625"/>
                </a:lnTo>
                <a:lnTo>
                  <a:pt x="0" y="68262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图形 156">
            <a:extLst>
              <a:ext uri="{FF2B5EF4-FFF2-40B4-BE49-F238E27FC236}">
                <a16:creationId xmlns:a16="http://schemas.microsoft.com/office/drawing/2014/main" id="{14F78C61-5E03-47BB-B2AB-FFC54667787E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15476" y="1262664"/>
            <a:ext cx="352475" cy="352475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1841569B-8D1D-47FE-9209-5948CA886FC5}"/>
              </a:ext>
            </a:extLst>
          </p:cNvPr>
          <p:cNvGrpSpPr/>
          <p:nvPr/>
        </p:nvGrpSpPr>
        <p:grpSpPr>
          <a:xfrm>
            <a:off x="8336135" y="1120755"/>
            <a:ext cx="2981690" cy="461074"/>
            <a:chOff x="8534255" y="1120755"/>
            <a:chExt cx="2981690" cy="461074"/>
          </a:xfrm>
        </p:grpSpPr>
        <p:sp>
          <p:nvSpPr>
            <p:cNvPr id="154" name="矩形 153">
              <a:extLst>
                <a:ext uri="{FF2B5EF4-FFF2-40B4-BE49-F238E27FC236}">
                  <a16:creationId xmlns:a16="http://schemas.microsoft.com/office/drawing/2014/main" id="{B5497067-5F01-461C-A34F-CD97A22ACC3C}"/>
                </a:ext>
              </a:extLst>
            </p:cNvPr>
            <p:cNvSpPr/>
            <p:nvPr/>
          </p:nvSpPr>
          <p:spPr>
            <a:xfrm>
              <a:off x="8971658" y="1197404"/>
              <a:ext cx="254428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73747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带宽、时延、丢包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等差异化诉求</a:t>
              </a:r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96A41B14-FD35-4D1A-80F0-B5899050B95B}"/>
                </a:ext>
              </a:extLst>
            </p:cNvPr>
            <p:cNvSpPr/>
            <p:nvPr/>
          </p:nvSpPr>
          <p:spPr>
            <a:xfrm>
              <a:off x="8534255" y="1120755"/>
              <a:ext cx="461074" cy="461074"/>
            </a:xfrm>
            <a:prstGeom prst="ellipse">
              <a:avLst/>
            </a:prstGeom>
            <a:gradFill flip="none" rotWithShape="1">
              <a:gsLst>
                <a:gs pos="100000">
                  <a:schemeClr val="bg2">
                    <a:alpha val="49000"/>
                  </a:schemeClr>
                </a:gs>
                <a:gs pos="67000">
                  <a:schemeClr val="bg2">
                    <a:alpha val="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 w="6350">
              <a:gradFill>
                <a:gsLst>
                  <a:gs pos="0">
                    <a:srgbClr val="C00000">
                      <a:alpha val="0"/>
                    </a:srgbClr>
                  </a:gs>
                  <a:gs pos="53000">
                    <a:srgbClr val="C00000"/>
                  </a:gs>
                  <a:gs pos="100000">
                    <a:srgbClr val="C00000">
                      <a:alpha val="0"/>
                    </a:srgb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pic>
          <p:nvPicPr>
            <p:cNvPr id="158" name="Picture 2" descr="Diversify, geometry, likeness, permute, shape, transform icon ...">
              <a:extLst>
                <a:ext uri="{FF2B5EF4-FFF2-40B4-BE49-F238E27FC236}">
                  <a16:creationId xmlns:a16="http://schemas.microsoft.com/office/drawing/2014/main" id="{29D849A7-867E-4035-A44D-B8A75FAE6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3151" y="1209651"/>
              <a:ext cx="283282" cy="2832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8" name="副标题 1">
            <a:extLst>
              <a:ext uri="{FF2B5EF4-FFF2-40B4-BE49-F238E27FC236}">
                <a16:creationId xmlns:a16="http://schemas.microsoft.com/office/drawing/2014/main" id="{735BF231-1B72-4DB9-A2F5-2306167E6E64}"/>
              </a:ext>
            </a:extLst>
          </p:cNvPr>
          <p:cNvSpPr txBox="1">
            <a:spLocks/>
          </p:cNvSpPr>
          <p:nvPr/>
        </p:nvSpPr>
        <p:spPr>
          <a:xfrm>
            <a:off x="634328" y="486075"/>
            <a:ext cx="10821072" cy="48000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96831" indent="-296831" algn="l" defTabSz="1187323" rtl="0" eaLnBrk="1" latinLnBrk="0" hangingPunct="1">
              <a:lnSpc>
                <a:spcPct val="90000"/>
              </a:lnSpc>
              <a:spcBef>
                <a:spcPts val="1298"/>
              </a:spcBef>
              <a:buFont typeface="Arial" panose="020B0604020202020204" pitchFamily="34" charset="0"/>
              <a:buChar char="•"/>
              <a:defRPr sz="36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493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154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7817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1478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5140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58802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2463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6125" indent="-296831" algn="l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zh-CN" altLang="en-US" sz="27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💌 好运"粽"动员，幸福派送中</a:t>
            </a:r>
            <a:r>
              <a:rPr lang="en-US" altLang="zh-CN" sz="27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r>
              <a:rPr lang="zh-CN" altLang="en-US" sz="2799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47101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5">
            <a:extLst>
              <a:ext uri="{FF2B5EF4-FFF2-40B4-BE49-F238E27FC236}">
                <a16:creationId xmlns:a16="http://schemas.microsoft.com/office/drawing/2014/main" id="{B5053AA8-913B-44F0-BF2C-0CD386F2F9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80229" y="4787260"/>
            <a:ext cx="3129203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周密筹备，保障落地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DDDDDD">
                  <a:lumMod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marL="12700" marR="0" lvl="0" indent="0" algn="l" defTabSz="914478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-5" normalizeH="0" baseline="0" noProof="0" dirty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👥 物资组 - 食材物料采购</a:t>
            </a:r>
            <a:endParaRPr kumimoji="0" lang="en-US" altLang="zh-CN" sz="1200" b="0" i="0" u="none" strike="noStrike" kern="1200" cap="none" spc="-5" normalizeH="0" baseline="0" noProof="0" dirty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25" name="Rectangle 18">
            <a:extLst>
              <a:ext uri="{FF2B5EF4-FFF2-40B4-BE49-F238E27FC236}">
                <a16:creationId xmlns:a16="http://schemas.microsoft.com/office/drawing/2014/main" id="{E75B7A9A-B0F6-4647-B53C-410175F414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80229" y="3212620"/>
            <a:ext cx="2608901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7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/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DDDDDD">
                  <a:lumMod val="1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  <a:p>
            <a:pPr marL="12700" marR="0" lvl="0" indent="0" algn="l" defTabSz="914478" rtl="0" eaLnBrk="1" fontAlgn="auto" latinLnBrk="0" hangingPunct="1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-5" normalizeH="0" baseline="0" noProof="0" dirty="0">
                <a:ln>
                  <a:noFill/>
                </a:ln>
                <a:solidFill>
                  <a:srgbClr val="69696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👥 技术组 - 平台稳定运行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69696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0814AFA-08E6-46B4-8FC1-0DC954FCAF0A}"/>
              </a:ext>
            </a:extLst>
          </p:cNvPr>
          <p:cNvGrpSpPr/>
          <p:nvPr/>
        </p:nvGrpSpPr>
        <p:grpSpPr>
          <a:xfrm>
            <a:off x="1042474" y="1467248"/>
            <a:ext cx="964765" cy="965900"/>
            <a:chOff x="1094624" y="1467248"/>
            <a:chExt cx="964765" cy="965900"/>
          </a:xfrm>
        </p:grpSpPr>
        <p:sp>
          <p:nvSpPr>
            <p:cNvPr id="30" name="694220864">
              <a:extLst>
                <a:ext uri="{FF2B5EF4-FFF2-40B4-BE49-F238E27FC236}">
                  <a16:creationId xmlns:a16="http://schemas.microsoft.com/office/drawing/2014/main" id="{538F1646-866E-4618-B811-922434F621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94624" y="1467248"/>
              <a:ext cx="964765" cy="965900"/>
            </a:xfrm>
            <a:prstGeom prst="ellipse">
              <a:avLst/>
            </a:prstGeom>
            <a:gradFill flip="none" rotWithShape="1">
              <a:gsLst>
                <a:gs pos="38000">
                  <a:srgbClr val="FFFFFF"/>
                </a:gs>
                <a:gs pos="100000">
                  <a:srgbClr val="FFFFFF">
                    <a:lumMod val="95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 cap="flat" cmpd="sng" algn="ctr"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80000"/>
                    </a:srgbClr>
                  </a:gs>
                  <a:gs pos="100000">
                    <a:srgbClr val="666666">
                      <a:lumMod val="60000"/>
                      <a:lumOff val="40000"/>
                      <a:alpha val="40000"/>
                    </a:srgbClr>
                  </a:gs>
                </a:gsLst>
                <a:lin ang="0" scaled="0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4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3F18E197-BDF6-40A1-BAAE-DF9A9F6960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6578" y="1688380"/>
              <a:ext cx="438322" cy="523637"/>
            </a:xfrm>
            <a:custGeom>
              <a:avLst/>
              <a:gdLst>
                <a:gd name="T0" fmla="*/ 0 w 545"/>
                <a:gd name="T1" fmla="*/ 2147483646 h 628"/>
                <a:gd name="T2" fmla="*/ 2147483646 w 545"/>
                <a:gd name="T3" fmla="*/ 2147483646 h 628"/>
                <a:gd name="T4" fmla="*/ 2147483646 w 545"/>
                <a:gd name="T5" fmla="*/ 2147483646 h 628"/>
                <a:gd name="T6" fmla="*/ 2147483646 w 545"/>
                <a:gd name="T7" fmla="*/ 2147483646 h 628"/>
                <a:gd name="T8" fmla="*/ 2147483646 w 545"/>
                <a:gd name="T9" fmla="*/ 2147483646 h 628"/>
                <a:gd name="T10" fmla="*/ 2147483646 w 545"/>
                <a:gd name="T11" fmla="*/ 2147483646 h 628"/>
                <a:gd name="T12" fmla="*/ 0 w 545"/>
                <a:gd name="T13" fmla="*/ 2147483646 h 628"/>
                <a:gd name="T14" fmla="*/ 2147483646 w 545"/>
                <a:gd name="T15" fmla="*/ 2147483646 h 628"/>
                <a:gd name="T16" fmla="*/ 2147483646 w 545"/>
                <a:gd name="T17" fmla="*/ 2147483646 h 628"/>
                <a:gd name="T18" fmla="*/ 2147483646 w 545"/>
                <a:gd name="T19" fmla="*/ 2147483646 h 628"/>
                <a:gd name="T20" fmla="*/ 2147483646 w 545"/>
                <a:gd name="T21" fmla="*/ 2147483646 h 628"/>
                <a:gd name="T22" fmla="*/ 2147483646 w 545"/>
                <a:gd name="T23" fmla="*/ 2147483646 h 628"/>
                <a:gd name="T24" fmla="*/ 2147483646 w 545"/>
                <a:gd name="T25" fmla="*/ 2147483646 h 628"/>
                <a:gd name="T26" fmla="*/ 2147483646 w 545"/>
                <a:gd name="T27" fmla="*/ 2147483646 h 628"/>
                <a:gd name="T28" fmla="*/ 2147483646 w 545"/>
                <a:gd name="T29" fmla="*/ 2147483646 h 628"/>
                <a:gd name="T30" fmla="*/ 2147483646 w 545"/>
                <a:gd name="T31" fmla="*/ 2147483646 h 628"/>
                <a:gd name="T32" fmla="*/ 2147483646 w 545"/>
                <a:gd name="T33" fmla="*/ 2147483646 h 628"/>
                <a:gd name="T34" fmla="*/ 2147483646 w 545"/>
                <a:gd name="T35" fmla="*/ 2147483646 h 628"/>
                <a:gd name="T36" fmla="*/ 2147483646 w 545"/>
                <a:gd name="T37" fmla="*/ 2147483646 h 628"/>
                <a:gd name="T38" fmla="*/ 2147483646 w 545"/>
                <a:gd name="T39" fmla="*/ 2147483646 h 628"/>
                <a:gd name="T40" fmla="*/ 2147483646 w 545"/>
                <a:gd name="T41" fmla="*/ 2147483646 h 628"/>
                <a:gd name="T42" fmla="*/ 2147483646 w 545"/>
                <a:gd name="T43" fmla="*/ 2147483646 h 628"/>
                <a:gd name="T44" fmla="*/ 2147483646 w 545"/>
                <a:gd name="T45" fmla="*/ 2147483646 h 628"/>
                <a:gd name="T46" fmla="*/ 2147483646 w 545"/>
                <a:gd name="T47" fmla="*/ 2147483646 h 628"/>
                <a:gd name="T48" fmla="*/ 2147483646 w 545"/>
                <a:gd name="T49" fmla="*/ 2147483646 h 628"/>
                <a:gd name="T50" fmla="*/ 2147483646 w 545"/>
                <a:gd name="T51" fmla="*/ 2147483646 h 628"/>
                <a:gd name="T52" fmla="*/ 2147483646 w 545"/>
                <a:gd name="T53" fmla="*/ 2147483646 h 628"/>
                <a:gd name="T54" fmla="*/ 2147483646 w 545"/>
                <a:gd name="T55" fmla="*/ 2147483646 h 628"/>
                <a:gd name="T56" fmla="*/ 2147483646 w 545"/>
                <a:gd name="T57" fmla="*/ 2147483646 h 628"/>
                <a:gd name="T58" fmla="*/ 2147483646 w 545"/>
                <a:gd name="T59" fmla="*/ 2147483646 h 628"/>
                <a:gd name="T60" fmla="*/ 2147483646 w 545"/>
                <a:gd name="T61" fmla="*/ 2147483646 h 628"/>
                <a:gd name="T62" fmla="*/ 2147483646 w 545"/>
                <a:gd name="T63" fmla="*/ 2147483646 h 628"/>
                <a:gd name="T64" fmla="*/ 2147483646 w 545"/>
                <a:gd name="T65" fmla="*/ 2147483646 h 628"/>
                <a:gd name="T66" fmla="*/ 2147483646 w 545"/>
                <a:gd name="T67" fmla="*/ 2147483646 h 628"/>
                <a:gd name="T68" fmla="*/ 2147483646 w 545"/>
                <a:gd name="T69" fmla="*/ 2147483646 h 628"/>
                <a:gd name="T70" fmla="*/ 2147483646 w 545"/>
                <a:gd name="T71" fmla="*/ 2147483646 h 628"/>
                <a:gd name="T72" fmla="*/ 2147483646 w 545"/>
                <a:gd name="T73" fmla="*/ 2147483646 h 628"/>
                <a:gd name="T74" fmla="*/ 2147483646 w 545"/>
                <a:gd name="T75" fmla="*/ 2147483646 h 628"/>
                <a:gd name="T76" fmla="*/ 2147483646 w 545"/>
                <a:gd name="T77" fmla="*/ 2147483646 h 628"/>
                <a:gd name="T78" fmla="*/ 2147483646 w 545"/>
                <a:gd name="T79" fmla="*/ 2147483646 h 628"/>
                <a:gd name="T80" fmla="*/ 2147483646 w 545"/>
                <a:gd name="T81" fmla="*/ 2147483646 h 6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45"/>
                <a:gd name="T124" fmla="*/ 0 h 628"/>
                <a:gd name="T125" fmla="*/ 545 w 545"/>
                <a:gd name="T126" fmla="*/ 628 h 62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45" h="628">
                  <a:moveTo>
                    <a:pt x="15" y="90"/>
                  </a:moveTo>
                  <a:cubicBezTo>
                    <a:pt x="7" y="90"/>
                    <a:pt x="0" y="84"/>
                    <a:pt x="0" y="76"/>
                  </a:cubicBezTo>
                  <a:cubicBezTo>
                    <a:pt x="0" y="67"/>
                    <a:pt x="7" y="61"/>
                    <a:pt x="15" y="61"/>
                  </a:cubicBezTo>
                  <a:cubicBezTo>
                    <a:pt x="149" y="61"/>
                    <a:pt x="149" y="61"/>
                    <a:pt x="149" y="61"/>
                  </a:cubicBezTo>
                  <a:cubicBezTo>
                    <a:pt x="149" y="20"/>
                    <a:pt x="149" y="20"/>
                    <a:pt x="149" y="20"/>
                  </a:cubicBezTo>
                  <a:cubicBezTo>
                    <a:pt x="149" y="7"/>
                    <a:pt x="165" y="0"/>
                    <a:pt x="174" y="9"/>
                  </a:cubicBezTo>
                  <a:cubicBezTo>
                    <a:pt x="174" y="10"/>
                    <a:pt x="174" y="10"/>
                    <a:pt x="174" y="10"/>
                  </a:cubicBezTo>
                  <a:cubicBezTo>
                    <a:pt x="263" y="98"/>
                    <a:pt x="263" y="98"/>
                    <a:pt x="263" y="98"/>
                  </a:cubicBezTo>
                  <a:cubicBezTo>
                    <a:pt x="269" y="104"/>
                    <a:pt x="269" y="113"/>
                    <a:pt x="263" y="119"/>
                  </a:cubicBezTo>
                  <a:cubicBezTo>
                    <a:pt x="174" y="208"/>
                    <a:pt x="174" y="208"/>
                    <a:pt x="174" y="208"/>
                  </a:cubicBezTo>
                  <a:cubicBezTo>
                    <a:pt x="165" y="217"/>
                    <a:pt x="149" y="210"/>
                    <a:pt x="149" y="197"/>
                  </a:cubicBezTo>
                  <a:cubicBezTo>
                    <a:pt x="149" y="157"/>
                    <a:pt x="149" y="157"/>
                    <a:pt x="149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7" y="157"/>
                    <a:pt x="0" y="150"/>
                    <a:pt x="0" y="142"/>
                  </a:cubicBezTo>
                  <a:cubicBezTo>
                    <a:pt x="0" y="134"/>
                    <a:pt x="7" y="127"/>
                    <a:pt x="15" y="127"/>
                  </a:cubicBezTo>
                  <a:cubicBezTo>
                    <a:pt x="163" y="127"/>
                    <a:pt x="163" y="127"/>
                    <a:pt x="163" y="127"/>
                  </a:cubicBezTo>
                  <a:cubicBezTo>
                    <a:pt x="164" y="127"/>
                    <a:pt x="164" y="127"/>
                    <a:pt x="164" y="127"/>
                  </a:cubicBezTo>
                  <a:cubicBezTo>
                    <a:pt x="172" y="127"/>
                    <a:pt x="179" y="134"/>
                    <a:pt x="179" y="142"/>
                  </a:cubicBezTo>
                  <a:cubicBezTo>
                    <a:pt x="179" y="162"/>
                    <a:pt x="179" y="162"/>
                    <a:pt x="179" y="162"/>
                  </a:cubicBezTo>
                  <a:cubicBezTo>
                    <a:pt x="232" y="109"/>
                    <a:pt x="232" y="109"/>
                    <a:pt x="232" y="109"/>
                  </a:cubicBezTo>
                  <a:cubicBezTo>
                    <a:pt x="179" y="55"/>
                    <a:pt x="179" y="55"/>
                    <a:pt x="179" y="55"/>
                  </a:cubicBezTo>
                  <a:cubicBezTo>
                    <a:pt x="179" y="75"/>
                    <a:pt x="179" y="75"/>
                    <a:pt x="179" y="75"/>
                  </a:cubicBezTo>
                  <a:cubicBezTo>
                    <a:pt x="179" y="76"/>
                    <a:pt x="179" y="76"/>
                    <a:pt x="179" y="76"/>
                  </a:cubicBezTo>
                  <a:cubicBezTo>
                    <a:pt x="179" y="84"/>
                    <a:pt x="172" y="90"/>
                    <a:pt x="164" y="90"/>
                  </a:cubicBezTo>
                  <a:cubicBezTo>
                    <a:pt x="15" y="90"/>
                    <a:pt x="15" y="90"/>
                    <a:pt x="15" y="90"/>
                  </a:cubicBezTo>
                  <a:close/>
                  <a:moveTo>
                    <a:pt x="90" y="283"/>
                  </a:moveTo>
                  <a:cubicBezTo>
                    <a:pt x="90" y="283"/>
                    <a:pt x="90" y="283"/>
                    <a:pt x="90" y="283"/>
                  </a:cubicBezTo>
                  <a:cubicBezTo>
                    <a:pt x="77" y="283"/>
                    <a:pt x="66" y="272"/>
                    <a:pt x="66" y="259"/>
                  </a:cubicBezTo>
                  <a:cubicBezTo>
                    <a:pt x="66" y="245"/>
                    <a:pt x="77" y="234"/>
                    <a:pt x="90" y="234"/>
                  </a:cubicBezTo>
                  <a:cubicBezTo>
                    <a:pt x="346" y="234"/>
                    <a:pt x="346" y="234"/>
                    <a:pt x="346" y="234"/>
                  </a:cubicBezTo>
                  <a:cubicBezTo>
                    <a:pt x="346" y="166"/>
                    <a:pt x="346" y="166"/>
                    <a:pt x="346" y="166"/>
                  </a:cubicBezTo>
                  <a:cubicBezTo>
                    <a:pt x="346" y="153"/>
                    <a:pt x="357" y="142"/>
                    <a:pt x="371" y="142"/>
                  </a:cubicBezTo>
                  <a:cubicBezTo>
                    <a:pt x="377" y="142"/>
                    <a:pt x="383" y="145"/>
                    <a:pt x="388" y="149"/>
                  </a:cubicBezTo>
                  <a:cubicBezTo>
                    <a:pt x="535" y="297"/>
                    <a:pt x="535" y="297"/>
                    <a:pt x="535" y="297"/>
                  </a:cubicBezTo>
                  <a:cubicBezTo>
                    <a:pt x="545" y="306"/>
                    <a:pt x="545" y="322"/>
                    <a:pt x="535" y="331"/>
                  </a:cubicBezTo>
                  <a:cubicBezTo>
                    <a:pt x="535" y="332"/>
                    <a:pt x="535" y="332"/>
                    <a:pt x="535" y="332"/>
                  </a:cubicBezTo>
                  <a:cubicBezTo>
                    <a:pt x="388" y="479"/>
                    <a:pt x="388" y="479"/>
                    <a:pt x="388" y="479"/>
                  </a:cubicBezTo>
                  <a:cubicBezTo>
                    <a:pt x="378" y="489"/>
                    <a:pt x="363" y="489"/>
                    <a:pt x="353" y="479"/>
                  </a:cubicBezTo>
                  <a:cubicBezTo>
                    <a:pt x="349" y="474"/>
                    <a:pt x="346" y="468"/>
                    <a:pt x="346" y="462"/>
                  </a:cubicBezTo>
                  <a:cubicBezTo>
                    <a:pt x="346" y="461"/>
                    <a:pt x="346" y="461"/>
                    <a:pt x="346" y="461"/>
                  </a:cubicBezTo>
                  <a:cubicBezTo>
                    <a:pt x="346" y="394"/>
                    <a:pt x="346" y="394"/>
                    <a:pt x="346" y="394"/>
                  </a:cubicBezTo>
                  <a:cubicBezTo>
                    <a:pt x="90" y="394"/>
                    <a:pt x="90" y="394"/>
                    <a:pt x="90" y="394"/>
                  </a:cubicBezTo>
                  <a:cubicBezTo>
                    <a:pt x="77" y="394"/>
                    <a:pt x="66" y="383"/>
                    <a:pt x="66" y="369"/>
                  </a:cubicBezTo>
                  <a:cubicBezTo>
                    <a:pt x="66" y="356"/>
                    <a:pt x="77" y="345"/>
                    <a:pt x="90" y="345"/>
                  </a:cubicBezTo>
                  <a:cubicBezTo>
                    <a:pt x="370" y="345"/>
                    <a:pt x="370" y="345"/>
                    <a:pt x="370" y="345"/>
                  </a:cubicBezTo>
                  <a:cubicBezTo>
                    <a:pt x="371" y="345"/>
                    <a:pt x="371" y="345"/>
                    <a:pt x="371" y="345"/>
                  </a:cubicBezTo>
                  <a:cubicBezTo>
                    <a:pt x="384" y="345"/>
                    <a:pt x="395" y="356"/>
                    <a:pt x="395" y="369"/>
                  </a:cubicBezTo>
                  <a:cubicBezTo>
                    <a:pt x="395" y="403"/>
                    <a:pt x="395" y="403"/>
                    <a:pt x="395" y="403"/>
                  </a:cubicBezTo>
                  <a:cubicBezTo>
                    <a:pt x="483" y="314"/>
                    <a:pt x="483" y="314"/>
                    <a:pt x="483" y="314"/>
                  </a:cubicBezTo>
                  <a:cubicBezTo>
                    <a:pt x="395" y="226"/>
                    <a:pt x="395" y="226"/>
                    <a:pt x="395" y="226"/>
                  </a:cubicBezTo>
                  <a:cubicBezTo>
                    <a:pt x="395" y="258"/>
                    <a:pt x="395" y="258"/>
                    <a:pt x="395" y="258"/>
                  </a:cubicBezTo>
                  <a:cubicBezTo>
                    <a:pt x="395" y="259"/>
                    <a:pt x="395" y="259"/>
                    <a:pt x="395" y="259"/>
                  </a:cubicBezTo>
                  <a:cubicBezTo>
                    <a:pt x="395" y="272"/>
                    <a:pt x="384" y="283"/>
                    <a:pt x="371" y="283"/>
                  </a:cubicBezTo>
                  <a:cubicBezTo>
                    <a:pt x="90" y="283"/>
                    <a:pt x="90" y="283"/>
                    <a:pt x="90" y="283"/>
                  </a:cubicBezTo>
                  <a:close/>
                  <a:moveTo>
                    <a:pt x="15" y="501"/>
                  </a:moveTo>
                  <a:cubicBezTo>
                    <a:pt x="15" y="501"/>
                    <a:pt x="15" y="501"/>
                    <a:pt x="15" y="501"/>
                  </a:cubicBezTo>
                  <a:cubicBezTo>
                    <a:pt x="7" y="501"/>
                    <a:pt x="0" y="494"/>
                    <a:pt x="0" y="486"/>
                  </a:cubicBezTo>
                  <a:cubicBezTo>
                    <a:pt x="0" y="478"/>
                    <a:pt x="7" y="472"/>
                    <a:pt x="15" y="472"/>
                  </a:cubicBezTo>
                  <a:cubicBezTo>
                    <a:pt x="149" y="472"/>
                    <a:pt x="149" y="472"/>
                    <a:pt x="149" y="472"/>
                  </a:cubicBezTo>
                  <a:cubicBezTo>
                    <a:pt x="149" y="431"/>
                    <a:pt x="149" y="431"/>
                    <a:pt x="149" y="431"/>
                  </a:cubicBezTo>
                  <a:cubicBezTo>
                    <a:pt x="149" y="418"/>
                    <a:pt x="165" y="411"/>
                    <a:pt x="174" y="420"/>
                  </a:cubicBezTo>
                  <a:cubicBezTo>
                    <a:pt x="174" y="421"/>
                    <a:pt x="174" y="421"/>
                    <a:pt x="174" y="421"/>
                  </a:cubicBezTo>
                  <a:cubicBezTo>
                    <a:pt x="263" y="509"/>
                    <a:pt x="263" y="509"/>
                    <a:pt x="263" y="509"/>
                  </a:cubicBezTo>
                  <a:cubicBezTo>
                    <a:pt x="269" y="515"/>
                    <a:pt x="269" y="524"/>
                    <a:pt x="263" y="530"/>
                  </a:cubicBezTo>
                  <a:cubicBezTo>
                    <a:pt x="262" y="531"/>
                    <a:pt x="262" y="531"/>
                    <a:pt x="262" y="531"/>
                  </a:cubicBezTo>
                  <a:cubicBezTo>
                    <a:pt x="174" y="619"/>
                    <a:pt x="174" y="619"/>
                    <a:pt x="174" y="619"/>
                  </a:cubicBezTo>
                  <a:cubicBezTo>
                    <a:pt x="165" y="628"/>
                    <a:pt x="149" y="621"/>
                    <a:pt x="149" y="608"/>
                  </a:cubicBezTo>
                  <a:cubicBezTo>
                    <a:pt x="149" y="608"/>
                    <a:pt x="149" y="608"/>
                    <a:pt x="149" y="608"/>
                  </a:cubicBezTo>
                  <a:cubicBezTo>
                    <a:pt x="149" y="567"/>
                    <a:pt x="149" y="567"/>
                    <a:pt x="149" y="567"/>
                  </a:cubicBezTo>
                  <a:cubicBezTo>
                    <a:pt x="15" y="567"/>
                    <a:pt x="15" y="567"/>
                    <a:pt x="15" y="567"/>
                  </a:cubicBezTo>
                  <a:cubicBezTo>
                    <a:pt x="7" y="567"/>
                    <a:pt x="0" y="561"/>
                    <a:pt x="0" y="553"/>
                  </a:cubicBezTo>
                  <a:cubicBezTo>
                    <a:pt x="0" y="545"/>
                    <a:pt x="7" y="538"/>
                    <a:pt x="15" y="538"/>
                  </a:cubicBezTo>
                  <a:cubicBezTo>
                    <a:pt x="163" y="538"/>
                    <a:pt x="163" y="538"/>
                    <a:pt x="163" y="538"/>
                  </a:cubicBezTo>
                  <a:cubicBezTo>
                    <a:pt x="164" y="538"/>
                    <a:pt x="164" y="538"/>
                    <a:pt x="164" y="538"/>
                  </a:cubicBezTo>
                  <a:cubicBezTo>
                    <a:pt x="172" y="538"/>
                    <a:pt x="179" y="545"/>
                    <a:pt x="179" y="553"/>
                  </a:cubicBezTo>
                  <a:cubicBezTo>
                    <a:pt x="179" y="573"/>
                    <a:pt x="179" y="573"/>
                    <a:pt x="179" y="573"/>
                  </a:cubicBezTo>
                  <a:cubicBezTo>
                    <a:pt x="232" y="520"/>
                    <a:pt x="232" y="520"/>
                    <a:pt x="232" y="520"/>
                  </a:cubicBezTo>
                  <a:cubicBezTo>
                    <a:pt x="179" y="466"/>
                    <a:pt x="179" y="466"/>
                    <a:pt x="179" y="466"/>
                  </a:cubicBezTo>
                  <a:cubicBezTo>
                    <a:pt x="179" y="486"/>
                    <a:pt x="179" y="486"/>
                    <a:pt x="179" y="486"/>
                  </a:cubicBezTo>
                  <a:cubicBezTo>
                    <a:pt x="179" y="486"/>
                    <a:pt x="179" y="486"/>
                    <a:pt x="179" y="486"/>
                  </a:cubicBezTo>
                  <a:cubicBezTo>
                    <a:pt x="179" y="494"/>
                    <a:pt x="172" y="501"/>
                    <a:pt x="164" y="501"/>
                  </a:cubicBezTo>
                  <a:cubicBezTo>
                    <a:pt x="15" y="501"/>
                    <a:pt x="15" y="501"/>
                    <a:pt x="15" y="501"/>
                  </a:cubicBezTo>
                  <a:close/>
                </a:path>
              </a:pathLst>
            </a:custGeom>
            <a:solidFill>
              <a:srgbClr val="C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376A285-4C46-46B1-BA28-789CDC9FAFD6}"/>
              </a:ext>
            </a:extLst>
          </p:cNvPr>
          <p:cNvGrpSpPr/>
          <p:nvPr/>
        </p:nvGrpSpPr>
        <p:grpSpPr>
          <a:xfrm>
            <a:off x="1042474" y="4553991"/>
            <a:ext cx="964765" cy="965900"/>
            <a:chOff x="1111218" y="3017766"/>
            <a:chExt cx="964765" cy="965900"/>
          </a:xfrm>
        </p:grpSpPr>
        <p:sp>
          <p:nvSpPr>
            <p:cNvPr id="28" name="694220864">
              <a:extLst>
                <a:ext uri="{FF2B5EF4-FFF2-40B4-BE49-F238E27FC236}">
                  <a16:creationId xmlns:a16="http://schemas.microsoft.com/office/drawing/2014/main" id="{53B776FF-7BB7-4EBC-8593-FE221DEC1A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11218" y="3017766"/>
              <a:ext cx="964765" cy="965900"/>
            </a:xfrm>
            <a:prstGeom prst="ellipse">
              <a:avLst/>
            </a:prstGeom>
            <a:gradFill flip="none" rotWithShape="1">
              <a:gsLst>
                <a:gs pos="38000">
                  <a:srgbClr val="FFFFFF"/>
                </a:gs>
                <a:gs pos="100000">
                  <a:srgbClr val="FFFFFF">
                    <a:lumMod val="95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 cap="flat" cmpd="sng" algn="ctr"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80000"/>
                    </a:srgbClr>
                  </a:gs>
                  <a:gs pos="100000">
                    <a:srgbClr val="666666">
                      <a:lumMod val="60000"/>
                      <a:lumOff val="40000"/>
                      <a:alpha val="40000"/>
                    </a:srgbClr>
                  </a:gs>
                </a:gsLst>
                <a:lin ang="0" scaled="0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4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 38">
              <a:extLst>
                <a:ext uri="{FF2B5EF4-FFF2-40B4-BE49-F238E27FC236}">
                  <a16:creationId xmlns:a16="http://schemas.microsoft.com/office/drawing/2014/main" id="{BCE829CC-BE1F-4D5D-83A1-8163398798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7681" y="3346431"/>
              <a:ext cx="491839" cy="308572"/>
            </a:xfrm>
            <a:custGeom>
              <a:avLst/>
              <a:gdLst>
                <a:gd name="T0" fmla="*/ 2147483646 w 535"/>
                <a:gd name="T1" fmla="*/ 2147483646 h 380"/>
                <a:gd name="T2" fmla="*/ 2147483646 w 535"/>
                <a:gd name="T3" fmla="*/ 2147483646 h 380"/>
                <a:gd name="T4" fmla="*/ 2147483646 w 535"/>
                <a:gd name="T5" fmla="*/ 2147483646 h 380"/>
                <a:gd name="T6" fmla="*/ 2147483646 w 535"/>
                <a:gd name="T7" fmla="*/ 2147483646 h 380"/>
                <a:gd name="T8" fmla="*/ 2147483646 w 535"/>
                <a:gd name="T9" fmla="*/ 2147483646 h 380"/>
                <a:gd name="T10" fmla="*/ 2147483646 w 535"/>
                <a:gd name="T11" fmla="*/ 2147483646 h 380"/>
                <a:gd name="T12" fmla="*/ 2147483646 w 535"/>
                <a:gd name="T13" fmla="*/ 2147483646 h 380"/>
                <a:gd name="T14" fmla="*/ 2147483646 w 535"/>
                <a:gd name="T15" fmla="*/ 2147483646 h 380"/>
                <a:gd name="T16" fmla="*/ 2147483646 w 535"/>
                <a:gd name="T17" fmla="*/ 2147483646 h 380"/>
                <a:gd name="T18" fmla="*/ 2147483646 w 535"/>
                <a:gd name="T19" fmla="*/ 2147483646 h 380"/>
                <a:gd name="T20" fmla="*/ 2147483646 w 535"/>
                <a:gd name="T21" fmla="*/ 2147483646 h 380"/>
                <a:gd name="T22" fmla="*/ 2147483646 w 535"/>
                <a:gd name="T23" fmla="*/ 2147483646 h 380"/>
                <a:gd name="T24" fmla="*/ 2147483646 w 535"/>
                <a:gd name="T25" fmla="*/ 2147483646 h 380"/>
                <a:gd name="T26" fmla="*/ 2147483646 w 535"/>
                <a:gd name="T27" fmla="*/ 2147483646 h 380"/>
                <a:gd name="T28" fmla="*/ 2147483646 w 535"/>
                <a:gd name="T29" fmla="*/ 2147483646 h 380"/>
                <a:gd name="T30" fmla="*/ 2147483646 w 535"/>
                <a:gd name="T31" fmla="*/ 2147483646 h 380"/>
                <a:gd name="T32" fmla="*/ 0 w 535"/>
                <a:gd name="T33" fmla="*/ 2147483646 h 380"/>
                <a:gd name="T34" fmla="*/ 2147483646 w 535"/>
                <a:gd name="T35" fmla="*/ 2147483646 h 380"/>
                <a:gd name="T36" fmla="*/ 2147483646 w 535"/>
                <a:gd name="T37" fmla="*/ 2147483646 h 380"/>
                <a:gd name="T38" fmla="*/ 2147483646 w 535"/>
                <a:gd name="T39" fmla="*/ 2147483646 h 380"/>
                <a:gd name="T40" fmla="*/ 2147483646 w 535"/>
                <a:gd name="T41" fmla="*/ 2147483646 h 380"/>
                <a:gd name="T42" fmla="*/ 2147483646 w 535"/>
                <a:gd name="T43" fmla="*/ 2147483646 h 380"/>
                <a:gd name="T44" fmla="*/ 2147483646 w 535"/>
                <a:gd name="T45" fmla="*/ 2147483646 h 380"/>
                <a:gd name="T46" fmla="*/ 2147483646 w 535"/>
                <a:gd name="T47" fmla="*/ 2147483646 h 380"/>
                <a:gd name="T48" fmla="*/ 2147483646 w 535"/>
                <a:gd name="T49" fmla="*/ 0 h 380"/>
                <a:gd name="T50" fmla="*/ 2147483646 w 535"/>
                <a:gd name="T51" fmla="*/ 0 h 380"/>
                <a:gd name="T52" fmla="*/ 2147483646 w 535"/>
                <a:gd name="T53" fmla="*/ 0 h 380"/>
                <a:gd name="T54" fmla="*/ 2147483646 w 535"/>
                <a:gd name="T55" fmla="*/ 2147483646 h 380"/>
                <a:gd name="T56" fmla="*/ 2147483646 w 535"/>
                <a:gd name="T57" fmla="*/ 2147483646 h 380"/>
                <a:gd name="T58" fmla="*/ 2147483646 w 535"/>
                <a:gd name="T59" fmla="*/ 2147483646 h 380"/>
                <a:gd name="T60" fmla="*/ 2147483646 w 535"/>
                <a:gd name="T61" fmla="*/ 2147483646 h 380"/>
                <a:gd name="T62" fmla="*/ 2147483646 w 535"/>
                <a:gd name="T63" fmla="*/ 2147483646 h 380"/>
                <a:gd name="T64" fmla="*/ 2147483646 w 535"/>
                <a:gd name="T65" fmla="*/ 2147483646 h 380"/>
                <a:gd name="T66" fmla="*/ 2147483646 w 535"/>
                <a:gd name="T67" fmla="*/ 2147483646 h 380"/>
                <a:gd name="T68" fmla="*/ 2147483646 w 535"/>
                <a:gd name="T69" fmla="*/ 2147483646 h 380"/>
                <a:gd name="T70" fmla="*/ 2147483646 w 535"/>
                <a:gd name="T71" fmla="*/ 2147483646 h 380"/>
                <a:gd name="T72" fmla="*/ 2147483646 w 535"/>
                <a:gd name="T73" fmla="*/ 2147483646 h 380"/>
                <a:gd name="T74" fmla="*/ 2147483646 w 535"/>
                <a:gd name="T75" fmla="*/ 2147483646 h 380"/>
                <a:gd name="T76" fmla="*/ 2147483646 w 535"/>
                <a:gd name="T77" fmla="*/ 2147483646 h 380"/>
                <a:gd name="T78" fmla="*/ 2147483646 w 535"/>
                <a:gd name="T79" fmla="*/ 2147483646 h 380"/>
                <a:gd name="T80" fmla="*/ 2147483646 w 535"/>
                <a:gd name="T81" fmla="*/ 2147483646 h 380"/>
                <a:gd name="T82" fmla="*/ 2147483646 w 535"/>
                <a:gd name="T83" fmla="*/ 2147483646 h 380"/>
                <a:gd name="T84" fmla="*/ 2147483646 w 535"/>
                <a:gd name="T85" fmla="*/ 2147483646 h 380"/>
                <a:gd name="T86" fmla="*/ 2147483646 w 535"/>
                <a:gd name="T87" fmla="*/ 2147483646 h 380"/>
                <a:gd name="T88" fmla="*/ 2147483646 w 535"/>
                <a:gd name="T89" fmla="*/ 2147483646 h 380"/>
                <a:gd name="T90" fmla="*/ 2147483646 w 535"/>
                <a:gd name="T91" fmla="*/ 2147483646 h 380"/>
                <a:gd name="T92" fmla="*/ 2147483646 w 535"/>
                <a:gd name="T93" fmla="*/ 2147483646 h 380"/>
                <a:gd name="T94" fmla="*/ 2147483646 w 535"/>
                <a:gd name="T95" fmla="*/ 2147483646 h 380"/>
                <a:gd name="T96" fmla="*/ 0 w 535"/>
                <a:gd name="T97" fmla="*/ 2147483646 h 380"/>
                <a:gd name="T98" fmla="*/ 0 w 535"/>
                <a:gd name="T99" fmla="*/ 2147483646 h 380"/>
                <a:gd name="T100" fmla="*/ 0 w 535"/>
                <a:gd name="T101" fmla="*/ 2147483646 h 38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535"/>
                <a:gd name="T154" fmla="*/ 0 h 380"/>
                <a:gd name="T155" fmla="*/ 535 w 535"/>
                <a:gd name="T156" fmla="*/ 380 h 38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535" h="380">
                  <a:moveTo>
                    <a:pt x="82" y="132"/>
                  </a:moveTo>
                  <a:cubicBezTo>
                    <a:pt x="82" y="269"/>
                    <a:pt x="82" y="269"/>
                    <a:pt x="82" y="269"/>
                  </a:cubicBezTo>
                  <a:cubicBezTo>
                    <a:pt x="113" y="269"/>
                    <a:pt x="113" y="269"/>
                    <a:pt x="113" y="269"/>
                  </a:cubicBezTo>
                  <a:cubicBezTo>
                    <a:pt x="118" y="269"/>
                    <a:pt x="124" y="272"/>
                    <a:pt x="127" y="276"/>
                  </a:cubicBezTo>
                  <a:cubicBezTo>
                    <a:pt x="190" y="339"/>
                    <a:pt x="190" y="339"/>
                    <a:pt x="190" y="339"/>
                  </a:cubicBezTo>
                  <a:cubicBezTo>
                    <a:pt x="399" y="339"/>
                    <a:pt x="399" y="339"/>
                    <a:pt x="399" y="339"/>
                  </a:cubicBezTo>
                  <a:cubicBezTo>
                    <a:pt x="399" y="311"/>
                    <a:pt x="399" y="311"/>
                    <a:pt x="399" y="311"/>
                  </a:cubicBezTo>
                  <a:cubicBezTo>
                    <a:pt x="399" y="300"/>
                    <a:pt x="409" y="291"/>
                    <a:pt x="420" y="291"/>
                  </a:cubicBezTo>
                  <a:cubicBezTo>
                    <a:pt x="421" y="291"/>
                    <a:pt x="421" y="291"/>
                    <a:pt x="421" y="291"/>
                  </a:cubicBezTo>
                  <a:cubicBezTo>
                    <a:pt x="464" y="291"/>
                    <a:pt x="464" y="291"/>
                    <a:pt x="464" y="291"/>
                  </a:cubicBezTo>
                  <a:cubicBezTo>
                    <a:pt x="476" y="291"/>
                    <a:pt x="485" y="300"/>
                    <a:pt x="485" y="311"/>
                  </a:cubicBezTo>
                  <a:cubicBezTo>
                    <a:pt x="485" y="312"/>
                    <a:pt x="485" y="312"/>
                    <a:pt x="485" y="312"/>
                  </a:cubicBezTo>
                  <a:cubicBezTo>
                    <a:pt x="485" y="339"/>
                    <a:pt x="485" y="339"/>
                    <a:pt x="485" y="339"/>
                  </a:cubicBezTo>
                  <a:cubicBezTo>
                    <a:pt x="494" y="339"/>
                    <a:pt x="494" y="339"/>
                    <a:pt x="494" y="339"/>
                  </a:cubicBezTo>
                  <a:cubicBezTo>
                    <a:pt x="494" y="311"/>
                    <a:pt x="494" y="311"/>
                    <a:pt x="494" y="311"/>
                  </a:cubicBezTo>
                  <a:cubicBezTo>
                    <a:pt x="494" y="175"/>
                    <a:pt x="494" y="175"/>
                    <a:pt x="494" y="175"/>
                  </a:cubicBezTo>
                  <a:cubicBezTo>
                    <a:pt x="494" y="148"/>
                    <a:pt x="494" y="148"/>
                    <a:pt x="494" y="148"/>
                  </a:cubicBezTo>
                  <a:cubicBezTo>
                    <a:pt x="485" y="148"/>
                    <a:pt x="485" y="148"/>
                    <a:pt x="485" y="148"/>
                  </a:cubicBezTo>
                  <a:cubicBezTo>
                    <a:pt x="485" y="175"/>
                    <a:pt x="485" y="175"/>
                    <a:pt x="485" y="175"/>
                  </a:cubicBezTo>
                  <a:cubicBezTo>
                    <a:pt x="485" y="187"/>
                    <a:pt x="476" y="196"/>
                    <a:pt x="464" y="196"/>
                  </a:cubicBezTo>
                  <a:cubicBezTo>
                    <a:pt x="464" y="196"/>
                    <a:pt x="464" y="196"/>
                    <a:pt x="464" y="196"/>
                  </a:cubicBezTo>
                  <a:cubicBezTo>
                    <a:pt x="420" y="196"/>
                    <a:pt x="420" y="196"/>
                    <a:pt x="420" y="196"/>
                  </a:cubicBezTo>
                  <a:cubicBezTo>
                    <a:pt x="409" y="196"/>
                    <a:pt x="399" y="187"/>
                    <a:pt x="399" y="175"/>
                  </a:cubicBezTo>
                  <a:cubicBezTo>
                    <a:pt x="399" y="175"/>
                    <a:pt x="399" y="175"/>
                    <a:pt x="399" y="175"/>
                  </a:cubicBezTo>
                  <a:cubicBezTo>
                    <a:pt x="399" y="148"/>
                    <a:pt x="399" y="148"/>
                    <a:pt x="399" y="148"/>
                  </a:cubicBezTo>
                  <a:cubicBezTo>
                    <a:pt x="363" y="148"/>
                    <a:pt x="363" y="148"/>
                    <a:pt x="363" y="148"/>
                  </a:cubicBezTo>
                  <a:cubicBezTo>
                    <a:pt x="352" y="148"/>
                    <a:pt x="343" y="139"/>
                    <a:pt x="343" y="128"/>
                  </a:cubicBezTo>
                  <a:cubicBezTo>
                    <a:pt x="343" y="127"/>
                    <a:pt x="343" y="127"/>
                    <a:pt x="343" y="127"/>
                  </a:cubicBezTo>
                  <a:cubicBezTo>
                    <a:pt x="343" y="83"/>
                    <a:pt x="343" y="83"/>
                    <a:pt x="343" y="83"/>
                  </a:cubicBezTo>
                  <a:cubicBezTo>
                    <a:pt x="158" y="83"/>
                    <a:pt x="158" y="83"/>
                    <a:pt x="158" y="83"/>
                  </a:cubicBezTo>
                  <a:cubicBezTo>
                    <a:pt x="136" y="122"/>
                    <a:pt x="136" y="122"/>
                    <a:pt x="136" y="122"/>
                  </a:cubicBezTo>
                  <a:cubicBezTo>
                    <a:pt x="132" y="128"/>
                    <a:pt x="125" y="132"/>
                    <a:pt x="118" y="132"/>
                  </a:cubicBezTo>
                  <a:cubicBezTo>
                    <a:pt x="82" y="132"/>
                    <a:pt x="82" y="132"/>
                    <a:pt x="82" y="132"/>
                  </a:cubicBezTo>
                  <a:close/>
                  <a:moveTo>
                    <a:pt x="0" y="112"/>
                  </a:moveTo>
                  <a:cubicBezTo>
                    <a:pt x="0" y="112"/>
                    <a:pt x="0" y="112"/>
                    <a:pt x="0" y="112"/>
                  </a:cubicBezTo>
                  <a:cubicBezTo>
                    <a:pt x="0" y="105"/>
                    <a:pt x="5" y="99"/>
                    <a:pt x="12" y="99"/>
                  </a:cubicBezTo>
                  <a:cubicBezTo>
                    <a:pt x="19" y="99"/>
                    <a:pt x="24" y="105"/>
                    <a:pt x="24" y="112"/>
                  </a:cubicBezTo>
                  <a:cubicBezTo>
                    <a:pt x="24" y="189"/>
                    <a:pt x="24" y="189"/>
                    <a:pt x="24" y="189"/>
                  </a:cubicBezTo>
                  <a:cubicBezTo>
                    <a:pt x="42" y="189"/>
                    <a:pt x="42" y="189"/>
                    <a:pt x="42" y="189"/>
                  </a:cubicBezTo>
                  <a:cubicBezTo>
                    <a:pt x="42" y="112"/>
                    <a:pt x="42" y="112"/>
                    <a:pt x="42" y="112"/>
                  </a:cubicBezTo>
                  <a:cubicBezTo>
                    <a:pt x="42" y="112"/>
                    <a:pt x="42" y="112"/>
                    <a:pt x="42" y="112"/>
                  </a:cubicBezTo>
                  <a:cubicBezTo>
                    <a:pt x="42" y="100"/>
                    <a:pt x="51" y="91"/>
                    <a:pt x="62" y="91"/>
                  </a:cubicBezTo>
                  <a:cubicBezTo>
                    <a:pt x="106" y="91"/>
                    <a:pt x="106" y="91"/>
                    <a:pt x="106" y="91"/>
                  </a:cubicBezTo>
                  <a:cubicBezTo>
                    <a:pt x="128" y="54"/>
                    <a:pt x="128" y="54"/>
                    <a:pt x="128" y="54"/>
                  </a:cubicBezTo>
                  <a:cubicBezTo>
                    <a:pt x="131" y="47"/>
                    <a:pt x="138" y="42"/>
                    <a:pt x="147" y="42"/>
                  </a:cubicBezTo>
                  <a:cubicBezTo>
                    <a:pt x="243" y="42"/>
                    <a:pt x="243" y="42"/>
                    <a:pt x="243" y="42"/>
                  </a:cubicBezTo>
                  <a:cubicBezTo>
                    <a:pt x="243" y="25"/>
                    <a:pt x="243" y="25"/>
                    <a:pt x="243" y="25"/>
                  </a:cubicBezTo>
                  <a:cubicBezTo>
                    <a:pt x="154" y="25"/>
                    <a:pt x="154" y="25"/>
                    <a:pt x="154" y="25"/>
                  </a:cubicBezTo>
                  <a:cubicBezTo>
                    <a:pt x="148" y="25"/>
                    <a:pt x="142" y="19"/>
                    <a:pt x="142" y="12"/>
                  </a:cubicBezTo>
                  <a:cubicBezTo>
                    <a:pt x="142" y="5"/>
                    <a:pt x="148" y="0"/>
                    <a:pt x="154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355" y="0"/>
                    <a:pt x="355" y="0"/>
                    <a:pt x="355" y="0"/>
                  </a:cubicBezTo>
                  <a:cubicBezTo>
                    <a:pt x="362" y="0"/>
                    <a:pt x="367" y="5"/>
                    <a:pt x="367" y="12"/>
                  </a:cubicBezTo>
                  <a:cubicBezTo>
                    <a:pt x="367" y="19"/>
                    <a:pt x="362" y="25"/>
                    <a:pt x="355" y="25"/>
                  </a:cubicBezTo>
                  <a:cubicBezTo>
                    <a:pt x="267" y="25"/>
                    <a:pt x="267" y="25"/>
                    <a:pt x="267" y="25"/>
                  </a:cubicBezTo>
                  <a:cubicBezTo>
                    <a:pt x="267" y="42"/>
                    <a:pt x="267" y="42"/>
                    <a:pt x="267" y="42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75" y="42"/>
                    <a:pt x="384" y="51"/>
                    <a:pt x="384" y="62"/>
                  </a:cubicBezTo>
                  <a:cubicBezTo>
                    <a:pt x="384" y="107"/>
                    <a:pt x="384" y="107"/>
                    <a:pt x="384" y="107"/>
                  </a:cubicBezTo>
                  <a:cubicBezTo>
                    <a:pt x="420" y="107"/>
                    <a:pt x="420" y="107"/>
                    <a:pt x="420" y="107"/>
                  </a:cubicBezTo>
                  <a:cubicBezTo>
                    <a:pt x="420" y="107"/>
                    <a:pt x="420" y="107"/>
                    <a:pt x="420" y="107"/>
                  </a:cubicBezTo>
                  <a:cubicBezTo>
                    <a:pt x="431" y="107"/>
                    <a:pt x="440" y="116"/>
                    <a:pt x="440" y="128"/>
                  </a:cubicBezTo>
                  <a:cubicBezTo>
                    <a:pt x="440" y="155"/>
                    <a:pt x="440" y="155"/>
                    <a:pt x="440" y="155"/>
                  </a:cubicBezTo>
                  <a:cubicBezTo>
                    <a:pt x="444" y="155"/>
                    <a:pt x="444" y="155"/>
                    <a:pt x="444" y="155"/>
                  </a:cubicBezTo>
                  <a:cubicBezTo>
                    <a:pt x="444" y="128"/>
                    <a:pt x="444" y="128"/>
                    <a:pt x="444" y="128"/>
                  </a:cubicBezTo>
                  <a:cubicBezTo>
                    <a:pt x="444" y="128"/>
                    <a:pt x="444" y="128"/>
                    <a:pt x="444" y="128"/>
                  </a:cubicBezTo>
                  <a:cubicBezTo>
                    <a:pt x="444" y="116"/>
                    <a:pt x="453" y="107"/>
                    <a:pt x="464" y="107"/>
                  </a:cubicBezTo>
                  <a:cubicBezTo>
                    <a:pt x="514" y="107"/>
                    <a:pt x="514" y="107"/>
                    <a:pt x="514" y="107"/>
                  </a:cubicBezTo>
                  <a:cubicBezTo>
                    <a:pt x="515" y="107"/>
                    <a:pt x="515" y="107"/>
                    <a:pt x="515" y="107"/>
                  </a:cubicBezTo>
                  <a:cubicBezTo>
                    <a:pt x="526" y="107"/>
                    <a:pt x="535" y="116"/>
                    <a:pt x="535" y="128"/>
                  </a:cubicBezTo>
                  <a:cubicBezTo>
                    <a:pt x="535" y="175"/>
                    <a:pt x="535" y="175"/>
                    <a:pt x="535" y="175"/>
                  </a:cubicBezTo>
                  <a:cubicBezTo>
                    <a:pt x="535" y="311"/>
                    <a:pt x="535" y="311"/>
                    <a:pt x="535" y="311"/>
                  </a:cubicBezTo>
                  <a:cubicBezTo>
                    <a:pt x="535" y="359"/>
                    <a:pt x="535" y="359"/>
                    <a:pt x="535" y="359"/>
                  </a:cubicBezTo>
                  <a:cubicBezTo>
                    <a:pt x="535" y="359"/>
                    <a:pt x="535" y="359"/>
                    <a:pt x="535" y="359"/>
                  </a:cubicBezTo>
                  <a:cubicBezTo>
                    <a:pt x="535" y="370"/>
                    <a:pt x="526" y="380"/>
                    <a:pt x="515" y="380"/>
                  </a:cubicBezTo>
                  <a:cubicBezTo>
                    <a:pt x="465" y="380"/>
                    <a:pt x="465" y="380"/>
                    <a:pt x="465" y="380"/>
                  </a:cubicBezTo>
                  <a:cubicBezTo>
                    <a:pt x="464" y="380"/>
                    <a:pt x="464" y="380"/>
                    <a:pt x="464" y="380"/>
                  </a:cubicBezTo>
                  <a:cubicBezTo>
                    <a:pt x="453" y="380"/>
                    <a:pt x="444" y="370"/>
                    <a:pt x="444" y="359"/>
                  </a:cubicBezTo>
                  <a:cubicBezTo>
                    <a:pt x="444" y="331"/>
                    <a:pt x="444" y="331"/>
                    <a:pt x="444" y="331"/>
                  </a:cubicBezTo>
                  <a:cubicBezTo>
                    <a:pt x="440" y="331"/>
                    <a:pt x="440" y="331"/>
                    <a:pt x="440" y="331"/>
                  </a:cubicBezTo>
                  <a:cubicBezTo>
                    <a:pt x="440" y="359"/>
                    <a:pt x="440" y="359"/>
                    <a:pt x="440" y="359"/>
                  </a:cubicBezTo>
                  <a:cubicBezTo>
                    <a:pt x="440" y="359"/>
                    <a:pt x="440" y="359"/>
                    <a:pt x="440" y="359"/>
                  </a:cubicBezTo>
                  <a:cubicBezTo>
                    <a:pt x="440" y="370"/>
                    <a:pt x="431" y="380"/>
                    <a:pt x="420" y="380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82" y="380"/>
                    <a:pt x="182" y="380"/>
                    <a:pt x="182" y="380"/>
                  </a:cubicBezTo>
                  <a:cubicBezTo>
                    <a:pt x="177" y="380"/>
                    <a:pt x="171" y="378"/>
                    <a:pt x="168" y="374"/>
                  </a:cubicBezTo>
                  <a:cubicBezTo>
                    <a:pt x="105" y="310"/>
                    <a:pt x="105" y="310"/>
                    <a:pt x="105" y="310"/>
                  </a:cubicBezTo>
                  <a:cubicBezTo>
                    <a:pt x="62" y="310"/>
                    <a:pt x="62" y="310"/>
                    <a:pt x="62" y="310"/>
                  </a:cubicBezTo>
                  <a:cubicBezTo>
                    <a:pt x="62" y="310"/>
                    <a:pt x="62" y="310"/>
                    <a:pt x="62" y="310"/>
                  </a:cubicBezTo>
                  <a:cubicBezTo>
                    <a:pt x="51" y="310"/>
                    <a:pt x="42" y="301"/>
                    <a:pt x="42" y="290"/>
                  </a:cubicBezTo>
                  <a:cubicBezTo>
                    <a:pt x="42" y="213"/>
                    <a:pt x="42" y="213"/>
                    <a:pt x="42" y="213"/>
                  </a:cubicBezTo>
                  <a:cubicBezTo>
                    <a:pt x="24" y="213"/>
                    <a:pt x="24" y="213"/>
                    <a:pt x="24" y="213"/>
                  </a:cubicBezTo>
                  <a:cubicBezTo>
                    <a:pt x="24" y="290"/>
                    <a:pt x="24" y="290"/>
                    <a:pt x="24" y="290"/>
                  </a:cubicBezTo>
                  <a:cubicBezTo>
                    <a:pt x="24" y="297"/>
                    <a:pt x="19" y="302"/>
                    <a:pt x="12" y="302"/>
                  </a:cubicBezTo>
                  <a:cubicBezTo>
                    <a:pt x="5" y="302"/>
                    <a:pt x="0" y="297"/>
                    <a:pt x="0" y="290"/>
                  </a:cubicBezTo>
                  <a:cubicBezTo>
                    <a:pt x="0" y="202"/>
                    <a:pt x="0" y="202"/>
                    <a:pt x="0" y="202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200"/>
                    <a:pt x="0" y="200"/>
                    <a:pt x="0" y="200"/>
                  </a:cubicBezTo>
                  <a:cubicBezTo>
                    <a:pt x="0" y="112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C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0C192D5-F5B0-4847-B438-242CE637C4CB}"/>
              </a:ext>
            </a:extLst>
          </p:cNvPr>
          <p:cNvGrpSpPr/>
          <p:nvPr/>
        </p:nvGrpSpPr>
        <p:grpSpPr>
          <a:xfrm>
            <a:off x="1042474" y="3010620"/>
            <a:ext cx="964765" cy="965900"/>
            <a:chOff x="1111218" y="4568284"/>
            <a:chExt cx="964765" cy="965900"/>
          </a:xfrm>
        </p:grpSpPr>
        <p:sp>
          <p:nvSpPr>
            <p:cNvPr id="32" name="694220864">
              <a:extLst>
                <a:ext uri="{FF2B5EF4-FFF2-40B4-BE49-F238E27FC236}">
                  <a16:creationId xmlns:a16="http://schemas.microsoft.com/office/drawing/2014/main" id="{892DA410-D733-408C-A8B5-409855C482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11218" y="4568284"/>
              <a:ext cx="964765" cy="965900"/>
            </a:xfrm>
            <a:prstGeom prst="ellipse">
              <a:avLst/>
            </a:prstGeom>
            <a:gradFill flip="none" rotWithShape="1">
              <a:gsLst>
                <a:gs pos="38000">
                  <a:srgbClr val="FFFFFF"/>
                </a:gs>
                <a:gs pos="100000">
                  <a:srgbClr val="FFFFFF">
                    <a:lumMod val="95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 cap="flat" cmpd="sng" algn="ctr">
              <a:gradFill flip="none" rotWithShape="1">
                <a:gsLst>
                  <a:gs pos="0">
                    <a:srgbClr val="666666">
                      <a:lumMod val="60000"/>
                      <a:lumOff val="40000"/>
                      <a:alpha val="80000"/>
                    </a:srgbClr>
                  </a:gs>
                  <a:gs pos="100000">
                    <a:srgbClr val="666666">
                      <a:lumMod val="60000"/>
                      <a:lumOff val="40000"/>
                      <a:alpha val="40000"/>
                    </a:srgbClr>
                  </a:gs>
                </a:gsLst>
                <a:lin ang="0" scaled="0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4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408136C5-F0CE-4C81-97EE-9237D1A7FC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7376" y="4795825"/>
              <a:ext cx="492451" cy="510819"/>
            </a:xfrm>
            <a:custGeom>
              <a:avLst/>
              <a:gdLst>
                <a:gd name="T0" fmla="*/ 2147483646 w 1198"/>
                <a:gd name="T1" fmla="*/ 2147483646 h 1198"/>
                <a:gd name="T2" fmla="*/ 2147483646 w 1198"/>
                <a:gd name="T3" fmla="*/ 2147483646 h 1198"/>
                <a:gd name="T4" fmla="*/ 2147483646 w 1198"/>
                <a:gd name="T5" fmla="*/ 2147483646 h 1198"/>
                <a:gd name="T6" fmla="*/ 2147483646 w 1198"/>
                <a:gd name="T7" fmla="*/ 2147483646 h 1198"/>
                <a:gd name="T8" fmla="*/ 2147483646 w 1198"/>
                <a:gd name="T9" fmla="*/ 2147483646 h 1198"/>
                <a:gd name="T10" fmla="*/ 2147483646 w 1198"/>
                <a:gd name="T11" fmla="*/ 2147483646 h 1198"/>
                <a:gd name="T12" fmla="*/ 2147483646 w 1198"/>
                <a:gd name="T13" fmla="*/ 2147483646 h 1198"/>
                <a:gd name="T14" fmla="*/ 2147483646 w 1198"/>
                <a:gd name="T15" fmla="*/ 2147483646 h 1198"/>
                <a:gd name="T16" fmla="*/ 2147483646 w 1198"/>
                <a:gd name="T17" fmla="*/ 2147483646 h 1198"/>
                <a:gd name="T18" fmla="*/ 2147483646 w 1198"/>
                <a:gd name="T19" fmla="*/ 2147483646 h 1198"/>
                <a:gd name="T20" fmla="*/ 2147483646 w 1198"/>
                <a:gd name="T21" fmla="*/ 2147483646 h 1198"/>
                <a:gd name="T22" fmla="*/ 2147483646 w 1198"/>
                <a:gd name="T23" fmla="*/ 2147483646 h 1198"/>
                <a:gd name="T24" fmla="*/ 2147483646 w 1198"/>
                <a:gd name="T25" fmla="*/ 2147483646 h 1198"/>
                <a:gd name="T26" fmla="*/ 2147483646 w 1198"/>
                <a:gd name="T27" fmla="*/ 2147483646 h 1198"/>
                <a:gd name="T28" fmla="*/ 2147483646 w 1198"/>
                <a:gd name="T29" fmla="*/ 2147483646 h 1198"/>
                <a:gd name="T30" fmla="*/ 2147483646 w 1198"/>
                <a:gd name="T31" fmla="*/ 2147483646 h 1198"/>
                <a:gd name="T32" fmla="*/ 2147483646 w 1198"/>
                <a:gd name="T33" fmla="*/ 2147483646 h 1198"/>
                <a:gd name="T34" fmla="*/ 2147483646 w 1198"/>
                <a:gd name="T35" fmla="*/ 2147483646 h 1198"/>
                <a:gd name="T36" fmla="*/ 0 w 1198"/>
                <a:gd name="T37" fmla="*/ 2147483646 h 1198"/>
                <a:gd name="T38" fmla="*/ 2147483646 w 1198"/>
                <a:gd name="T39" fmla="*/ 2147483646 h 1198"/>
                <a:gd name="T40" fmla="*/ 2147483646 w 1198"/>
                <a:gd name="T41" fmla="*/ 2147483646 h 1198"/>
                <a:gd name="T42" fmla="*/ 2147483646 w 1198"/>
                <a:gd name="T43" fmla="*/ 2147483646 h 1198"/>
                <a:gd name="T44" fmla="*/ 2147483646 w 1198"/>
                <a:gd name="T45" fmla="*/ 2147483646 h 1198"/>
                <a:gd name="T46" fmla="*/ 2147483646 w 1198"/>
                <a:gd name="T47" fmla="*/ 2147483646 h 1198"/>
                <a:gd name="T48" fmla="*/ 2147483646 w 1198"/>
                <a:gd name="T49" fmla="*/ 2147483646 h 1198"/>
                <a:gd name="T50" fmla="*/ 2147483646 w 1198"/>
                <a:gd name="T51" fmla="*/ 2147483646 h 1198"/>
                <a:gd name="T52" fmla="*/ 2147483646 w 1198"/>
                <a:gd name="T53" fmla="*/ 2147483646 h 1198"/>
                <a:gd name="T54" fmla="*/ 2147483646 w 1198"/>
                <a:gd name="T55" fmla="*/ 2147483646 h 1198"/>
                <a:gd name="T56" fmla="*/ 2147483646 w 1198"/>
                <a:gd name="T57" fmla="*/ 2147483646 h 1198"/>
                <a:gd name="T58" fmla="*/ 2147483646 w 1198"/>
                <a:gd name="T59" fmla="*/ 2147483646 h 1198"/>
                <a:gd name="T60" fmla="*/ 2147483646 w 1198"/>
                <a:gd name="T61" fmla="*/ 2147483646 h 1198"/>
                <a:gd name="T62" fmla="*/ 2147483646 w 1198"/>
                <a:gd name="T63" fmla="*/ 2147483646 h 1198"/>
                <a:gd name="T64" fmla="*/ 2147483646 w 1198"/>
                <a:gd name="T65" fmla="*/ 2147483646 h 1198"/>
                <a:gd name="T66" fmla="*/ 2147483646 w 1198"/>
                <a:gd name="T67" fmla="*/ 2147483646 h 1198"/>
                <a:gd name="T68" fmla="*/ 2147483646 w 1198"/>
                <a:gd name="T69" fmla="*/ 2147483646 h 1198"/>
                <a:gd name="T70" fmla="*/ 2147483646 w 1198"/>
                <a:gd name="T71" fmla="*/ 2147483646 h 1198"/>
                <a:gd name="T72" fmla="*/ 2147483646 w 1198"/>
                <a:gd name="T73" fmla="*/ 2147483646 h 1198"/>
                <a:gd name="T74" fmla="*/ 2147483646 w 1198"/>
                <a:gd name="T75" fmla="*/ 2147483646 h 1198"/>
                <a:gd name="T76" fmla="*/ 2147483646 w 1198"/>
                <a:gd name="T77" fmla="*/ 2147483646 h 1198"/>
                <a:gd name="T78" fmla="*/ 2147483646 w 1198"/>
                <a:gd name="T79" fmla="*/ 2147483646 h 1198"/>
                <a:gd name="T80" fmla="*/ 2147483646 w 1198"/>
                <a:gd name="T81" fmla="*/ 2147483646 h 1198"/>
                <a:gd name="T82" fmla="*/ 2147483646 w 1198"/>
                <a:gd name="T83" fmla="*/ 2147483646 h 1198"/>
                <a:gd name="T84" fmla="*/ 2147483646 w 1198"/>
                <a:gd name="T85" fmla="*/ 2147483646 h 1198"/>
                <a:gd name="T86" fmla="*/ 2147483646 w 1198"/>
                <a:gd name="T87" fmla="*/ 2147483646 h 1198"/>
                <a:gd name="T88" fmla="*/ 2147483646 w 1198"/>
                <a:gd name="T89" fmla="*/ 2147483646 h 1198"/>
                <a:gd name="T90" fmla="*/ 2147483646 w 1198"/>
                <a:gd name="T91" fmla="*/ 2147483646 h 1198"/>
                <a:gd name="T92" fmla="*/ 2147483646 w 1198"/>
                <a:gd name="T93" fmla="*/ 2147483646 h 1198"/>
                <a:gd name="T94" fmla="*/ 2147483646 w 1198"/>
                <a:gd name="T95" fmla="*/ 2147483646 h 1198"/>
                <a:gd name="T96" fmla="*/ 2147483646 w 1198"/>
                <a:gd name="T97" fmla="*/ 2147483646 h 1198"/>
                <a:gd name="T98" fmla="*/ 2147483646 w 1198"/>
                <a:gd name="T99" fmla="*/ 2147483646 h 1198"/>
                <a:gd name="T100" fmla="*/ 2147483646 w 1198"/>
                <a:gd name="T101" fmla="*/ 2147483646 h 1198"/>
                <a:gd name="T102" fmla="*/ 2147483646 w 1198"/>
                <a:gd name="T103" fmla="*/ 2147483646 h 1198"/>
                <a:gd name="T104" fmla="*/ 2147483646 w 1198"/>
                <a:gd name="T105" fmla="*/ 2147483646 h 1198"/>
                <a:gd name="T106" fmla="*/ 2147483646 w 1198"/>
                <a:gd name="T107" fmla="*/ 2147483646 h 119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198"/>
                <a:gd name="T163" fmla="*/ 0 h 1198"/>
                <a:gd name="T164" fmla="*/ 1198 w 1198"/>
                <a:gd name="T165" fmla="*/ 1198 h 1198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198" h="1198">
                  <a:moveTo>
                    <a:pt x="840" y="164"/>
                  </a:moveTo>
                  <a:cubicBezTo>
                    <a:pt x="992" y="11"/>
                    <a:pt x="992" y="11"/>
                    <a:pt x="992" y="11"/>
                  </a:cubicBezTo>
                  <a:cubicBezTo>
                    <a:pt x="1003" y="0"/>
                    <a:pt x="1021" y="0"/>
                    <a:pt x="1031" y="11"/>
                  </a:cubicBezTo>
                  <a:cubicBezTo>
                    <a:pt x="1036" y="15"/>
                    <a:pt x="1038" y="19"/>
                    <a:pt x="1039" y="23"/>
                  </a:cubicBezTo>
                  <a:cubicBezTo>
                    <a:pt x="1039" y="24"/>
                    <a:pt x="1039" y="24"/>
                    <a:pt x="1039" y="24"/>
                  </a:cubicBezTo>
                  <a:cubicBezTo>
                    <a:pt x="1039" y="24"/>
                    <a:pt x="1039" y="24"/>
                    <a:pt x="1039" y="24"/>
                  </a:cubicBezTo>
                  <a:cubicBezTo>
                    <a:pt x="1068" y="130"/>
                    <a:pt x="1068" y="130"/>
                    <a:pt x="1068" y="130"/>
                  </a:cubicBezTo>
                  <a:cubicBezTo>
                    <a:pt x="1174" y="159"/>
                    <a:pt x="1174" y="159"/>
                    <a:pt x="1174" y="159"/>
                  </a:cubicBezTo>
                  <a:cubicBezTo>
                    <a:pt x="1174" y="159"/>
                    <a:pt x="1174" y="159"/>
                    <a:pt x="1174" y="159"/>
                  </a:cubicBezTo>
                  <a:cubicBezTo>
                    <a:pt x="1175" y="159"/>
                    <a:pt x="1175" y="159"/>
                    <a:pt x="1175" y="159"/>
                  </a:cubicBezTo>
                  <a:cubicBezTo>
                    <a:pt x="1179" y="160"/>
                    <a:pt x="1183" y="162"/>
                    <a:pt x="1187" y="166"/>
                  </a:cubicBezTo>
                  <a:cubicBezTo>
                    <a:pt x="1198" y="177"/>
                    <a:pt x="1198" y="195"/>
                    <a:pt x="1187" y="206"/>
                  </a:cubicBezTo>
                  <a:cubicBezTo>
                    <a:pt x="1035" y="358"/>
                    <a:pt x="1035" y="358"/>
                    <a:pt x="1035" y="358"/>
                  </a:cubicBezTo>
                  <a:cubicBezTo>
                    <a:pt x="1027" y="365"/>
                    <a:pt x="1017" y="368"/>
                    <a:pt x="1007" y="366"/>
                  </a:cubicBezTo>
                  <a:cubicBezTo>
                    <a:pt x="922" y="343"/>
                    <a:pt x="922" y="343"/>
                    <a:pt x="922" y="343"/>
                  </a:cubicBezTo>
                  <a:cubicBezTo>
                    <a:pt x="878" y="387"/>
                    <a:pt x="878" y="387"/>
                    <a:pt x="878" y="387"/>
                  </a:cubicBezTo>
                  <a:cubicBezTo>
                    <a:pt x="925" y="448"/>
                    <a:pt x="953" y="526"/>
                    <a:pt x="953" y="610"/>
                  </a:cubicBezTo>
                  <a:cubicBezTo>
                    <a:pt x="953" y="710"/>
                    <a:pt x="913" y="802"/>
                    <a:pt x="846" y="868"/>
                  </a:cubicBezTo>
                  <a:cubicBezTo>
                    <a:pt x="845" y="869"/>
                    <a:pt x="845" y="869"/>
                    <a:pt x="845" y="869"/>
                  </a:cubicBezTo>
                  <a:cubicBezTo>
                    <a:pt x="779" y="935"/>
                    <a:pt x="688" y="976"/>
                    <a:pt x="588" y="976"/>
                  </a:cubicBezTo>
                  <a:cubicBezTo>
                    <a:pt x="488" y="976"/>
                    <a:pt x="396" y="935"/>
                    <a:pt x="330" y="868"/>
                  </a:cubicBezTo>
                  <a:cubicBezTo>
                    <a:pt x="264" y="802"/>
                    <a:pt x="223" y="710"/>
                    <a:pt x="223" y="610"/>
                  </a:cubicBezTo>
                  <a:cubicBezTo>
                    <a:pt x="223" y="509"/>
                    <a:pt x="264" y="418"/>
                    <a:pt x="330" y="352"/>
                  </a:cubicBezTo>
                  <a:cubicBezTo>
                    <a:pt x="396" y="286"/>
                    <a:pt x="488" y="245"/>
                    <a:pt x="588" y="245"/>
                  </a:cubicBezTo>
                  <a:cubicBezTo>
                    <a:pt x="672" y="245"/>
                    <a:pt x="750" y="273"/>
                    <a:pt x="811" y="321"/>
                  </a:cubicBezTo>
                  <a:cubicBezTo>
                    <a:pt x="855" y="277"/>
                    <a:pt x="855" y="277"/>
                    <a:pt x="855" y="277"/>
                  </a:cubicBezTo>
                  <a:cubicBezTo>
                    <a:pt x="832" y="191"/>
                    <a:pt x="832" y="191"/>
                    <a:pt x="832" y="191"/>
                  </a:cubicBezTo>
                  <a:cubicBezTo>
                    <a:pt x="829" y="181"/>
                    <a:pt x="833" y="171"/>
                    <a:pt x="840" y="164"/>
                  </a:cubicBezTo>
                  <a:close/>
                  <a:moveTo>
                    <a:pt x="1062" y="467"/>
                  </a:moveTo>
                  <a:cubicBezTo>
                    <a:pt x="1062" y="467"/>
                    <a:pt x="1062" y="467"/>
                    <a:pt x="1062" y="467"/>
                  </a:cubicBezTo>
                  <a:cubicBezTo>
                    <a:pt x="1054" y="441"/>
                    <a:pt x="1068" y="415"/>
                    <a:pt x="1093" y="408"/>
                  </a:cubicBezTo>
                  <a:cubicBezTo>
                    <a:pt x="1117" y="401"/>
                    <a:pt x="1143" y="415"/>
                    <a:pt x="1151" y="439"/>
                  </a:cubicBezTo>
                  <a:cubicBezTo>
                    <a:pt x="1159" y="467"/>
                    <a:pt x="1166" y="494"/>
                    <a:pt x="1170" y="523"/>
                  </a:cubicBezTo>
                  <a:cubicBezTo>
                    <a:pt x="1174" y="551"/>
                    <a:pt x="1176" y="581"/>
                    <a:pt x="1176" y="610"/>
                  </a:cubicBezTo>
                  <a:cubicBezTo>
                    <a:pt x="1176" y="772"/>
                    <a:pt x="1110" y="919"/>
                    <a:pt x="1004" y="1025"/>
                  </a:cubicBezTo>
                  <a:cubicBezTo>
                    <a:pt x="898" y="1131"/>
                    <a:pt x="751" y="1198"/>
                    <a:pt x="588" y="1198"/>
                  </a:cubicBezTo>
                  <a:cubicBezTo>
                    <a:pt x="426" y="1198"/>
                    <a:pt x="279" y="1131"/>
                    <a:pt x="173" y="1025"/>
                  </a:cubicBezTo>
                  <a:cubicBezTo>
                    <a:pt x="67" y="919"/>
                    <a:pt x="0" y="772"/>
                    <a:pt x="0" y="610"/>
                  </a:cubicBezTo>
                  <a:cubicBezTo>
                    <a:pt x="0" y="448"/>
                    <a:pt x="67" y="301"/>
                    <a:pt x="173" y="194"/>
                  </a:cubicBezTo>
                  <a:cubicBezTo>
                    <a:pt x="279" y="88"/>
                    <a:pt x="426" y="22"/>
                    <a:pt x="588" y="22"/>
                  </a:cubicBezTo>
                  <a:cubicBezTo>
                    <a:pt x="617" y="22"/>
                    <a:pt x="646" y="24"/>
                    <a:pt x="675" y="29"/>
                  </a:cubicBezTo>
                  <a:cubicBezTo>
                    <a:pt x="704" y="33"/>
                    <a:pt x="732" y="39"/>
                    <a:pt x="759" y="47"/>
                  </a:cubicBezTo>
                  <a:cubicBezTo>
                    <a:pt x="784" y="54"/>
                    <a:pt x="797" y="81"/>
                    <a:pt x="790" y="105"/>
                  </a:cubicBezTo>
                  <a:cubicBezTo>
                    <a:pt x="783" y="130"/>
                    <a:pt x="757" y="144"/>
                    <a:pt x="732" y="136"/>
                  </a:cubicBezTo>
                  <a:cubicBezTo>
                    <a:pt x="709" y="129"/>
                    <a:pt x="685" y="124"/>
                    <a:pt x="661" y="121"/>
                  </a:cubicBezTo>
                  <a:cubicBezTo>
                    <a:pt x="638" y="117"/>
                    <a:pt x="614" y="115"/>
                    <a:pt x="588" y="115"/>
                  </a:cubicBezTo>
                  <a:cubicBezTo>
                    <a:pt x="452" y="115"/>
                    <a:pt x="328" y="171"/>
                    <a:pt x="239" y="261"/>
                  </a:cubicBezTo>
                  <a:cubicBezTo>
                    <a:pt x="149" y="350"/>
                    <a:pt x="94" y="473"/>
                    <a:pt x="94" y="610"/>
                  </a:cubicBezTo>
                  <a:cubicBezTo>
                    <a:pt x="94" y="746"/>
                    <a:pt x="149" y="870"/>
                    <a:pt x="239" y="960"/>
                  </a:cubicBezTo>
                  <a:cubicBezTo>
                    <a:pt x="328" y="1049"/>
                    <a:pt x="452" y="1105"/>
                    <a:pt x="588" y="1105"/>
                  </a:cubicBezTo>
                  <a:cubicBezTo>
                    <a:pt x="725" y="1105"/>
                    <a:pt x="849" y="1049"/>
                    <a:pt x="938" y="960"/>
                  </a:cubicBezTo>
                  <a:cubicBezTo>
                    <a:pt x="1027" y="870"/>
                    <a:pt x="1083" y="746"/>
                    <a:pt x="1083" y="610"/>
                  </a:cubicBezTo>
                  <a:cubicBezTo>
                    <a:pt x="1083" y="585"/>
                    <a:pt x="1081" y="560"/>
                    <a:pt x="1078" y="537"/>
                  </a:cubicBezTo>
                  <a:cubicBezTo>
                    <a:pt x="1074" y="513"/>
                    <a:pt x="1069" y="490"/>
                    <a:pt x="1062" y="467"/>
                  </a:cubicBezTo>
                  <a:close/>
                  <a:moveTo>
                    <a:pt x="588" y="442"/>
                  </a:moveTo>
                  <a:cubicBezTo>
                    <a:pt x="588" y="442"/>
                    <a:pt x="588" y="442"/>
                    <a:pt x="588" y="442"/>
                  </a:cubicBezTo>
                  <a:cubicBezTo>
                    <a:pt x="618" y="442"/>
                    <a:pt x="645" y="449"/>
                    <a:pt x="670" y="463"/>
                  </a:cubicBezTo>
                  <a:cubicBezTo>
                    <a:pt x="772" y="360"/>
                    <a:pt x="772" y="360"/>
                    <a:pt x="772" y="360"/>
                  </a:cubicBezTo>
                  <a:cubicBezTo>
                    <a:pt x="720" y="323"/>
                    <a:pt x="657" y="301"/>
                    <a:pt x="588" y="301"/>
                  </a:cubicBezTo>
                  <a:cubicBezTo>
                    <a:pt x="503" y="301"/>
                    <a:pt x="426" y="335"/>
                    <a:pt x="370" y="391"/>
                  </a:cubicBezTo>
                  <a:cubicBezTo>
                    <a:pt x="370" y="391"/>
                    <a:pt x="370" y="391"/>
                    <a:pt x="370" y="391"/>
                  </a:cubicBezTo>
                  <a:cubicBezTo>
                    <a:pt x="370" y="391"/>
                    <a:pt x="370" y="391"/>
                    <a:pt x="370" y="391"/>
                  </a:cubicBezTo>
                  <a:cubicBezTo>
                    <a:pt x="314" y="447"/>
                    <a:pt x="279" y="525"/>
                    <a:pt x="279" y="610"/>
                  </a:cubicBezTo>
                  <a:cubicBezTo>
                    <a:pt x="279" y="695"/>
                    <a:pt x="314" y="773"/>
                    <a:pt x="370" y="828"/>
                  </a:cubicBezTo>
                  <a:cubicBezTo>
                    <a:pt x="426" y="885"/>
                    <a:pt x="503" y="919"/>
                    <a:pt x="588" y="919"/>
                  </a:cubicBezTo>
                  <a:cubicBezTo>
                    <a:pt x="673" y="919"/>
                    <a:pt x="750" y="885"/>
                    <a:pt x="806" y="830"/>
                  </a:cubicBezTo>
                  <a:cubicBezTo>
                    <a:pt x="807" y="828"/>
                    <a:pt x="807" y="828"/>
                    <a:pt x="807" y="828"/>
                  </a:cubicBezTo>
                  <a:cubicBezTo>
                    <a:pt x="863" y="773"/>
                    <a:pt x="898" y="695"/>
                    <a:pt x="898" y="610"/>
                  </a:cubicBezTo>
                  <a:cubicBezTo>
                    <a:pt x="898" y="541"/>
                    <a:pt x="876" y="477"/>
                    <a:pt x="838" y="427"/>
                  </a:cubicBezTo>
                  <a:cubicBezTo>
                    <a:pt x="735" y="528"/>
                    <a:pt x="735" y="528"/>
                    <a:pt x="735" y="528"/>
                  </a:cubicBezTo>
                  <a:cubicBezTo>
                    <a:pt x="749" y="553"/>
                    <a:pt x="757" y="580"/>
                    <a:pt x="757" y="610"/>
                  </a:cubicBezTo>
                  <a:cubicBezTo>
                    <a:pt x="757" y="656"/>
                    <a:pt x="737" y="698"/>
                    <a:pt x="707" y="729"/>
                  </a:cubicBezTo>
                  <a:cubicBezTo>
                    <a:pt x="707" y="729"/>
                    <a:pt x="707" y="729"/>
                    <a:pt x="707" y="729"/>
                  </a:cubicBezTo>
                  <a:cubicBezTo>
                    <a:pt x="676" y="758"/>
                    <a:pt x="635" y="778"/>
                    <a:pt x="588" y="778"/>
                  </a:cubicBezTo>
                  <a:cubicBezTo>
                    <a:pt x="542" y="778"/>
                    <a:pt x="500" y="758"/>
                    <a:pt x="470" y="729"/>
                  </a:cubicBezTo>
                  <a:cubicBezTo>
                    <a:pt x="470" y="729"/>
                    <a:pt x="470" y="729"/>
                    <a:pt x="470" y="729"/>
                  </a:cubicBezTo>
                  <a:cubicBezTo>
                    <a:pt x="439" y="698"/>
                    <a:pt x="420" y="657"/>
                    <a:pt x="420" y="610"/>
                  </a:cubicBezTo>
                  <a:cubicBezTo>
                    <a:pt x="420" y="564"/>
                    <a:pt x="439" y="522"/>
                    <a:pt x="470" y="492"/>
                  </a:cubicBezTo>
                  <a:cubicBezTo>
                    <a:pt x="470" y="491"/>
                    <a:pt x="470" y="491"/>
                    <a:pt x="470" y="491"/>
                  </a:cubicBezTo>
                  <a:cubicBezTo>
                    <a:pt x="500" y="461"/>
                    <a:pt x="542" y="442"/>
                    <a:pt x="588" y="442"/>
                  </a:cubicBezTo>
                  <a:close/>
                  <a:moveTo>
                    <a:pt x="627" y="504"/>
                  </a:moveTo>
                  <a:cubicBezTo>
                    <a:pt x="627" y="504"/>
                    <a:pt x="627" y="504"/>
                    <a:pt x="627" y="504"/>
                  </a:cubicBezTo>
                  <a:cubicBezTo>
                    <a:pt x="615" y="500"/>
                    <a:pt x="602" y="498"/>
                    <a:pt x="588" y="498"/>
                  </a:cubicBezTo>
                  <a:cubicBezTo>
                    <a:pt x="557" y="498"/>
                    <a:pt x="530" y="510"/>
                    <a:pt x="509" y="531"/>
                  </a:cubicBezTo>
                  <a:cubicBezTo>
                    <a:pt x="509" y="531"/>
                    <a:pt x="509" y="531"/>
                    <a:pt x="509" y="531"/>
                  </a:cubicBezTo>
                  <a:cubicBezTo>
                    <a:pt x="489" y="551"/>
                    <a:pt x="476" y="579"/>
                    <a:pt x="476" y="610"/>
                  </a:cubicBezTo>
                  <a:cubicBezTo>
                    <a:pt x="476" y="641"/>
                    <a:pt x="489" y="669"/>
                    <a:pt x="509" y="689"/>
                  </a:cubicBezTo>
                  <a:cubicBezTo>
                    <a:pt x="530" y="709"/>
                    <a:pt x="557" y="722"/>
                    <a:pt x="588" y="722"/>
                  </a:cubicBezTo>
                  <a:cubicBezTo>
                    <a:pt x="620" y="722"/>
                    <a:pt x="647" y="709"/>
                    <a:pt x="667" y="690"/>
                  </a:cubicBezTo>
                  <a:cubicBezTo>
                    <a:pt x="667" y="689"/>
                    <a:pt x="667" y="689"/>
                    <a:pt x="667" y="689"/>
                  </a:cubicBezTo>
                  <a:cubicBezTo>
                    <a:pt x="688" y="669"/>
                    <a:pt x="700" y="641"/>
                    <a:pt x="700" y="610"/>
                  </a:cubicBezTo>
                  <a:cubicBezTo>
                    <a:pt x="700" y="596"/>
                    <a:pt x="698" y="583"/>
                    <a:pt x="694" y="571"/>
                  </a:cubicBezTo>
                  <a:cubicBezTo>
                    <a:pt x="621" y="643"/>
                    <a:pt x="621" y="643"/>
                    <a:pt x="621" y="643"/>
                  </a:cubicBezTo>
                  <a:cubicBezTo>
                    <a:pt x="603" y="661"/>
                    <a:pt x="574" y="661"/>
                    <a:pt x="555" y="643"/>
                  </a:cubicBezTo>
                  <a:cubicBezTo>
                    <a:pt x="537" y="625"/>
                    <a:pt x="537" y="595"/>
                    <a:pt x="555" y="577"/>
                  </a:cubicBezTo>
                  <a:cubicBezTo>
                    <a:pt x="627" y="504"/>
                    <a:pt x="627" y="504"/>
                    <a:pt x="627" y="504"/>
                  </a:cubicBezTo>
                  <a:close/>
                  <a:moveTo>
                    <a:pt x="997" y="85"/>
                  </a:moveTo>
                  <a:cubicBezTo>
                    <a:pt x="997" y="85"/>
                    <a:pt x="997" y="85"/>
                    <a:pt x="997" y="85"/>
                  </a:cubicBezTo>
                  <a:cubicBezTo>
                    <a:pt x="890" y="192"/>
                    <a:pt x="890" y="192"/>
                    <a:pt x="890" y="192"/>
                  </a:cubicBezTo>
                  <a:cubicBezTo>
                    <a:pt x="907" y="252"/>
                    <a:pt x="907" y="252"/>
                    <a:pt x="907" y="252"/>
                  </a:cubicBezTo>
                  <a:cubicBezTo>
                    <a:pt x="1014" y="145"/>
                    <a:pt x="1014" y="145"/>
                    <a:pt x="1014" y="145"/>
                  </a:cubicBezTo>
                  <a:cubicBezTo>
                    <a:pt x="997" y="85"/>
                    <a:pt x="997" y="85"/>
                    <a:pt x="997" y="85"/>
                  </a:cubicBezTo>
                  <a:close/>
                  <a:moveTo>
                    <a:pt x="1053" y="184"/>
                  </a:moveTo>
                  <a:cubicBezTo>
                    <a:pt x="1053" y="184"/>
                    <a:pt x="1053" y="184"/>
                    <a:pt x="1053" y="184"/>
                  </a:cubicBezTo>
                  <a:cubicBezTo>
                    <a:pt x="947" y="292"/>
                    <a:pt x="947" y="292"/>
                    <a:pt x="947" y="292"/>
                  </a:cubicBezTo>
                  <a:cubicBezTo>
                    <a:pt x="1006" y="308"/>
                    <a:pt x="1006" y="308"/>
                    <a:pt x="1006" y="308"/>
                  </a:cubicBezTo>
                  <a:cubicBezTo>
                    <a:pt x="1113" y="201"/>
                    <a:pt x="1113" y="201"/>
                    <a:pt x="1113" y="201"/>
                  </a:cubicBezTo>
                  <a:cubicBezTo>
                    <a:pt x="1053" y="184"/>
                    <a:pt x="1053" y="184"/>
                    <a:pt x="1053" y="184"/>
                  </a:cubicBezTo>
                  <a:close/>
                </a:path>
              </a:pathLst>
            </a:custGeom>
            <a:solidFill>
              <a:srgbClr val="C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65" name="Shape 223">
            <a:extLst>
              <a:ext uri="{FF2B5EF4-FFF2-40B4-BE49-F238E27FC236}">
                <a16:creationId xmlns:a16="http://schemas.microsoft.com/office/drawing/2014/main" id="{989E621B-5AD3-428C-9F6A-B891B45708D9}"/>
              </a:ext>
            </a:extLst>
          </p:cNvPr>
          <p:cNvSpPr/>
          <p:nvPr/>
        </p:nvSpPr>
        <p:spPr>
          <a:xfrm>
            <a:off x="8499036" y="5115851"/>
            <a:ext cx="1311847" cy="32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9980" tIns="39980" rIns="39980" bIns="39980" anchor="ctr">
            <a:spAutoFit/>
          </a:bodyPr>
          <a:lstStyle/>
          <a:p>
            <a:pPr marL="0" marR="0" lvl="0" indent="0" algn="ctr" defTabSz="8127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rgbClr val="CC282E"/>
                </a:solidFill>
                <a:latin typeface="Lantinghei SC Heavy"/>
                <a:ea typeface="Lantinghei SC Heavy"/>
                <a:cs typeface="Lantinghei SC Heavy"/>
                <a:sym typeface="Lantinghei SC Heavy"/>
              </a:defRPr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itchFamily="34" charset="-122"/>
              </a:rPr>
              <a:t/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Lantinghei SC Heavy"/>
            </a:endParaRPr>
          </a:p>
        </p:txBody>
      </p:sp>
      <p:pic>
        <p:nvPicPr>
          <p:cNvPr id="39" name="Picture 19" descr="\\Bchief-sever180\共享\华为\2016\6月\D-201606417-金融营销材料设计-刘泉\文件\link\组 26.png">
            <a:extLst>
              <a:ext uri="{FF2B5EF4-FFF2-40B4-BE49-F238E27FC236}">
                <a16:creationId xmlns:a16="http://schemas.microsoft.com/office/drawing/2014/main" id="{95B1E4A9-57CE-4375-9397-943A2ECF4D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958" r="1130"/>
          <a:stretch/>
        </p:blipFill>
        <p:spPr bwMode="auto">
          <a:xfrm rot="16200000">
            <a:off x="4291433" y="2911590"/>
            <a:ext cx="4045812" cy="13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Rectangle 18">
            <a:extLst>
              <a:ext uri="{FF2B5EF4-FFF2-40B4-BE49-F238E27FC236}">
                <a16:creationId xmlns:a16="http://schemas.microsoft.com/office/drawing/2014/main" id="{68254B01-21F4-4D9E-892A-344EE4EACA8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180229" y="1637980"/>
            <a:ext cx="3092190" cy="6001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12700" marR="0" lvl="0" indent="0" algn="l" defTabSz="914478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1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👥 总协调组 - 统筹进度</a:t>
            </a:r>
          </a:p>
          <a:p>
            <a:pPr marL="12700" marR="0" lvl="0" indent="0" algn="l" defTabSz="914478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0" i="0" u="none" strike="noStrike" kern="1200" cap="none" spc="-5" normalizeH="0" baseline="0" noProof="0" dirty="0">
                <a:ln>
                  <a:noFill/>
                </a:ln>
                <a:solidFill>
                  <a:srgbClr val="62626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微软雅黑" panose="020B0503020204020204" pitchFamily="34" charset="-122"/>
              </a:rPr>
              <a:t>👥 宣传组 - 现场布置预热</a:t>
            </a:r>
            <a:endParaRPr kumimoji="0" lang="zh-CN" altLang="en-US" sz="1200" b="0" i="0" u="none" strike="noStrike" kern="1200" cap="none" spc="-5" normalizeH="0" baseline="0" noProof="0" dirty="0">
              <a:ln>
                <a:noFill/>
              </a:ln>
              <a:solidFill>
                <a:srgbClr val="62626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AA9AFBD9-D665-4222-B8C4-E4B27B7F2EB4}"/>
              </a:ext>
            </a:extLst>
          </p:cNvPr>
          <p:cNvSpPr/>
          <p:nvPr/>
        </p:nvSpPr>
        <p:spPr>
          <a:xfrm>
            <a:off x="7232009" y="5378494"/>
            <a:ext cx="3883494" cy="708547"/>
          </a:xfrm>
          <a:prstGeom prst="ellipse">
            <a:avLst/>
          </a:prstGeom>
          <a:gradFill>
            <a:gsLst>
              <a:gs pos="0">
                <a:srgbClr val="666666">
                  <a:lumMod val="40000"/>
                  <a:lumOff val="60000"/>
                  <a:alpha val="26000"/>
                </a:srgbClr>
              </a:gs>
              <a:gs pos="67000">
                <a:srgbClr val="666666">
                  <a:lumMod val="40000"/>
                  <a:lumOff val="60000"/>
                  <a:alpha val="0"/>
                </a:srgbClr>
              </a:gs>
            </a:gsLst>
            <a:lin ang="16200000" scaled="1"/>
          </a:gradFill>
          <a:ln w="6350" cap="flat" cmpd="sng" algn="ctr">
            <a:gradFill flip="none" rotWithShape="1">
              <a:gsLst>
                <a:gs pos="0">
                  <a:srgbClr val="666666">
                    <a:lumMod val="40000"/>
                    <a:lumOff val="60000"/>
                  </a:srgbClr>
                </a:gs>
                <a:gs pos="71000">
                  <a:srgbClr val="666666">
                    <a:lumMod val="40000"/>
                    <a:lumOff val="60000"/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50800" dist="38100" dir="5400000" sx="99000" sy="99000" algn="ctr" rotWithShape="0">
              <a:srgbClr val="000000">
                <a:alpha val="10000"/>
              </a:srgbClr>
            </a:outerShdw>
          </a:effectLst>
        </p:spPr>
        <p:txBody>
          <a:bodyPr lIns="107924" tIns="45688" rIns="91375" bIns="45688" anchor="ctr">
            <a:noAutofit/>
          </a:bodyPr>
          <a:lstStyle/>
          <a:p>
            <a:pPr marL="0" marR="0" lvl="0" indent="0" algn="l" defTabSz="121856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AA9AFBD9-D665-4222-B8C4-E4B27B7F2EB4}"/>
              </a:ext>
            </a:extLst>
          </p:cNvPr>
          <p:cNvSpPr/>
          <p:nvPr/>
        </p:nvSpPr>
        <p:spPr>
          <a:xfrm>
            <a:off x="7730081" y="5292795"/>
            <a:ext cx="2887351" cy="526800"/>
          </a:xfrm>
          <a:prstGeom prst="ellipse">
            <a:avLst/>
          </a:prstGeom>
          <a:gradFill>
            <a:gsLst>
              <a:gs pos="0">
                <a:srgbClr val="666666">
                  <a:lumMod val="40000"/>
                  <a:lumOff val="60000"/>
                  <a:alpha val="14000"/>
                </a:srgbClr>
              </a:gs>
              <a:gs pos="67000">
                <a:srgbClr val="666666">
                  <a:lumMod val="40000"/>
                  <a:lumOff val="60000"/>
                  <a:alpha val="0"/>
                </a:srgbClr>
              </a:gs>
            </a:gsLst>
            <a:lin ang="16200000" scaled="1"/>
          </a:gradFill>
          <a:ln w="6350" cap="flat" cmpd="sng" algn="ctr">
            <a:gradFill flip="none" rotWithShape="1">
              <a:gsLst>
                <a:gs pos="0">
                  <a:srgbClr val="666666">
                    <a:lumMod val="40000"/>
                    <a:lumOff val="60000"/>
                  </a:srgbClr>
                </a:gs>
                <a:gs pos="71000">
                  <a:srgbClr val="666666">
                    <a:lumMod val="40000"/>
                    <a:lumOff val="60000"/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50800" dist="38100" dir="5400000" sx="99000" sy="99000" algn="ctr" rotWithShape="0">
              <a:srgbClr val="000000">
                <a:alpha val="10000"/>
              </a:srgbClr>
            </a:outerShdw>
          </a:effectLst>
        </p:spPr>
        <p:txBody>
          <a:bodyPr lIns="107924" tIns="45688" rIns="91375" bIns="45688" anchor="ctr">
            <a:noAutofit/>
          </a:bodyPr>
          <a:lstStyle/>
          <a:p>
            <a:pPr marL="0" marR="0" lvl="0" indent="0" algn="l" defTabSz="121856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A9AFBD9-D665-4222-B8C4-E4B27B7F2EB4}"/>
              </a:ext>
            </a:extLst>
          </p:cNvPr>
          <p:cNvSpPr/>
          <p:nvPr/>
        </p:nvSpPr>
        <p:spPr>
          <a:xfrm>
            <a:off x="8371042" y="5344988"/>
            <a:ext cx="1605429" cy="292912"/>
          </a:xfrm>
          <a:prstGeom prst="ellipse">
            <a:avLst/>
          </a:prstGeom>
          <a:gradFill>
            <a:gsLst>
              <a:gs pos="0">
                <a:srgbClr val="666666">
                  <a:lumMod val="40000"/>
                  <a:lumOff val="60000"/>
                  <a:alpha val="16000"/>
                </a:srgbClr>
              </a:gs>
              <a:gs pos="67000">
                <a:srgbClr val="666666">
                  <a:lumMod val="40000"/>
                  <a:lumOff val="60000"/>
                  <a:alpha val="0"/>
                </a:srgbClr>
              </a:gs>
            </a:gsLst>
            <a:lin ang="16200000" scaled="1"/>
          </a:gradFill>
          <a:ln w="6350" cap="flat" cmpd="sng" algn="ctr">
            <a:gradFill flip="none" rotWithShape="1">
              <a:gsLst>
                <a:gs pos="0">
                  <a:srgbClr val="666666">
                    <a:lumMod val="40000"/>
                    <a:lumOff val="60000"/>
                  </a:srgbClr>
                </a:gs>
                <a:gs pos="71000">
                  <a:srgbClr val="666666">
                    <a:lumMod val="40000"/>
                    <a:lumOff val="60000"/>
                    <a:alpha val="0"/>
                  </a:srgbClr>
                </a:gs>
              </a:gsLst>
              <a:lin ang="16200000" scaled="1"/>
              <a:tileRect/>
            </a:gradFill>
            <a:prstDash val="solid"/>
            <a:miter lim="800000"/>
          </a:ln>
          <a:effectLst>
            <a:outerShdw blurRad="50800" dist="38100" dir="5400000" sx="99000" sy="99000" algn="ctr" rotWithShape="0">
              <a:srgbClr val="000000">
                <a:alpha val="10000"/>
              </a:srgbClr>
            </a:outerShdw>
          </a:effectLst>
        </p:spPr>
        <p:txBody>
          <a:bodyPr lIns="107924" tIns="45688" rIns="91375" bIns="45688" anchor="ctr">
            <a:noAutofit/>
          </a:bodyPr>
          <a:lstStyle/>
          <a:p>
            <a:pPr marL="0" marR="0" lvl="0" indent="0" algn="l" defTabSz="1218564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1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A7F13DA-7FB3-42EB-BFB0-562609462814}"/>
              </a:ext>
            </a:extLst>
          </p:cNvPr>
          <p:cNvGrpSpPr/>
          <p:nvPr/>
        </p:nvGrpSpPr>
        <p:grpSpPr>
          <a:xfrm>
            <a:off x="6939521" y="1509296"/>
            <a:ext cx="4581829" cy="3380368"/>
            <a:chOff x="6939521" y="1509296"/>
            <a:chExt cx="4581829" cy="3380368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8D1DED17-6759-46D0-85C1-5DD581EF5AE9}"/>
                </a:ext>
              </a:extLst>
            </p:cNvPr>
            <p:cNvGrpSpPr/>
            <p:nvPr/>
          </p:nvGrpSpPr>
          <p:grpSpPr>
            <a:xfrm>
              <a:off x="7627314" y="1844863"/>
              <a:ext cx="3027207" cy="2813597"/>
              <a:chOff x="1078464" y="2259104"/>
              <a:chExt cx="3920753" cy="3558358"/>
            </a:xfrm>
          </p:grpSpPr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0A27D768-BBD5-495D-B21B-00C6AD3467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7094" y="2259104"/>
                <a:ext cx="2493035" cy="2043165"/>
              </a:xfrm>
              <a:custGeom>
                <a:avLst/>
                <a:gdLst>
                  <a:gd name="T0" fmla="*/ 335 w 338"/>
                  <a:gd name="T1" fmla="*/ 186 h 277"/>
                  <a:gd name="T2" fmla="*/ 270 w 338"/>
                  <a:gd name="T3" fmla="*/ 26 h 277"/>
                  <a:gd name="T4" fmla="*/ 207 w 338"/>
                  <a:gd name="T5" fmla="*/ 0 h 277"/>
                  <a:gd name="T6" fmla="*/ 111 w 338"/>
                  <a:gd name="T7" fmla="*/ 69 h 277"/>
                  <a:gd name="T8" fmla="*/ 0 w 338"/>
                  <a:gd name="T9" fmla="*/ 261 h 277"/>
                  <a:gd name="T10" fmla="*/ 48 w 338"/>
                  <a:gd name="T11" fmla="*/ 221 h 277"/>
                  <a:gd name="T12" fmla="*/ 205 w 338"/>
                  <a:gd name="T13" fmla="*/ 165 h 277"/>
                  <a:gd name="T14" fmla="*/ 224 w 338"/>
                  <a:gd name="T15" fmla="*/ 166 h 277"/>
                  <a:gd name="T16" fmla="*/ 300 w 338"/>
                  <a:gd name="T17" fmla="*/ 207 h 277"/>
                  <a:gd name="T18" fmla="*/ 331 w 338"/>
                  <a:gd name="T19" fmla="*/ 277 h 277"/>
                  <a:gd name="T20" fmla="*/ 335 w 338"/>
                  <a:gd name="T21" fmla="*/ 186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38" h="277">
                    <a:moveTo>
                      <a:pt x="335" y="186"/>
                    </a:moveTo>
                    <a:cubicBezTo>
                      <a:pt x="327" y="82"/>
                      <a:pt x="276" y="31"/>
                      <a:pt x="270" y="26"/>
                    </a:cubicBezTo>
                    <a:cubicBezTo>
                      <a:pt x="250" y="9"/>
                      <a:pt x="229" y="0"/>
                      <a:pt x="207" y="0"/>
                    </a:cubicBezTo>
                    <a:cubicBezTo>
                      <a:pt x="171" y="0"/>
                      <a:pt x="137" y="24"/>
                      <a:pt x="111" y="69"/>
                    </a:cubicBezTo>
                    <a:cubicBezTo>
                      <a:pt x="0" y="261"/>
                      <a:pt x="0" y="261"/>
                      <a:pt x="0" y="261"/>
                    </a:cubicBezTo>
                    <a:cubicBezTo>
                      <a:pt x="13" y="248"/>
                      <a:pt x="29" y="234"/>
                      <a:pt x="48" y="221"/>
                    </a:cubicBezTo>
                    <a:cubicBezTo>
                      <a:pt x="118" y="172"/>
                      <a:pt x="177" y="165"/>
                      <a:pt x="205" y="165"/>
                    </a:cubicBezTo>
                    <a:cubicBezTo>
                      <a:pt x="216" y="165"/>
                      <a:pt x="223" y="166"/>
                      <a:pt x="224" y="166"/>
                    </a:cubicBezTo>
                    <a:cubicBezTo>
                      <a:pt x="254" y="170"/>
                      <a:pt x="281" y="185"/>
                      <a:pt x="300" y="207"/>
                    </a:cubicBezTo>
                    <a:cubicBezTo>
                      <a:pt x="318" y="227"/>
                      <a:pt x="328" y="251"/>
                      <a:pt x="331" y="277"/>
                    </a:cubicBezTo>
                    <a:cubicBezTo>
                      <a:pt x="336" y="253"/>
                      <a:pt x="338" y="222"/>
                      <a:pt x="335" y="186"/>
                    </a:cubicBez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19050">
                <a:noFill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2" name="Freeform 7">
                <a:extLst>
                  <a:ext uri="{FF2B5EF4-FFF2-40B4-BE49-F238E27FC236}">
                    <a16:creationId xmlns:a16="http://schemas.microsoft.com/office/drawing/2014/main" id="{E58E6BE0-1C32-4D60-B0D1-43D9AEE862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8464" y="3646208"/>
                <a:ext cx="2543021" cy="2171254"/>
              </a:xfrm>
              <a:custGeom>
                <a:avLst/>
                <a:gdLst>
                  <a:gd name="T0" fmla="*/ 150 w 345"/>
                  <a:gd name="T1" fmla="*/ 149 h 294"/>
                  <a:gd name="T2" fmla="*/ 141 w 345"/>
                  <a:gd name="T3" fmla="*/ 101 h 294"/>
                  <a:gd name="T4" fmla="*/ 193 w 345"/>
                  <a:gd name="T5" fmla="*/ 0 h 294"/>
                  <a:gd name="T6" fmla="*/ 111 w 345"/>
                  <a:gd name="T7" fmla="*/ 42 h 294"/>
                  <a:gd name="T8" fmla="*/ 24 w 345"/>
                  <a:gd name="T9" fmla="*/ 134 h 294"/>
                  <a:gd name="T10" fmla="*/ 5 w 345"/>
                  <a:gd name="T11" fmla="*/ 179 h 294"/>
                  <a:gd name="T12" fmla="*/ 5 w 345"/>
                  <a:gd name="T13" fmla="*/ 183 h 294"/>
                  <a:gd name="T14" fmla="*/ 21 w 345"/>
                  <a:gd name="T15" fmla="*/ 256 h 294"/>
                  <a:gd name="T16" fmla="*/ 122 w 345"/>
                  <a:gd name="T17" fmla="*/ 294 h 294"/>
                  <a:gd name="T18" fmla="*/ 345 w 345"/>
                  <a:gd name="T19" fmla="*/ 294 h 294"/>
                  <a:gd name="T20" fmla="*/ 286 w 345"/>
                  <a:gd name="T21" fmla="*/ 273 h 294"/>
                  <a:gd name="T22" fmla="*/ 150 w 345"/>
                  <a:gd name="T23" fmla="*/ 149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45" h="294">
                    <a:moveTo>
                      <a:pt x="150" y="149"/>
                    </a:moveTo>
                    <a:cubicBezTo>
                      <a:pt x="144" y="134"/>
                      <a:pt x="141" y="118"/>
                      <a:pt x="141" y="101"/>
                    </a:cubicBezTo>
                    <a:cubicBezTo>
                      <a:pt x="141" y="59"/>
                      <a:pt x="161" y="23"/>
                      <a:pt x="193" y="0"/>
                    </a:cubicBezTo>
                    <a:cubicBezTo>
                      <a:pt x="169" y="8"/>
                      <a:pt x="141" y="21"/>
                      <a:pt x="111" y="42"/>
                    </a:cubicBezTo>
                    <a:cubicBezTo>
                      <a:pt x="65" y="74"/>
                      <a:pt x="38" y="110"/>
                      <a:pt x="24" y="134"/>
                    </a:cubicBezTo>
                    <a:cubicBezTo>
                      <a:pt x="10" y="160"/>
                      <a:pt x="5" y="179"/>
                      <a:pt x="5" y="179"/>
                    </a:cubicBezTo>
                    <a:cubicBezTo>
                      <a:pt x="5" y="183"/>
                      <a:pt x="5" y="183"/>
                      <a:pt x="5" y="183"/>
                    </a:cubicBezTo>
                    <a:cubicBezTo>
                      <a:pt x="0" y="212"/>
                      <a:pt x="5" y="237"/>
                      <a:pt x="21" y="256"/>
                    </a:cubicBezTo>
                    <a:cubicBezTo>
                      <a:pt x="41" y="281"/>
                      <a:pt x="77" y="294"/>
                      <a:pt x="122" y="294"/>
                    </a:cubicBezTo>
                    <a:cubicBezTo>
                      <a:pt x="345" y="294"/>
                      <a:pt x="345" y="294"/>
                      <a:pt x="345" y="294"/>
                    </a:cubicBezTo>
                    <a:cubicBezTo>
                      <a:pt x="325" y="289"/>
                      <a:pt x="305" y="282"/>
                      <a:pt x="286" y="273"/>
                    </a:cubicBezTo>
                    <a:cubicBezTo>
                      <a:pt x="185" y="226"/>
                      <a:pt x="155" y="162"/>
                      <a:pt x="150" y="149"/>
                    </a:cubicBez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63" name="Freeform 8">
                <a:extLst>
                  <a:ext uri="{FF2B5EF4-FFF2-40B4-BE49-F238E27FC236}">
                    <a16:creationId xmlns:a16="http://schemas.microsoft.com/office/drawing/2014/main" id="{D3DC0675-9055-4CEF-BA70-E05B1A87E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765" y="3174468"/>
                <a:ext cx="2352452" cy="2627374"/>
              </a:xfrm>
              <a:custGeom>
                <a:avLst/>
                <a:gdLst>
                  <a:gd name="T0" fmla="*/ 0 w 319"/>
                  <a:gd name="T1" fmla="*/ 278 h 356"/>
                  <a:gd name="T2" fmla="*/ 77 w 319"/>
                  <a:gd name="T3" fmla="*/ 327 h 356"/>
                  <a:gd name="T4" fmla="*/ 199 w 319"/>
                  <a:gd name="T5" fmla="*/ 356 h 356"/>
                  <a:gd name="T6" fmla="*/ 249 w 319"/>
                  <a:gd name="T7" fmla="*/ 350 h 356"/>
                  <a:gd name="T8" fmla="*/ 255 w 319"/>
                  <a:gd name="T9" fmla="*/ 348 h 356"/>
                  <a:gd name="T10" fmla="*/ 308 w 319"/>
                  <a:gd name="T11" fmla="*/ 298 h 356"/>
                  <a:gd name="T12" fmla="*/ 290 w 319"/>
                  <a:gd name="T13" fmla="*/ 192 h 356"/>
                  <a:gd name="T14" fmla="*/ 179 w 319"/>
                  <a:gd name="T15" fmla="*/ 0 h 356"/>
                  <a:gd name="T16" fmla="*/ 190 w 319"/>
                  <a:gd name="T17" fmla="*/ 61 h 356"/>
                  <a:gd name="T18" fmla="*/ 149 w 319"/>
                  <a:gd name="T19" fmla="*/ 241 h 356"/>
                  <a:gd name="T20" fmla="*/ 52 w 319"/>
                  <a:gd name="T21" fmla="*/ 289 h 356"/>
                  <a:gd name="T22" fmla="*/ 0 w 319"/>
                  <a:gd name="T23" fmla="*/ 278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19" h="356">
                    <a:moveTo>
                      <a:pt x="0" y="278"/>
                    </a:moveTo>
                    <a:cubicBezTo>
                      <a:pt x="19" y="294"/>
                      <a:pt x="44" y="312"/>
                      <a:pt x="77" y="327"/>
                    </a:cubicBezTo>
                    <a:cubicBezTo>
                      <a:pt x="128" y="351"/>
                      <a:pt x="171" y="356"/>
                      <a:pt x="199" y="356"/>
                    </a:cubicBezTo>
                    <a:cubicBezTo>
                      <a:pt x="230" y="356"/>
                      <a:pt x="249" y="350"/>
                      <a:pt x="249" y="350"/>
                    </a:cubicBezTo>
                    <a:cubicBezTo>
                      <a:pt x="255" y="348"/>
                      <a:pt x="255" y="348"/>
                      <a:pt x="255" y="348"/>
                    </a:cubicBezTo>
                    <a:cubicBezTo>
                      <a:pt x="281" y="338"/>
                      <a:pt x="299" y="321"/>
                      <a:pt x="308" y="298"/>
                    </a:cubicBezTo>
                    <a:cubicBezTo>
                      <a:pt x="319" y="269"/>
                      <a:pt x="313" y="231"/>
                      <a:pt x="290" y="192"/>
                    </a:cubicBezTo>
                    <a:cubicBezTo>
                      <a:pt x="179" y="0"/>
                      <a:pt x="179" y="0"/>
                      <a:pt x="179" y="0"/>
                    </a:cubicBezTo>
                    <a:cubicBezTo>
                      <a:pt x="184" y="18"/>
                      <a:pt x="188" y="38"/>
                      <a:pt x="190" y="61"/>
                    </a:cubicBezTo>
                    <a:cubicBezTo>
                      <a:pt x="200" y="180"/>
                      <a:pt x="152" y="237"/>
                      <a:pt x="149" y="241"/>
                    </a:cubicBezTo>
                    <a:cubicBezTo>
                      <a:pt x="125" y="271"/>
                      <a:pt x="90" y="289"/>
                      <a:pt x="52" y="289"/>
                    </a:cubicBezTo>
                    <a:cubicBezTo>
                      <a:pt x="33" y="289"/>
                      <a:pt x="16" y="285"/>
                      <a:pt x="0" y="278"/>
                    </a:cubicBezTo>
                    <a:close/>
                  </a:path>
                </a:pathLst>
              </a:custGeom>
              <a:solidFill>
                <a:sysClr val="window" lastClr="FFFFFF">
                  <a:lumMod val="85000"/>
                </a:sysClr>
              </a:solidFill>
              <a:ln>
                <a:noFill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121917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3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4" name="Shape 221">
              <a:extLst>
                <a:ext uri="{FF2B5EF4-FFF2-40B4-BE49-F238E27FC236}">
                  <a16:creationId xmlns:a16="http://schemas.microsoft.com/office/drawing/2014/main" id="{1D7892D7-8FD5-4833-892F-D1F63F5483CB}"/>
                </a:ext>
              </a:extLst>
            </p:cNvPr>
            <p:cNvSpPr/>
            <p:nvPr/>
          </p:nvSpPr>
          <p:spPr>
            <a:xfrm>
              <a:off x="8499036" y="1509296"/>
              <a:ext cx="1311847" cy="32696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39980" tIns="39980" rIns="39980" bIns="39980" anchor="ctr">
              <a:spAutoFit/>
            </a:bodyPr>
            <a:lstStyle/>
            <a:p>
              <a:pPr marL="0" marR="0" lvl="0" indent="0" algn="ctr" defTabSz="81276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2000">
                  <a:solidFill>
                    <a:srgbClr val="CC282E"/>
                  </a:solidFill>
                  <a:latin typeface="Lantinghei SC Heavy"/>
                  <a:ea typeface="Lantinghei SC Heavy"/>
                  <a:cs typeface="Lantinghei SC Heavy"/>
                  <a:sym typeface="Lantinghei SC Heavy"/>
                </a:defRPr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itchFamily="82" charset="2"/>
                </a:rPr>
                <a:t>以客户为中心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Lantinghei SC Heavy"/>
              </a:endParaRPr>
            </a:p>
          </p:txBody>
        </p:sp>
        <p:sp>
          <p:nvSpPr>
            <p:cNvPr id="55" name="Shape 223">
              <a:extLst>
                <a:ext uri="{FF2B5EF4-FFF2-40B4-BE49-F238E27FC236}">
                  <a16:creationId xmlns:a16="http://schemas.microsoft.com/office/drawing/2014/main" id="{BDC382E4-C12D-4775-96E8-EE584CBE2634}"/>
                </a:ext>
              </a:extLst>
            </p:cNvPr>
            <p:cNvSpPr/>
            <p:nvPr/>
          </p:nvSpPr>
          <p:spPr>
            <a:xfrm>
              <a:off x="10290244" y="4643443"/>
              <a:ext cx="1231106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81276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2000">
                  <a:solidFill>
                    <a:srgbClr val="CC282E"/>
                  </a:solidFill>
                  <a:latin typeface="Lantinghei SC Heavy"/>
                  <a:ea typeface="Lantinghei SC Heavy"/>
                  <a:cs typeface="Lantinghei SC Heavy"/>
                  <a:sym typeface="Lantinghei SC Heavy"/>
                </a:defRPr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itchFamily="34" charset="-122"/>
                </a:rPr>
                <a:t>长期艰苦奋斗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Lantinghei SC Heavy"/>
              </a:endParaRPr>
            </a:p>
          </p:txBody>
        </p:sp>
        <p:sp>
          <p:nvSpPr>
            <p:cNvPr id="56" name="Shape 209">
              <a:extLst>
                <a:ext uri="{FF2B5EF4-FFF2-40B4-BE49-F238E27FC236}">
                  <a16:creationId xmlns:a16="http://schemas.microsoft.com/office/drawing/2014/main" id="{84FE843D-4C7C-452D-92C6-F946115B4099}"/>
                </a:ext>
              </a:extLst>
            </p:cNvPr>
            <p:cNvSpPr/>
            <p:nvPr/>
          </p:nvSpPr>
          <p:spPr>
            <a:xfrm>
              <a:off x="6939521" y="4643443"/>
              <a:ext cx="1231106" cy="2462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defTabSz="457200">
                <a:defRPr sz="2000">
                  <a:solidFill>
                    <a:srgbClr val="009BDE"/>
                  </a:solidFill>
                  <a:latin typeface="Lantinghei SC Heavy"/>
                  <a:ea typeface="Lantinghei SC Heavy"/>
                  <a:cs typeface="Lantinghei SC Heavy"/>
                  <a:sym typeface="Lantinghei SC Heavy"/>
                </a:defRPr>
              </a:lvl1pPr>
            </a:lstStyle>
            <a:p>
              <a:pPr marL="0" marR="0" lvl="0" indent="0" algn="ctr" defTabSz="81276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sz="2000">
                  <a:solidFill>
                    <a:srgbClr val="CC282E"/>
                  </a:solidFill>
                  <a:latin typeface="Lantinghei SC Heavy"/>
                  <a:ea typeface="Lantinghei SC Heavy"/>
                  <a:cs typeface="Lantinghei SC Heavy"/>
                  <a:sym typeface="Lantinghei SC Heavy"/>
                </a:defRPr>
              </a:pPr>
              <a:r>
                <a: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微软雅黑" pitchFamily="82" charset="2"/>
                </a:rPr>
                <a:t>以奋斗者为本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4B99FA9-3D28-445D-B388-FF5CE4B250D8}"/>
                </a:ext>
              </a:extLst>
            </p:cNvPr>
            <p:cNvSpPr txBox="1"/>
            <p:nvPr/>
          </p:nvSpPr>
          <p:spPr>
            <a:xfrm>
              <a:off x="8310194" y="3110659"/>
              <a:ext cx="159189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企业</a:t>
              </a:r>
              <a:endPara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核心价值观</a:t>
              </a:r>
            </a:p>
          </p:txBody>
        </p:sp>
        <p:sp>
          <p:nvSpPr>
            <p:cNvPr id="43" name="694220864">
              <a:extLst>
                <a:ext uri="{FF2B5EF4-FFF2-40B4-BE49-F238E27FC236}">
                  <a16:creationId xmlns:a16="http://schemas.microsoft.com/office/drawing/2014/main" id="{538F1646-866E-4618-B811-922434F621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785476" y="2047642"/>
              <a:ext cx="641328" cy="642082"/>
            </a:xfrm>
            <a:prstGeom prst="ellipse">
              <a:avLst/>
            </a:prstGeom>
            <a:gradFill flip="none" rotWithShape="1">
              <a:gsLst>
                <a:gs pos="38000">
                  <a:srgbClr val="FFFFFF"/>
                </a:gs>
                <a:gs pos="100000">
                  <a:srgbClr val="FFFFFF">
                    <a:lumMod val="95000"/>
                    <a:alpha val="9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 cap="flat" cmpd="sng" algn="ctr">
              <a:gradFill flip="none" rotWithShape="1">
                <a:gsLst>
                  <a:gs pos="0">
                    <a:srgbClr val="C00000">
                      <a:alpha val="30000"/>
                    </a:srgbClr>
                  </a:gs>
                  <a:gs pos="100000">
                    <a:srgbClr val="666666">
                      <a:lumMod val="60000"/>
                      <a:lumOff val="40000"/>
                      <a:alpha val="40000"/>
                    </a:srgbClr>
                  </a:gs>
                </a:gsLst>
                <a:lin ang="0" scaled="0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4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grpSp>
          <p:nvGrpSpPr>
            <p:cNvPr id="44" name="组合 326"/>
            <p:cNvGrpSpPr>
              <a:grpSpLocks/>
            </p:cNvGrpSpPr>
            <p:nvPr/>
          </p:nvGrpSpPr>
          <p:grpSpPr bwMode="auto">
            <a:xfrm>
              <a:off x="8906442" y="2162323"/>
              <a:ext cx="430751" cy="396291"/>
              <a:chOff x="5467351" y="771525"/>
              <a:chExt cx="546100" cy="501650"/>
            </a:xfrm>
          </p:grpSpPr>
          <p:sp>
            <p:nvSpPr>
              <p:cNvPr id="45" name="Freeform 19"/>
              <p:cNvSpPr>
                <a:spLocks noEditPoints="1"/>
              </p:cNvSpPr>
              <p:nvPr/>
            </p:nvSpPr>
            <p:spPr bwMode="auto">
              <a:xfrm>
                <a:off x="5656264" y="771525"/>
                <a:ext cx="166688" cy="166688"/>
              </a:xfrm>
              <a:custGeom>
                <a:avLst/>
                <a:gdLst>
                  <a:gd name="T0" fmla="*/ 2147483646 w 120"/>
                  <a:gd name="T1" fmla="*/ 2147483646 h 120"/>
                  <a:gd name="T2" fmla="*/ 0 w 120"/>
                  <a:gd name="T3" fmla="*/ 2147483646 h 120"/>
                  <a:gd name="T4" fmla="*/ 2147483646 w 120"/>
                  <a:gd name="T5" fmla="*/ 0 h 120"/>
                  <a:gd name="T6" fmla="*/ 2147483646 w 120"/>
                  <a:gd name="T7" fmla="*/ 2147483646 h 120"/>
                  <a:gd name="T8" fmla="*/ 2147483646 w 120"/>
                  <a:gd name="T9" fmla="*/ 2147483646 h 120"/>
                  <a:gd name="T10" fmla="*/ 2147483646 w 120"/>
                  <a:gd name="T11" fmla="*/ 2147483646 h 120"/>
                  <a:gd name="T12" fmla="*/ 2147483646 w 120"/>
                  <a:gd name="T13" fmla="*/ 2147483646 h 120"/>
                  <a:gd name="T14" fmla="*/ 2147483646 w 120"/>
                  <a:gd name="T15" fmla="*/ 2147483646 h 120"/>
                  <a:gd name="T16" fmla="*/ 2147483646 w 120"/>
                  <a:gd name="T17" fmla="*/ 2147483646 h 120"/>
                  <a:gd name="T18" fmla="*/ 2147483646 w 120"/>
                  <a:gd name="T19" fmla="*/ 2147483646 h 12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"/>
                  <a:gd name="T31" fmla="*/ 0 h 120"/>
                  <a:gd name="T32" fmla="*/ 120 w 120"/>
                  <a:gd name="T33" fmla="*/ 120 h 12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" h="120">
                    <a:moveTo>
                      <a:pt x="60" y="120"/>
                    </a:moveTo>
                    <a:cubicBezTo>
                      <a:pt x="27" y="120"/>
                      <a:pt x="0" y="93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cubicBezTo>
                      <a:pt x="120" y="93"/>
                      <a:pt x="93" y="120"/>
                      <a:pt x="60" y="120"/>
                    </a:cubicBezTo>
                    <a:close/>
                    <a:moveTo>
                      <a:pt x="60" y="18"/>
                    </a:moveTo>
                    <a:cubicBezTo>
                      <a:pt x="37" y="18"/>
                      <a:pt x="18" y="37"/>
                      <a:pt x="18" y="60"/>
                    </a:cubicBezTo>
                    <a:cubicBezTo>
                      <a:pt x="18" y="83"/>
                      <a:pt x="37" y="102"/>
                      <a:pt x="60" y="102"/>
                    </a:cubicBezTo>
                    <a:cubicBezTo>
                      <a:pt x="83" y="102"/>
                      <a:pt x="102" y="83"/>
                      <a:pt x="102" y="60"/>
                    </a:cubicBezTo>
                    <a:cubicBezTo>
                      <a:pt x="102" y="37"/>
                      <a:pt x="83" y="18"/>
                      <a:pt x="60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Freeform 21"/>
              <p:cNvSpPr>
                <a:spLocks/>
              </p:cNvSpPr>
              <p:nvPr/>
            </p:nvSpPr>
            <p:spPr bwMode="auto">
              <a:xfrm>
                <a:off x="5575301" y="949325"/>
                <a:ext cx="328613" cy="230188"/>
              </a:xfrm>
              <a:custGeom>
                <a:avLst/>
                <a:gdLst>
                  <a:gd name="T0" fmla="*/ 2147483646 w 236"/>
                  <a:gd name="T1" fmla="*/ 2147483646 h 165"/>
                  <a:gd name="T2" fmla="*/ 2147483646 w 236"/>
                  <a:gd name="T3" fmla="*/ 2147483646 h 165"/>
                  <a:gd name="T4" fmla="*/ 2147483646 w 236"/>
                  <a:gd name="T5" fmla="*/ 2147483646 h 165"/>
                  <a:gd name="T6" fmla="*/ 2147483646 w 236"/>
                  <a:gd name="T7" fmla="*/ 2147483646 h 165"/>
                  <a:gd name="T8" fmla="*/ 2147483646 w 236"/>
                  <a:gd name="T9" fmla="*/ 2147483646 h 165"/>
                  <a:gd name="T10" fmla="*/ 2147483646 w 236"/>
                  <a:gd name="T11" fmla="*/ 2147483646 h 165"/>
                  <a:gd name="T12" fmla="*/ 2147483646 w 236"/>
                  <a:gd name="T13" fmla="*/ 2147483646 h 165"/>
                  <a:gd name="T14" fmla="*/ 0 w 236"/>
                  <a:gd name="T15" fmla="*/ 2147483646 h 165"/>
                  <a:gd name="T16" fmla="*/ 0 w 236"/>
                  <a:gd name="T17" fmla="*/ 2147483646 h 165"/>
                  <a:gd name="T18" fmla="*/ 2147483646 w 236"/>
                  <a:gd name="T19" fmla="*/ 0 h 165"/>
                  <a:gd name="T20" fmla="*/ 2147483646 w 236"/>
                  <a:gd name="T21" fmla="*/ 2147483646 h 165"/>
                  <a:gd name="T22" fmla="*/ 2147483646 w 236"/>
                  <a:gd name="T23" fmla="*/ 2147483646 h 165"/>
                  <a:gd name="T24" fmla="*/ 2147483646 w 236"/>
                  <a:gd name="T25" fmla="*/ 2147483646 h 1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36"/>
                  <a:gd name="T40" fmla="*/ 0 h 165"/>
                  <a:gd name="T41" fmla="*/ 236 w 236"/>
                  <a:gd name="T42" fmla="*/ 165 h 1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36" h="165">
                    <a:moveTo>
                      <a:pt x="227" y="165"/>
                    </a:moveTo>
                    <a:cubicBezTo>
                      <a:pt x="222" y="165"/>
                      <a:pt x="218" y="161"/>
                      <a:pt x="218" y="156"/>
                    </a:cubicBezTo>
                    <a:cubicBezTo>
                      <a:pt x="218" y="109"/>
                      <a:pt x="218" y="109"/>
                      <a:pt x="218" y="109"/>
                    </a:cubicBezTo>
                    <a:cubicBezTo>
                      <a:pt x="218" y="60"/>
                      <a:pt x="171" y="18"/>
                      <a:pt x="118" y="18"/>
                    </a:cubicBezTo>
                    <a:cubicBezTo>
                      <a:pt x="65" y="18"/>
                      <a:pt x="18" y="60"/>
                      <a:pt x="18" y="109"/>
                    </a:cubicBezTo>
                    <a:cubicBezTo>
                      <a:pt x="18" y="156"/>
                      <a:pt x="18" y="156"/>
                      <a:pt x="18" y="156"/>
                    </a:cubicBezTo>
                    <a:cubicBezTo>
                      <a:pt x="18" y="161"/>
                      <a:pt x="14" y="165"/>
                      <a:pt x="9" y="165"/>
                    </a:cubicBezTo>
                    <a:cubicBezTo>
                      <a:pt x="4" y="165"/>
                      <a:pt x="0" y="161"/>
                      <a:pt x="0" y="156"/>
                    </a:cubicBezTo>
                    <a:cubicBezTo>
                      <a:pt x="0" y="109"/>
                      <a:pt x="0" y="109"/>
                      <a:pt x="0" y="109"/>
                    </a:cubicBezTo>
                    <a:cubicBezTo>
                      <a:pt x="0" y="51"/>
                      <a:pt x="55" y="0"/>
                      <a:pt x="118" y="0"/>
                    </a:cubicBezTo>
                    <a:cubicBezTo>
                      <a:pt x="181" y="0"/>
                      <a:pt x="236" y="51"/>
                      <a:pt x="236" y="109"/>
                    </a:cubicBezTo>
                    <a:cubicBezTo>
                      <a:pt x="236" y="156"/>
                      <a:pt x="236" y="156"/>
                      <a:pt x="236" y="156"/>
                    </a:cubicBezTo>
                    <a:cubicBezTo>
                      <a:pt x="236" y="161"/>
                      <a:pt x="232" y="165"/>
                      <a:pt x="227" y="165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Oval 43"/>
              <p:cNvSpPr>
                <a:spLocks noChangeArrowheads="1"/>
              </p:cNvSpPr>
              <p:nvPr/>
            </p:nvSpPr>
            <p:spPr bwMode="auto">
              <a:xfrm>
                <a:off x="5867401" y="1216025"/>
                <a:ext cx="57150" cy="57150"/>
              </a:xfrm>
              <a:prstGeom prst="ellipse">
                <a:avLst/>
              </a:pr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Oval 44"/>
              <p:cNvSpPr>
                <a:spLocks noChangeArrowheads="1"/>
              </p:cNvSpPr>
              <p:nvPr/>
            </p:nvSpPr>
            <p:spPr bwMode="auto">
              <a:xfrm>
                <a:off x="5783264" y="1216025"/>
                <a:ext cx="55563" cy="57150"/>
              </a:xfrm>
              <a:prstGeom prst="ellipse">
                <a:avLst/>
              </a:pr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Freeform 77"/>
              <p:cNvSpPr>
                <a:spLocks/>
              </p:cNvSpPr>
              <p:nvPr/>
            </p:nvSpPr>
            <p:spPr bwMode="auto">
              <a:xfrm>
                <a:off x="5467351" y="1157288"/>
                <a:ext cx="546100" cy="100013"/>
              </a:xfrm>
              <a:custGeom>
                <a:avLst/>
                <a:gdLst>
                  <a:gd name="T0" fmla="*/ 2147483646 w 393"/>
                  <a:gd name="T1" fmla="*/ 2147483646 h 72"/>
                  <a:gd name="T2" fmla="*/ 2147483646 w 393"/>
                  <a:gd name="T3" fmla="*/ 2147483646 h 72"/>
                  <a:gd name="T4" fmla="*/ 2147483646 w 393"/>
                  <a:gd name="T5" fmla="*/ 2147483646 h 72"/>
                  <a:gd name="T6" fmla="*/ 2147483646 w 393"/>
                  <a:gd name="T7" fmla="*/ 2147483646 h 72"/>
                  <a:gd name="T8" fmla="*/ 2147483646 w 393"/>
                  <a:gd name="T9" fmla="*/ 2147483646 h 72"/>
                  <a:gd name="T10" fmla="*/ 2147483646 w 393"/>
                  <a:gd name="T11" fmla="*/ 2147483646 h 72"/>
                  <a:gd name="T12" fmla="*/ 2147483646 w 393"/>
                  <a:gd name="T13" fmla="*/ 2147483646 h 72"/>
                  <a:gd name="T14" fmla="*/ 2147483646 w 393"/>
                  <a:gd name="T15" fmla="*/ 2147483646 h 72"/>
                  <a:gd name="T16" fmla="*/ 2147483646 w 393"/>
                  <a:gd name="T17" fmla="*/ 2147483646 h 72"/>
                  <a:gd name="T18" fmla="*/ 2147483646 w 393"/>
                  <a:gd name="T19" fmla="*/ 2147483646 h 72"/>
                  <a:gd name="T20" fmla="*/ 2147483646 w 393"/>
                  <a:gd name="T21" fmla="*/ 2147483646 h 72"/>
                  <a:gd name="T22" fmla="*/ 2147483646 w 393"/>
                  <a:gd name="T23" fmla="*/ 2147483646 h 72"/>
                  <a:gd name="T24" fmla="*/ 2147483646 w 393"/>
                  <a:gd name="T25" fmla="*/ 2147483646 h 72"/>
                  <a:gd name="T26" fmla="*/ 2147483646 w 393"/>
                  <a:gd name="T27" fmla="*/ 2147483646 h 72"/>
                  <a:gd name="T28" fmla="*/ 0 w 393"/>
                  <a:gd name="T29" fmla="*/ 2147483646 h 72"/>
                  <a:gd name="T30" fmla="*/ 2147483646 w 393"/>
                  <a:gd name="T31" fmla="*/ 0 h 72"/>
                  <a:gd name="T32" fmla="*/ 2147483646 w 393"/>
                  <a:gd name="T33" fmla="*/ 0 h 72"/>
                  <a:gd name="T34" fmla="*/ 2147483646 w 393"/>
                  <a:gd name="T35" fmla="*/ 2147483646 h 72"/>
                  <a:gd name="T36" fmla="*/ 2147483646 w 393"/>
                  <a:gd name="T37" fmla="*/ 2147483646 h 7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393"/>
                  <a:gd name="T58" fmla="*/ 0 h 72"/>
                  <a:gd name="T59" fmla="*/ 393 w 393"/>
                  <a:gd name="T60" fmla="*/ 72 h 7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393" h="72">
                    <a:moveTo>
                      <a:pt x="356" y="72"/>
                    </a:moveTo>
                    <a:cubicBezTo>
                      <a:pt x="308" y="72"/>
                      <a:pt x="308" y="72"/>
                      <a:pt x="308" y="72"/>
                    </a:cubicBezTo>
                    <a:cubicBezTo>
                      <a:pt x="304" y="72"/>
                      <a:pt x="299" y="68"/>
                      <a:pt x="299" y="63"/>
                    </a:cubicBezTo>
                    <a:cubicBezTo>
                      <a:pt x="299" y="58"/>
                      <a:pt x="304" y="54"/>
                      <a:pt x="308" y="54"/>
                    </a:cubicBezTo>
                    <a:cubicBezTo>
                      <a:pt x="356" y="54"/>
                      <a:pt x="356" y="54"/>
                      <a:pt x="356" y="54"/>
                    </a:cubicBezTo>
                    <a:cubicBezTo>
                      <a:pt x="366" y="54"/>
                      <a:pt x="375" y="46"/>
                      <a:pt x="375" y="36"/>
                    </a:cubicBezTo>
                    <a:cubicBezTo>
                      <a:pt x="375" y="26"/>
                      <a:pt x="366" y="18"/>
                      <a:pt x="356" y="18"/>
                    </a:cubicBezTo>
                    <a:cubicBezTo>
                      <a:pt x="36" y="18"/>
                      <a:pt x="36" y="18"/>
                      <a:pt x="36" y="18"/>
                    </a:cubicBezTo>
                    <a:cubicBezTo>
                      <a:pt x="26" y="18"/>
                      <a:pt x="18" y="26"/>
                      <a:pt x="18" y="36"/>
                    </a:cubicBezTo>
                    <a:cubicBezTo>
                      <a:pt x="18" y="46"/>
                      <a:pt x="26" y="54"/>
                      <a:pt x="36" y="54"/>
                    </a:cubicBezTo>
                    <a:cubicBezTo>
                      <a:pt x="247" y="54"/>
                      <a:pt x="247" y="54"/>
                      <a:pt x="247" y="54"/>
                    </a:cubicBezTo>
                    <a:cubicBezTo>
                      <a:pt x="252" y="54"/>
                      <a:pt x="256" y="58"/>
                      <a:pt x="256" y="63"/>
                    </a:cubicBezTo>
                    <a:cubicBezTo>
                      <a:pt x="256" y="68"/>
                      <a:pt x="252" y="72"/>
                      <a:pt x="247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16" y="72"/>
                      <a:pt x="0" y="56"/>
                      <a:pt x="0" y="36"/>
                    </a:cubicBezTo>
                    <a:cubicBezTo>
                      <a:pt x="0" y="16"/>
                      <a:pt x="16" y="0"/>
                      <a:pt x="36" y="0"/>
                    </a:cubicBezTo>
                    <a:cubicBezTo>
                      <a:pt x="356" y="0"/>
                      <a:pt x="356" y="0"/>
                      <a:pt x="356" y="0"/>
                    </a:cubicBezTo>
                    <a:cubicBezTo>
                      <a:pt x="376" y="0"/>
                      <a:pt x="393" y="16"/>
                      <a:pt x="393" y="36"/>
                    </a:cubicBezTo>
                    <a:cubicBezTo>
                      <a:pt x="393" y="56"/>
                      <a:pt x="376" y="72"/>
                      <a:pt x="356" y="72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21704" tIns="60852" rIns="121704" bIns="60852"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0" name="694220864">
              <a:extLst>
                <a:ext uri="{FF2B5EF4-FFF2-40B4-BE49-F238E27FC236}">
                  <a16:creationId xmlns:a16="http://schemas.microsoft.com/office/drawing/2014/main" id="{538F1646-866E-4618-B811-922434F621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811505" y="3769649"/>
              <a:ext cx="641328" cy="642082"/>
            </a:xfrm>
            <a:prstGeom prst="ellipse">
              <a:avLst/>
            </a:prstGeom>
            <a:gradFill flip="none" rotWithShape="1">
              <a:gsLst>
                <a:gs pos="38000">
                  <a:srgbClr val="FFFFFF"/>
                </a:gs>
                <a:gs pos="100000">
                  <a:srgbClr val="FFFFFF">
                    <a:lumMod val="95000"/>
                    <a:alpha val="9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 cap="flat" cmpd="sng" algn="ctr">
              <a:gradFill flip="none" rotWithShape="1">
                <a:gsLst>
                  <a:gs pos="0">
                    <a:srgbClr val="C00000">
                      <a:alpha val="30000"/>
                    </a:srgbClr>
                  </a:gs>
                  <a:gs pos="100000">
                    <a:srgbClr val="666666">
                      <a:lumMod val="60000"/>
                      <a:lumOff val="40000"/>
                      <a:alpha val="40000"/>
                    </a:srgbClr>
                  </a:gs>
                </a:gsLst>
                <a:lin ang="0" scaled="0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4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sp>
          <p:nvSpPr>
            <p:cNvPr id="51" name="694220864">
              <a:extLst>
                <a:ext uri="{FF2B5EF4-FFF2-40B4-BE49-F238E27FC236}">
                  <a16:creationId xmlns:a16="http://schemas.microsoft.com/office/drawing/2014/main" id="{538F1646-866E-4618-B811-922434F6218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819190" y="3769649"/>
              <a:ext cx="641328" cy="642082"/>
            </a:xfrm>
            <a:prstGeom prst="ellipse">
              <a:avLst/>
            </a:prstGeom>
            <a:gradFill flip="none" rotWithShape="1">
              <a:gsLst>
                <a:gs pos="38000">
                  <a:srgbClr val="FFFFFF"/>
                </a:gs>
                <a:gs pos="100000">
                  <a:srgbClr val="FFFFFF">
                    <a:lumMod val="95000"/>
                    <a:alpha val="9600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 w="6350" cap="flat" cmpd="sng" algn="ctr">
              <a:gradFill flip="none" rotWithShape="1">
                <a:gsLst>
                  <a:gs pos="0">
                    <a:srgbClr val="C00000">
                      <a:alpha val="30000"/>
                    </a:srgbClr>
                  </a:gs>
                  <a:gs pos="100000">
                    <a:srgbClr val="666666">
                      <a:lumMod val="60000"/>
                      <a:lumOff val="40000"/>
                      <a:alpha val="40000"/>
                    </a:srgbClr>
                  </a:gs>
                </a:gsLst>
                <a:lin ang="0" scaled="0"/>
                <a:tileRect/>
              </a:gra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square" lIns="0" tIns="0" rIns="0" bIns="0" anchor="ctr" anchorCtr="1"/>
            <a:lstStyle/>
            <a:p>
              <a:pPr marL="0" marR="0" lvl="4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endParaRPr>
            </a:p>
          </p:txBody>
        </p:sp>
        <p:grpSp>
          <p:nvGrpSpPr>
            <p:cNvPr id="64" name="组合 473"/>
            <p:cNvGrpSpPr>
              <a:grpSpLocks/>
            </p:cNvGrpSpPr>
            <p:nvPr/>
          </p:nvGrpSpPr>
          <p:grpSpPr bwMode="auto">
            <a:xfrm>
              <a:off x="9928149" y="3933416"/>
              <a:ext cx="414778" cy="353594"/>
              <a:chOff x="10007601" y="2382837"/>
              <a:chExt cx="565150" cy="604838"/>
            </a:xfrm>
          </p:grpSpPr>
          <p:sp>
            <p:nvSpPr>
              <p:cNvPr id="69" name="Oval 285"/>
              <p:cNvSpPr>
                <a:spLocks noChangeArrowheads="1"/>
              </p:cNvSpPr>
              <p:nvPr/>
            </p:nvSpPr>
            <p:spPr bwMode="auto">
              <a:xfrm>
                <a:off x="10471151" y="2900362"/>
                <a:ext cx="65088" cy="66675"/>
              </a:xfrm>
              <a:prstGeom prst="ellipse">
                <a:avLst/>
              </a:pr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Oval 286"/>
              <p:cNvSpPr>
                <a:spLocks noChangeArrowheads="1"/>
              </p:cNvSpPr>
              <p:nvPr/>
            </p:nvSpPr>
            <p:spPr bwMode="auto">
              <a:xfrm>
                <a:off x="10369551" y="2900362"/>
                <a:ext cx="66675" cy="66675"/>
              </a:xfrm>
              <a:prstGeom prst="ellipse">
                <a:avLst/>
              </a:pr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Freeform 421"/>
              <p:cNvSpPr>
                <a:spLocks/>
              </p:cNvSpPr>
              <p:nvPr/>
            </p:nvSpPr>
            <p:spPr bwMode="auto">
              <a:xfrm>
                <a:off x="10275888" y="2417762"/>
                <a:ext cx="28575" cy="561975"/>
              </a:xfrm>
              <a:custGeom>
                <a:avLst/>
                <a:gdLst>
                  <a:gd name="T0" fmla="*/ 14288 w 18"/>
                  <a:gd name="T1" fmla="*/ 561975 h 342"/>
                  <a:gd name="T2" fmla="*/ 0 w 18"/>
                  <a:gd name="T3" fmla="*/ 547186 h 342"/>
                  <a:gd name="T4" fmla="*/ 0 w 18"/>
                  <a:gd name="T5" fmla="*/ 14789 h 342"/>
                  <a:gd name="T6" fmla="*/ 14288 w 18"/>
                  <a:gd name="T7" fmla="*/ 0 h 342"/>
                  <a:gd name="T8" fmla="*/ 28575 w 18"/>
                  <a:gd name="T9" fmla="*/ 14789 h 342"/>
                  <a:gd name="T10" fmla="*/ 28575 w 18"/>
                  <a:gd name="T11" fmla="*/ 547186 h 342"/>
                  <a:gd name="T12" fmla="*/ 14288 w 18"/>
                  <a:gd name="T13" fmla="*/ 561975 h 3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342"/>
                  <a:gd name="T23" fmla="*/ 18 w 18"/>
                  <a:gd name="T24" fmla="*/ 342 h 34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342">
                    <a:moveTo>
                      <a:pt x="9" y="342"/>
                    </a:moveTo>
                    <a:cubicBezTo>
                      <a:pt x="4" y="342"/>
                      <a:pt x="0" y="338"/>
                      <a:pt x="0" y="33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4" y="0"/>
                      <a:pt x="18" y="4"/>
                      <a:pt x="18" y="9"/>
                    </a:cubicBezTo>
                    <a:cubicBezTo>
                      <a:pt x="18" y="333"/>
                      <a:pt x="18" y="333"/>
                      <a:pt x="18" y="333"/>
                    </a:cubicBezTo>
                    <a:cubicBezTo>
                      <a:pt x="18" y="338"/>
                      <a:pt x="14" y="342"/>
                      <a:pt x="9" y="342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Freeform 422"/>
              <p:cNvSpPr>
                <a:spLocks/>
              </p:cNvSpPr>
              <p:nvPr/>
            </p:nvSpPr>
            <p:spPr bwMode="auto">
              <a:xfrm>
                <a:off x="10007601" y="2382837"/>
                <a:ext cx="565150" cy="604838"/>
              </a:xfrm>
              <a:custGeom>
                <a:avLst/>
                <a:gdLst>
                  <a:gd name="T0" fmla="*/ 282575 w 344"/>
                  <a:gd name="T1" fmla="*/ 604838 h 368"/>
                  <a:gd name="T2" fmla="*/ 276003 w 344"/>
                  <a:gd name="T3" fmla="*/ 603194 h 368"/>
                  <a:gd name="T4" fmla="*/ 253003 w 344"/>
                  <a:gd name="T5" fmla="*/ 590046 h 368"/>
                  <a:gd name="T6" fmla="*/ 165931 w 344"/>
                  <a:gd name="T7" fmla="*/ 565392 h 368"/>
                  <a:gd name="T8" fmla="*/ 52572 w 344"/>
                  <a:gd name="T9" fmla="*/ 565392 h 368"/>
                  <a:gd name="T10" fmla="*/ 0 w 344"/>
                  <a:gd name="T11" fmla="*/ 514441 h 368"/>
                  <a:gd name="T12" fmla="*/ 0 w 344"/>
                  <a:gd name="T13" fmla="*/ 52595 h 368"/>
                  <a:gd name="T14" fmla="*/ 52572 w 344"/>
                  <a:gd name="T15" fmla="*/ 0 h 368"/>
                  <a:gd name="T16" fmla="*/ 165931 w 344"/>
                  <a:gd name="T17" fmla="*/ 0 h 368"/>
                  <a:gd name="T18" fmla="*/ 269432 w 344"/>
                  <a:gd name="T19" fmla="*/ 27941 h 368"/>
                  <a:gd name="T20" fmla="*/ 282575 w 344"/>
                  <a:gd name="T21" fmla="*/ 36159 h 368"/>
                  <a:gd name="T22" fmla="*/ 297361 w 344"/>
                  <a:gd name="T23" fmla="*/ 27941 h 368"/>
                  <a:gd name="T24" fmla="*/ 400862 w 344"/>
                  <a:gd name="T25" fmla="*/ 0 h 368"/>
                  <a:gd name="T26" fmla="*/ 514221 w 344"/>
                  <a:gd name="T27" fmla="*/ 0 h 368"/>
                  <a:gd name="T28" fmla="*/ 565150 w 344"/>
                  <a:gd name="T29" fmla="*/ 52595 h 368"/>
                  <a:gd name="T30" fmla="*/ 565150 w 344"/>
                  <a:gd name="T31" fmla="*/ 514441 h 368"/>
                  <a:gd name="T32" fmla="*/ 514221 w 344"/>
                  <a:gd name="T33" fmla="*/ 565392 h 368"/>
                  <a:gd name="T34" fmla="*/ 499435 w 344"/>
                  <a:gd name="T35" fmla="*/ 550600 h 368"/>
                  <a:gd name="T36" fmla="*/ 514221 w 344"/>
                  <a:gd name="T37" fmla="*/ 535808 h 368"/>
                  <a:gd name="T38" fmla="*/ 535578 w 344"/>
                  <a:gd name="T39" fmla="*/ 514441 h 368"/>
                  <a:gd name="T40" fmla="*/ 535578 w 344"/>
                  <a:gd name="T41" fmla="*/ 52595 h 368"/>
                  <a:gd name="T42" fmla="*/ 514221 w 344"/>
                  <a:gd name="T43" fmla="*/ 29584 h 368"/>
                  <a:gd name="T44" fmla="*/ 400862 w 344"/>
                  <a:gd name="T45" fmla="*/ 29584 h 368"/>
                  <a:gd name="T46" fmla="*/ 312147 w 344"/>
                  <a:gd name="T47" fmla="*/ 54238 h 368"/>
                  <a:gd name="T48" fmla="*/ 290789 w 344"/>
                  <a:gd name="T49" fmla="*/ 67387 h 368"/>
                  <a:gd name="T50" fmla="*/ 276003 w 344"/>
                  <a:gd name="T51" fmla="*/ 67387 h 368"/>
                  <a:gd name="T52" fmla="*/ 253003 w 344"/>
                  <a:gd name="T53" fmla="*/ 54238 h 368"/>
                  <a:gd name="T54" fmla="*/ 165931 w 344"/>
                  <a:gd name="T55" fmla="*/ 29584 h 368"/>
                  <a:gd name="T56" fmla="*/ 52572 w 344"/>
                  <a:gd name="T57" fmla="*/ 29584 h 368"/>
                  <a:gd name="T58" fmla="*/ 29572 w 344"/>
                  <a:gd name="T59" fmla="*/ 52595 h 368"/>
                  <a:gd name="T60" fmla="*/ 29572 w 344"/>
                  <a:gd name="T61" fmla="*/ 514441 h 368"/>
                  <a:gd name="T62" fmla="*/ 52572 w 344"/>
                  <a:gd name="T63" fmla="*/ 535808 h 368"/>
                  <a:gd name="T64" fmla="*/ 165931 w 344"/>
                  <a:gd name="T65" fmla="*/ 535808 h 368"/>
                  <a:gd name="T66" fmla="*/ 269432 w 344"/>
                  <a:gd name="T67" fmla="*/ 565392 h 368"/>
                  <a:gd name="T68" fmla="*/ 282575 w 344"/>
                  <a:gd name="T69" fmla="*/ 573610 h 368"/>
                  <a:gd name="T70" fmla="*/ 297361 w 344"/>
                  <a:gd name="T71" fmla="*/ 565392 h 368"/>
                  <a:gd name="T72" fmla="*/ 400862 w 344"/>
                  <a:gd name="T73" fmla="*/ 535808 h 368"/>
                  <a:gd name="T74" fmla="*/ 415648 w 344"/>
                  <a:gd name="T75" fmla="*/ 550600 h 368"/>
                  <a:gd name="T76" fmla="*/ 400862 w 344"/>
                  <a:gd name="T77" fmla="*/ 565392 h 368"/>
                  <a:gd name="T78" fmla="*/ 312147 w 344"/>
                  <a:gd name="T79" fmla="*/ 590046 h 368"/>
                  <a:gd name="T80" fmla="*/ 290789 w 344"/>
                  <a:gd name="T81" fmla="*/ 603194 h 368"/>
                  <a:gd name="T82" fmla="*/ 282575 w 344"/>
                  <a:gd name="T83" fmla="*/ 604838 h 36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344"/>
                  <a:gd name="T127" fmla="*/ 0 h 368"/>
                  <a:gd name="T128" fmla="*/ 344 w 344"/>
                  <a:gd name="T129" fmla="*/ 368 h 36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344" h="368">
                    <a:moveTo>
                      <a:pt x="172" y="368"/>
                    </a:moveTo>
                    <a:cubicBezTo>
                      <a:pt x="171" y="368"/>
                      <a:pt x="169" y="368"/>
                      <a:pt x="168" y="367"/>
                    </a:cubicBezTo>
                    <a:cubicBezTo>
                      <a:pt x="154" y="359"/>
                      <a:pt x="154" y="359"/>
                      <a:pt x="154" y="359"/>
                    </a:cubicBezTo>
                    <a:cubicBezTo>
                      <a:pt x="138" y="349"/>
                      <a:pt x="120" y="344"/>
                      <a:pt x="101" y="344"/>
                    </a:cubicBezTo>
                    <a:cubicBezTo>
                      <a:pt x="32" y="344"/>
                      <a:pt x="32" y="344"/>
                      <a:pt x="32" y="344"/>
                    </a:cubicBezTo>
                    <a:cubicBezTo>
                      <a:pt x="14" y="344"/>
                      <a:pt x="0" y="330"/>
                      <a:pt x="0" y="31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4"/>
                      <a:pt x="14" y="0"/>
                      <a:pt x="32" y="0"/>
                    </a:cubicBezTo>
                    <a:cubicBezTo>
                      <a:pt x="101" y="0"/>
                      <a:pt x="101" y="0"/>
                      <a:pt x="101" y="0"/>
                    </a:cubicBezTo>
                    <a:cubicBezTo>
                      <a:pt x="123" y="0"/>
                      <a:pt x="145" y="6"/>
                      <a:pt x="164" y="17"/>
                    </a:cubicBezTo>
                    <a:cubicBezTo>
                      <a:pt x="172" y="22"/>
                      <a:pt x="172" y="22"/>
                      <a:pt x="172" y="22"/>
                    </a:cubicBezTo>
                    <a:cubicBezTo>
                      <a:pt x="181" y="17"/>
                      <a:pt x="181" y="17"/>
                      <a:pt x="181" y="17"/>
                    </a:cubicBezTo>
                    <a:cubicBezTo>
                      <a:pt x="200" y="6"/>
                      <a:pt x="221" y="0"/>
                      <a:pt x="244" y="0"/>
                    </a:cubicBezTo>
                    <a:cubicBezTo>
                      <a:pt x="313" y="0"/>
                      <a:pt x="313" y="0"/>
                      <a:pt x="313" y="0"/>
                    </a:cubicBezTo>
                    <a:cubicBezTo>
                      <a:pt x="330" y="0"/>
                      <a:pt x="344" y="14"/>
                      <a:pt x="344" y="32"/>
                    </a:cubicBezTo>
                    <a:cubicBezTo>
                      <a:pt x="344" y="313"/>
                      <a:pt x="344" y="313"/>
                      <a:pt x="344" y="313"/>
                    </a:cubicBezTo>
                    <a:cubicBezTo>
                      <a:pt x="344" y="330"/>
                      <a:pt x="330" y="344"/>
                      <a:pt x="313" y="344"/>
                    </a:cubicBezTo>
                    <a:cubicBezTo>
                      <a:pt x="308" y="344"/>
                      <a:pt x="304" y="340"/>
                      <a:pt x="304" y="335"/>
                    </a:cubicBezTo>
                    <a:cubicBezTo>
                      <a:pt x="304" y="330"/>
                      <a:pt x="308" y="326"/>
                      <a:pt x="313" y="326"/>
                    </a:cubicBezTo>
                    <a:cubicBezTo>
                      <a:pt x="320" y="326"/>
                      <a:pt x="326" y="320"/>
                      <a:pt x="326" y="313"/>
                    </a:cubicBezTo>
                    <a:cubicBezTo>
                      <a:pt x="326" y="32"/>
                      <a:pt x="326" y="32"/>
                      <a:pt x="326" y="32"/>
                    </a:cubicBezTo>
                    <a:cubicBezTo>
                      <a:pt x="326" y="24"/>
                      <a:pt x="320" y="18"/>
                      <a:pt x="313" y="18"/>
                    </a:cubicBezTo>
                    <a:cubicBezTo>
                      <a:pt x="244" y="18"/>
                      <a:pt x="244" y="18"/>
                      <a:pt x="244" y="18"/>
                    </a:cubicBezTo>
                    <a:cubicBezTo>
                      <a:pt x="225" y="18"/>
                      <a:pt x="206" y="23"/>
                      <a:pt x="190" y="33"/>
                    </a:cubicBezTo>
                    <a:cubicBezTo>
                      <a:pt x="177" y="41"/>
                      <a:pt x="177" y="41"/>
                      <a:pt x="177" y="41"/>
                    </a:cubicBezTo>
                    <a:cubicBezTo>
                      <a:pt x="174" y="42"/>
                      <a:pt x="170" y="42"/>
                      <a:pt x="168" y="41"/>
                    </a:cubicBezTo>
                    <a:cubicBezTo>
                      <a:pt x="154" y="33"/>
                      <a:pt x="154" y="33"/>
                      <a:pt x="154" y="33"/>
                    </a:cubicBezTo>
                    <a:cubicBezTo>
                      <a:pt x="138" y="23"/>
                      <a:pt x="120" y="18"/>
                      <a:pt x="101" y="18"/>
                    </a:cubicBezTo>
                    <a:cubicBezTo>
                      <a:pt x="32" y="18"/>
                      <a:pt x="32" y="18"/>
                      <a:pt x="32" y="18"/>
                    </a:cubicBezTo>
                    <a:cubicBezTo>
                      <a:pt x="24" y="18"/>
                      <a:pt x="18" y="24"/>
                      <a:pt x="18" y="32"/>
                    </a:cubicBezTo>
                    <a:cubicBezTo>
                      <a:pt x="18" y="313"/>
                      <a:pt x="18" y="313"/>
                      <a:pt x="18" y="313"/>
                    </a:cubicBezTo>
                    <a:cubicBezTo>
                      <a:pt x="18" y="320"/>
                      <a:pt x="24" y="326"/>
                      <a:pt x="32" y="326"/>
                    </a:cubicBezTo>
                    <a:cubicBezTo>
                      <a:pt x="101" y="326"/>
                      <a:pt x="101" y="326"/>
                      <a:pt x="101" y="326"/>
                    </a:cubicBezTo>
                    <a:cubicBezTo>
                      <a:pt x="123" y="326"/>
                      <a:pt x="145" y="332"/>
                      <a:pt x="164" y="344"/>
                    </a:cubicBezTo>
                    <a:cubicBezTo>
                      <a:pt x="172" y="349"/>
                      <a:pt x="172" y="349"/>
                      <a:pt x="172" y="349"/>
                    </a:cubicBezTo>
                    <a:cubicBezTo>
                      <a:pt x="181" y="344"/>
                      <a:pt x="181" y="344"/>
                      <a:pt x="181" y="344"/>
                    </a:cubicBezTo>
                    <a:cubicBezTo>
                      <a:pt x="200" y="332"/>
                      <a:pt x="221" y="326"/>
                      <a:pt x="244" y="326"/>
                    </a:cubicBezTo>
                    <a:cubicBezTo>
                      <a:pt x="249" y="326"/>
                      <a:pt x="253" y="330"/>
                      <a:pt x="253" y="335"/>
                    </a:cubicBezTo>
                    <a:cubicBezTo>
                      <a:pt x="253" y="340"/>
                      <a:pt x="249" y="344"/>
                      <a:pt x="244" y="344"/>
                    </a:cubicBezTo>
                    <a:cubicBezTo>
                      <a:pt x="225" y="344"/>
                      <a:pt x="206" y="349"/>
                      <a:pt x="190" y="359"/>
                    </a:cubicBezTo>
                    <a:cubicBezTo>
                      <a:pt x="177" y="367"/>
                      <a:pt x="177" y="367"/>
                      <a:pt x="177" y="367"/>
                    </a:cubicBezTo>
                    <a:cubicBezTo>
                      <a:pt x="175" y="368"/>
                      <a:pt x="174" y="368"/>
                      <a:pt x="172" y="36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Freeform 423"/>
              <p:cNvSpPr>
                <a:spLocks/>
              </p:cNvSpPr>
              <p:nvPr/>
            </p:nvSpPr>
            <p:spPr bwMode="auto">
              <a:xfrm>
                <a:off x="10063163" y="2471737"/>
                <a:ext cx="152400" cy="28575"/>
              </a:xfrm>
              <a:custGeom>
                <a:avLst/>
                <a:gdLst>
                  <a:gd name="T0" fmla="*/ 137652 w 93"/>
                  <a:gd name="T1" fmla="*/ 28575 h 18"/>
                  <a:gd name="T2" fmla="*/ 14748 w 93"/>
                  <a:gd name="T3" fmla="*/ 28575 h 18"/>
                  <a:gd name="T4" fmla="*/ 0 w 93"/>
                  <a:gd name="T5" fmla="*/ 14288 h 18"/>
                  <a:gd name="T6" fmla="*/ 14748 w 93"/>
                  <a:gd name="T7" fmla="*/ 0 h 18"/>
                  <a:gd name="T8" fmla="*/ 137652 w 93"/>
                  <a:gd name="T9" fmla="*/ 0 h 18"/>
                  <a:gd name="T10" fmla="*/ 152400 w 93"/>
                  <a:gd name="T11" fmla="*/ 14288 h 18"/>
                  <a:gd name="T12" fmla="*/ 137652 w 93"/>
                  <a:gd name="T13" fmla="*/ 2857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"/>
                  <a:gd name="T22" fmla="*/ 0 h 18"/>
                  <a:gd name="T23" fmla="*/ 93 w 93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" h="18">
                    <a:moveTo>
                      <a:pt x="84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0" y="4"/>
                      <a:pt x="5" y="0"/>
                      <a:pt x="9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9" y="0"/>
                      <a:pt x="93" y="4"/>
                      <a:pt x="93" y="9"/>
                    </a:cubicBezTo>
                    <a:cubicBezTo>
                      <a:pt x="93" y="14"/>
                      <a:pt x="89" y="18"/>
                      <a:pt x="84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Freeform 424"/>
              <p:cNvSpPr>
                <a:spLocks/>
              </p:cNvSpPr>
              <p:nvPr/>
            </p:nvSpPr>
            <p:spPr bwMode="auto">
              <a:xfrm>
                <a:off x="10063163" y="2546350"/>
                <a:ext cx="152400" cy="30163"/>
              </a:xfrm>
              <a:custGeom>
                <a:avLst/>
                <a:gdLst>
                  <a:gd name="T0" fmla="*/ 137652 w 93"/>
                  <a:gd name="T1" fmla="*/ 30163 h 18"/>
                  <a:gd name="T2" fmla="*/ 14748 w 93"/>
                  <a:gd name="T3" fmla="*/ 30163 h 18"/>
                  <a:gd name="T4" fmla="*/ 0 w 93"/>
                  <a:gd name="T5" fmla="*/ 15082 h 18"/>
                  <a:gd name="T6" fmla="*/ 14748 w 93"/>
                  <a:gd name="T7" fmla="*/ 0 h 18"/>
                  <a:gd name="T8" fmla="*/ 137652 w 93"/>
                  <a:gd name="T9" fmla="*/ 0 h 18"/>
                  <a:gd name="T10" fmla="*/ 152400 w 93"/>
                  <a:gd name="T11" fmla="*/ 15082 h 18"/>
                  <a:gd name="T12" fmla="*/ 137652 w 93"/>
                  <a:gd name="T13" fmla="*/ 301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"/>
                  <a:gd name="T22" fmla="*/ 0 h 18"/>
                  <a:gd name="T23" fmla="*/ 93 w 93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" h="18">
                    <a:moveTo>
                      <a:pt x="84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0" y="4"/>
                      <a:pt x="5" y="0"/>
                      <a:pt x="9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9" y="0"/>
                      <a:pt x="93" y="4"/>
                      <a:pt x="93" y="9"/>
                    </a:cubicBezTo>
                    <a:cubicBezTo>
                      <a:pt x="93" y="14"/>
                      <a:pt x="89" y="18"/>
                      <a:pt x="84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5" name="Freeform 425"/>
              <p:cNvSpPr>
                <a:spLocks/>
              </p:cNvSpPr>
              <p:nvPr/>
            </p:nvSpPr>
            <p:spPr bwMode="auto">
              <a:xfrm>
                <a:off x="10063163" y="2620962"/>
                <a:ext cx="152400" cy="28575"/>
              </a:xfrm>
              <a:custGeom>
                <a:avLst/>
                <a:gdLst>
                  <a:gd name="T0" fmla="*/ 137652 w 93"/>
                  <a:gd name="T1" fmla="*/ 28575 h 18"/>
                  <a:gd name="T2" fmla="*/ 14748 w 93"/>
                  <a:gd name="T3" fmla="*/ 28575 h 18"/>
                  <a:gd name="T4" fmla="*/ 0 w 93"/>
                  <a:gd name="T5" fmla="*/ 14288 h 18"/>
                  <a:gd name="T6" fmla="*/ 14748 w 93"/>
                  <a:gd name="T7" fmla="*/ 0 h 18"/>
                  <a:gd name="T8" fmla="*/ 137652 w 93"/>
                  <a:gd name="T9" fmla="*/ 0 h 18"/>
                  <a:gd name="T10" fmla="*/ 152400 w 93"/>
                  <a:gd name="T11" fmla="*/ 14288 h 18"/>
                  <a:gd name="T12" fmla="*/ 137652 w 93"/>
                  <a:gd name="T13" fmla="*/ 2857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"/>
                  <a:gd name="T22" fmla="*/ 0 h 18"/>
                  <a:gd name="T23" fmla="*/ 93 w 93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" h="18">
                    <a:moveTo>
                      <a:pt x="84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0" y="4"/>
                      <a:pt x="5" y="0"/>
                      <a:pt x="9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9" y="0"/>
                      <a:pt x="93" y="4"/>
                      <a:pt x="93" y="9"/>
                    </a:cubicBezTo>
                    <a:cubicBezTo>
                      <a:pt x="93" y="14"/>
                      <a:pt x="89" y="18"/>
                      <a:pt x="84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6" name="Freeform 426"/>
              <p:cNvSpPr>
                <a:spLocks/>
              </p:cNvSpPr>
              <p:nvPr/>
            </p:nvSpPr>
            <p:spPr bwMode="auto">
              <a:xfrm>
                <a:off x="10063163" y="2693987"/>
                <a:ext cx="152400" cy="30163"/>
              </a:xfrm>
              <a:custGeom>
                <a:avLst/>
                <a:gdLst>
                  <a:gd name="T0" fmla="*/ 137652 w 93"/>
                  <a:gd name="T1" fmla="*/ 30163 h 18"/>
                  <a:gd name="T2" fmla="*/ 14748 w 93"/>
                  <a:gd name="T3" fmla="*/ 30163 h 18"/>
                  <a:gd name="T4" fmla="*/ 0 w 93"/>
                  <a:gd name="T5" fmla="*/ 15082 h 18"/>
                  <a:gd name="T6" fmla="*/ 14748 w 93"/>
                  <a:gd name="T7" fmla="*/ 0 h 18"/>
                  <a:gd name="T8" fmla="*/ 137652 w 93"/>
                  <a:gd name="T9" fmla="*/ 0 h 18"/>
                  <a:gd name="T10" fmla="*/ 152400 w 93"/>
                  <a:gd name="T11" fmla="*/ 15082 h 18"/>
                  <a:gd name="T12" fmla="*/ 137652 w 93"/>
                  <a:gd name="T13" fmla="*/ 301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"/>
                  <a:gd name="T22" fmla="*/ 0 h 18"/>
                  <a:gd name="T23" fmla="*/ 93 w 93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" h="18">
                    <a:moveTo>
                      <a:pt x="84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0" y="4"/>
                      <a:pt x="5" y="0"/>
                      <a:pt x="9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9" y="0"/>
                      <a:pt x="93" y="4"/>
                      <a:pt x="93" y="9"/>
                    </a:cubicBezTo>
                    <a:cubicBezTo>
                      <a:pt x="93" y="14"/>
                      <a:pt x="89" y="18"/>
                      <a:pt x="84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7" name="Freeform 427"/>
              <p:cNvSpPr>
                <a:spLocks/>
              </p:cNvSpPr>
              <p:nvPr/>
            </p:nvSpPr>
            <p:spPr bwMode="auto">
              <a:xfrm>
                <a:off x="10063163" y="2770187"/>
                <a:ext cx="152400" cy="30163"/>
              </a:xfrm>
              <a:custGeom>
                <a:avLst/>
                <a:gdLst>
                  <a:gd name="T0" fmla="*/ 137652 w 93"/>
                  <a:gd name="T1" fmla="*/ 30163 h 18"/>
                  <a:gd name="T2" fmla="*/ 14748 w 93"/>
                  <a:gd name="T3" fmla="*/ 30163 h 18"/>
                  <a:gd name="T4" fmla="*/ 0 w 93"/>
                  <a:gd name="T5" fmla="*/ 15082 h 18"/>
                  <a:gd name="T6" fmla="*/ 14748 w 93"/>
                  <a:gd name="T7" fmla="*/ 0 h 18"/>
                  <a:gd name="T8" fmla="*/ 137652 w 93"/>
                  <a:gd name="T9" fmla="*/ 0 h 18"/>
                  <a:gd name="T10" fmla="*/ 152400 w 93"/>
                  <a:gd name="T11" fmla="*/ 15082 h 18"/>
                  <a:gd name="T12" fmla="*/ 137652 w 93"/>
                  <a:gd name="T13" fmla="*/ 301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"/>
                  <a:gd name="T22" fmla="*/ 0 h 18"/>
                  <a:gd name="T23" fmla="*/ 93 w 93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" h="18">
                    <a:moveTo>
                      <a:pt x="84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0" y="4"/>
                      <a:pt x="5" y="0"/>
                      <a:pt x="9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9" y="0"/>
                      <a:pt x="93" y="4"/>
                      <a:pt x="93" y="9"/>
                    </a:cubicBezTo>
                    <a:cubicBezTo>
                      <a:pt x="93" y="14"/>
                      <a:pt x="89" y="18"/>
                      <a:pt x="84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8" name="Freeform 428"/>
              <p:cNvSpPr>
                <a:spLocks/>
              </p:cNvSpPr>
              <p:nvPr/>
            </p:nvSpPr>
            <p:spPr bwMode="auto">
              <a:xfrm>
                <a:off x="10063163" y="2844800"/>
                <a:ext cx="152400" cy="28575"/>
              </a:xfrm>
              <a:custGeom>
                <a:avLst/>
                <a:gdLst>
                  <a:gd name="T0" fmla="*/ 137652 w 93"/>
                  <a:gd name="T1" fmla="*/ 28575 h 18"/>
                  <a:gd name="T2" fmla="*/ 14748 w 93"/>
                  <a:gd name="T3" fmla="*/ 28575 h 18"/>
                  <a:gd name="T4" fmla="*/ 0 w 93"/>
                  <a:gd name="T5" fmla="*/ 14288 h 18"/>
                  <a:gd name="T6" fmla="*/ 14748 w 93"/>
                  <a:gd name="T7" fmla="*/ 0 h 18"/>
                  <a:gd name="T8" fmla="*/ 137652 w 93"/>
                  <a:gd name="T9" fmla="*/ 0 h 18"/>
                  <a:gd name="T10" fmla="*/ 152400 w 93"/>
                  <a:gd name="T11" fmla="*/ 14288 h 18"/>
                  <a:gd name="T12" fmla="*/ 137652 w 93"/>
                  <a:gd name="T13" fmla="*/ 2857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3"/>
                  <a:gd name="T22" fmla="*/ 0 h 18"/>
                  <a:gd name="T23" fmla="*/ 93 w 93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3" h="18">
                    <a:moveTo>
                      <a:pt x="84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5" y="18"/>
                      <a:pt x="0" y="14"/>
                      <a:pt x="0" y="9"/>
                    </a:cubicBezTo>
                    <a:cubicBezTo>
                      <a:pt x="0" y="4"/>
                      <a:pt x="5" y="0"/>
                      <a:pt x="9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89" y="0"/>
                      <a:pt x="93" y="4"/>
                      <a:pt x="93" y="9"/>
                    </a:cubicBezTo>
                    <a:cubicBezTo>
                      <a:pt x="93" y="14"/>
                      <a:pt x="89" y="18"/>
                      <a:pt x="84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79" name="Freeform 429"/>
              <p:cNvSpPr>
                <a:spLocks/>
              </p:cNvSpPr>
              <p:nvPr/>
            </p:nvSpPr>
            <p:spPr bwMode="auto">
              <a:xfrm>
                <a:off x="10348913" y="2471737"/>
                <a:ext cx="150813" cy="28575"/>
              </a:xfrm>
              <a:custGeom>
                <a:avLst/>
                <a:gdLst>
                  <a:gd name="T0" fmla="*/ 136060 w 92"/>
                  <a:gd name="T1" fmla="*/ 28575 h 18"/>
                  <a:gd name="T2" fmla="*/ 14753 w 92"/>
                  <a:gd name="T3" fmla="*/ 28575 h 18"/>
                  <a:gd name="T4" fmla="*/ 0 w 92"/>
                  <a:gd name="T5" fmla="*/ 14288 h 18"/>
                  <a:gd name="T6" fmla="*/ 14753 w 92"/>
                  <a:gd name="T7" fmla="*/ 0 h 18"/>
                  <a:gd name="T8" fmla="*/ 136060 w 92"/>
                  <a:gd name="T9" fmla="*/ 0 h 18"/>
                  <a:gd name="T10" fmla="*/ 150813 w 92"/>
                  <a:gd name="T11" fmla="*/ 14288 h 18"/>
                  <a:gd name="T12" fmla="*/ 136060 w 92"/>
                  <a:gd name="T13" fmla="*/ 2857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8"/>
                  <a:gd name="T23" fmla="*/ 92 w 92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8">
                    <a:moveTo>
                      <a:pt x="83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8" y="0"/>
                      <a:pt x="92" y="4"/>
                      <a:pt x="92" y="9"/>
                    </a:cubicBezTo>
                    <a:cubicBezTo>
                      <a:pt x="92" y="14"/>
                      <a:pt x="88" y="18"/>
                      <a:pt x="83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0" name="Freeform 430"/>
              <p:cNvSpPr>
                <a:spLocks/>
              </p:cNvSpPr>
              <p:nvPr/>
            </p:nvSpPr>
            <p:spPr bwMode="auto">
              <a:xfrm>
                <a:off x="10348913" y="2546350"/>
                <a:ext cx="150813" cy="30163"/>
              </a:xfrm>
              <a:custGeom>
                <a:avLst/>
                <a:gdLst>
                  <a:gd name="T0" fmla="*/ 136060 w 92"/>
                  <a:gd name="T1" fmla="*/ 30163 h 18"/>
                  <a:gd name="T2" fmla="*/ 14753 w 92"/>
                  <a:gd name="T3" fmla="*/ 30163 h 18"/>
                  <a:gd name="T4" fmla="*/ 0 w 92"/>
                  <a:gd name="T5" fmla="*/ 15082 h 18"/>
                  <a:gd name="T6" fmla="*/ 14753 w 92"/>
                  <a:gd name="T7" fmla="*/ 0 h 18"/>
                  <a:gd name="T8" fmla="*/ 136060 w 92"/>
                  <a:gd name="T9" fmla="*/ 0 h 18"/>
                  <a:gd name="T10" fmla="*/ 150813 w 92"/>
                  <a:gd name="T11" fmla="*/ 15082 h 18"/>
                  <a:gd name="T12" fmla="*/ 136060 w 92"/>
                  <a:gd name="T13" fmla="*/ 301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8"/>
                  <a:gd name="T23" fmla="*/ 92 w 92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8">
                    <a:moveTo>
                      <a:pt x="83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8" y="0"/>
                      <a:pt x="92" y="4"/>
                      <a:pt x="92" y="9"/>
                    </a:cubicBezTo>
                    <a:cubicBezTo>
                      <a:pt x="92" y="14"/>
                      <a:pt x="88" y="18"/>
                      <a:pt x="83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1" name="Freeform 431"/>
              <p:cNvSpPr>
                <a:spLocks/>
              </p:cNvSpPr>
              <p:nvPr/>
            </p:nvSpPr>
            <p:spPr bwMode="auto">
              <a:xfrm>
                <a:off x="10348913" y="2620962"/>
                <a:ext cx="150813" cy="28575"/>
              </a:xfrm>
              <a:custGeom>
                <a:avLst/>
                <a:gdLst>
                  <a:gd name="T0" fmla="*/ 136060 w 92"/>
                  <a:gd name="T1" fmla="*/ 28575 h 18"/>
                  <a:gd name="T2" fmla="*/ 14753 w 92"/>
                  <a:gd name="T3" fmla="*/ 28575 h 18"/>
                  <a:gd name="T4" fmla="*/ 0 w 92"/>
                  <a:gd name="T5" fmla="*/ 14288 h 18"/>
                  <a:gd name="T6" fmla="*/ 14753 w 92"/>
                  <a:gd name="T7" fmla="*/ 0 h 18"/>
                  <a:gd name="T8" fmla="*/ 136060 w 92"/>
                  <a:gd name="T9" fmla="*/ 0 h 18"/>
                  <a:gd name="T10" fmla="*/ 150813 w 92"/>
                  <a:gd name="T11" fmla="*/ 14288 h 18"/>
                  <a:gd name="T12" fmla="*/ 136060 w 92"/>
                  <a:gd name="T13" fmla="*/ 2857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8"/>
                  <a:gd name="T23" fmla="*/ 92 w 92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8">
                    <a:moveTo>
                      <a:pt x="83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8" y="0"/>
                      <a:pt x="92" y="4"/>
                      <a:pt x="92" y="9"/>
                    </a:cubicBezTo>
                    <a:cubicBezTo>
                      <a:pt x="92" y="14"/>
                      <a:pt x="88" y="18"/>
                      <a:pt x="83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Freeform 432"/>
              <p:cNvSpPr>
                <a:spLocks/>
              </p:cNvSpPr>
              <p:nvPr/>
            </p:nvSpPr>
            <p:spPr bwMode="auto">
              <a:xfrm>
                <a:off x="10348913" y="2693987"/>
                <a:ext cx="150813" cy="30163"/>
              </a:xfrm>
              <a:custGeom>
                <a:avLst/>
                <a:gdLst>
                  <a:gd name="T0" fmla="*/ 136060 w 92"/>
                  <a:gd name="T1" fmla="*/ 30163 h 18"/>
                  <a:gd name="T2" fmla="*/ 14753 w 92"/>
                  <a:gd name="T3" fmla="*/ 30163 h 18"/>
                  <a:gd name="T4" fmla="*/ 0 w 92"/>
                  <a:gd name="T5" fmla="*/ 15082 h 18"/>
                  <a:gd name="T6" fmla="*/ 14753 w 92"/>
                  <a:gd name="T7" fmla="*/ 0 h 18"/>
                  <a:gd name="T8" fmla="*/ 136060 w 92"/>
                  <a:gd name="T9" fmla="*/ 0 h 18"/>
                  <a:gd name="T10" fmla="*/ 150813 w 92"/>
                  <a:gd name="T11" fmla="*/ 15082 h 18"/>
                  <a:gd name="T12" fmla="*/ 136060 w 92"/>
                  <a:gd name="T13" fmla="*/ 301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8"/>
                  <a:gd name="T23" fmla="*/ 92 w 92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8">
                    <a:moveTo>
                      <a:pt x="83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8" y="0"/>
                      <a:pt x="92" y="4"/>
                      <a:pt x="92" y="9"/>
                    </a:cubicBezTo>
                    <a:cubicBezTo>
                      <a:pt x="92" y="14"/>
                      <a:pt x="88" y="18"/>
                      <a:pt x="83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Freeform 433"/>
              <p:cNvSpPr>
                <a:spLocks/>
              </p:cNvSpPr>
              <p:nvPr/>
            </p:nvSpPr>
            <p:spPr bwMode="auto">
              <a:xfrm>
                <a:off x="10348913" y="2770187"/>
                <a:ext cx="150813" cy="30163"/>
              </a:xfrm>
              <a:custGeom>
                <a:avLst/>
                <a:gdLst>
                  <a:gd name="T0" fmla="*/ 136060 w 92"/>
                  <a:gd name="T1" fmla="*/ 30163 h 18"/>
                  <a:gd name="T2" fmla="*/ 14753 w 92"/>
                  <a:gd name="T3" fmla="*/ 30163 h 18"/>
                  <a:gd name="T4" fmla="*/ 0 w 92"/>
                  <a:gd name="T5" fmla="*/ 15082 h 18"/>
                  <a:gd name="T6" fmla="*/ 14753 w 92"/>
                  <a:gd name="T7" fmla="*/ 0 h 18"/>
                  <a:gd name="T8" fmla="*/ 136060 w 92"/>
                  <a:gd name="T9" fmla="*/ 0 h 18"/>
                  <a:gd name="T10" fmla="*/ 150813 w 92"/>
                  <a:gd name="T11" fmla="*/ 15082 h 18"/>
                  <a:gd name="T12" fmla="*/ 136060 w 92"/>
                  <a:gd name="T13" fmla="*/ 30163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8"/>
                  <a:gd name="T23" fmla="*/ 92 w 92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8">
                    <a:moveTo>
                      <a:pt x="83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8" y="0"/>
                      <a:pt x="92" y="4"/>
                      <a:pt x="92" y="9"/>
                    </a:cubicBezTo>
                    <a:cubicBezTo>
                      <a:pt x="92" y="14"/>
                      <a:pt x="88" y="18"/>
                      <a:pt x="83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Freeform 434"/>
              <p:cNvSpPr>
                <a:spLocks/>
              </p:cNvSpPr>
              <p:nvPr/>
            </p:nvSpPr>
            <p:spPr bwMode="auto">
              <a:xfrm>
                <a:off x="10348913" y="2844800"/>
                <a:ext cx="150813" cy="28575"/>
              </a:xfrm>
              <a:custGeom>
                <a:avLst/>
                <a:gdLst>
                  <a:gd name="T0" fmla="*/ 136060 w 92"/>
                  <a:gd name="T1" fmla="*/ 28575 h 18"/>
                  <a:gd name="T2" fmla="*/ 14753 w 92"/>
                  <a:gd name="T3" fmla="*/ 28575 h 18"/>
                  <a:gd name="T4" fmla="*/ 0 w 92"/>
                  <a:gd name="T5" fmla="*/ 14288 h 18"/>
                  <a:gd name="T6" fmla="*/ 14753 w 92"/>
                  <a:gd name="T7" fmla="*/ 0 h 18"/>
                  <a:gd name="T8" fmla="*/ 136060 w 92"/>
                  <a:gd name="T9" fmla="*/ 0 h 18"/>
                  <a:gd name="T10" fmla="*/ 150813 w 92"/>
                  <a:gd name="T11" fmla="*/ 14288 h 18"/>
                  <a:gd name="T12" fmla="*/ 136060 w 92"/>
                  <a:gd name="T13" fmla="*/ 28575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"/>
                  <a:gd name="T22" fmla="*/ 0 h 18"/>
                  <a:gd name="T23" fmla="*/ 92 w 92"/>
                  <a:gd name="T24" fmla="*/ 18 h 1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" h="18">
                    <a:moveTo>
                      <a:pt x="83" y="18"/>
                    </a:moveTo>
                    <a:cubicBezTo>
                      <a:pt x="9" y="18"/>
                      <a:pt x="9" y="18"/>
                      <a:pt x="9" y="18"/>
                    </a:cubicBezTo>
                    <a:cubicBezTo>
                      <a:pt x="4" y="18"/>
                      <a:pt x="0" y="14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88" y="0"/>
                      <a:pt x="92" y="4"/>
                      <a:pt x="92" y="9"/>
                    </a:cubicBezTo>
                    <a:cubicBezTo>
                      <a:pt x="92" y="14"/>
                      <a:pt x="88" y="18"/>
                      <a:pt x="83" y="18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85" name="组合 454"/>
            <p:cNvGrpSpPr>
              <a:grpSpLocks/>
            </p:cNvGrpSpPr>
            <p:nvPr/>
          </p:nvGrpSpPr>
          <p:grpSpPr bwMode="auto">
            <a:xfrm>
              <a:off x="7878000" y="3932764"/>
              <a:ext cx="481272" cy="325769"/>
              <a:chOff x="979488" y="1103312"/>
              <a:chExt cx="776288" cy="523876"/>
            </a:xfrm>
          </p:grpSpPr>
          <p:sp>
            <p:nvSpPr>
              <p:cNvPr id="86" name="Freeform 265"/>
              <p:cNvSpPr>
                <a:spLocks noEditPoints="1"/>
              </p:cNvSpPr>
              <p:nvPr/>
            </p:nvSpPr>
            <p:spPr bwMode="auto">
              <a:xfrm>
                <a:off x="979488" y="1103312"/>
                <a:ext cx="776288" cy="312738"/>
              </a:xfrm>
              <a:custGeom>
                <a:avLst/>
                <a:gdLst>
                  <a:gd name="T0" fmla="*/ 388144 w 472"/>
                  <a:gd name="T1" fmla="*/ 312738 h 190"/>
                  <a:gd name="T2" fmla="*/ 348672 w 472"/>
                  <a:gd name="T3" fmla="*/ 306154 h 190"/>
                  <a:gd name="T4" fmla="*/ 348672 w 472"/>
                  <a:gd name="T5" fmla="*/ 306154 h 190"/>
                  <a:gd name="T6" fmla="*/ 23025 w 472"/>
                  <a:gd name="T7" fmla="*/ 184351 h 190"/>
                  <a:gd name="T8" fmla="*/ 0 w 472"/>
                  <a:gd name="T9" fmla="*/ 158015 h 190"/>
                  <a:gd name="T10" fmla="*/ 23025 w 472"/>
                  <a:gd name="T11" fmla="*/ 130033 h 190"/>
                  <a:gd name="T12" fmla="*/ 348672 w 472"/>
                  <a:gd name="T13" fmla="*/ 8230 h 190"/>
                  <a:gd name="T14" fmla="*/ 427616 w 472"/>
                  <a:gd name="T15" fmla="*/ 8230 h 190"/>
                  <a:gd name="T16" fmla="*/ 751618 w 472"/>
                  <a:gd name="T17" fmla="*/ 130033 h 190"/>
                  <a:gd name="T18" fmla="*/ 776288 w 472"/>
                  <a:gd name="T19" fmla="*/ 158015 h 190"/>
                  <a:gd name="T20" fmla="*/ 751618 w 472"/>
                  <a:gd name="T21" fmla="*/ 184351 h 190"/>
                  <a:gd name="T22" fmla="*/ 427616 w 472"/>
                  <a:gd name="T23" fmla="*/ 306154 h 190"/>
                  <a:gd name="T24" fmla="*/ 388144 w 472"/>
                  <a:gd name="T25" fmla="*/ 312738 h 190"/>
                  <a:gd name="T26" fmla="*/ 358540 w 472"/>
                  <a:gd name="T27" fmla="*/ 278172 h 190"/>
                  <a:gd name="T28" fmla="*/ 417748 w 472"/>
                  <a:gd name="T29" fmla="*/ 278172 h 190"/>
                  <a:gd name="T30" fmla="*/ 740105 w 472"/>
                  <a:gd name="T31" fmla="*/ 158015 h 190"/>
                  <a:gd name="T32" fmla="*/ 417748 w 472"/>
                  <a:gd name="T33" fmla="*/ 36212 h 190"/>
                  <a:gd name="T34" fmla="*/ 358540 w 472"/>
                  <a:gd name="T35" fmla="*/ 36212 h 190"/>
                  <a:gd name="T36" fmla="*/ 36183 w 472"/>
                  <a:gd name="T37" fmla="*/ 158015 h 190"/>
                  <a:gd name="T38" fmla="*/ 358540 w 472"/>
                  <a:gd name="T39" fmla="*/ 278172 h 19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72"/>
                  <a:gd name="T61" fmla="*/ 0 h 190"/>
                  <a:gd name="T62" fmla="*/ 472 w 472"/>
                  <a:gd name="T63" fmla="*/ 190 h 190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72" h="190">
                    <a:moveTo>
                      <a:pt x="236" y="190"/>
                    </a:moveTo>
                    <a:cubicBezTo>
                      <a:pt x="227" y="190"/>
                      <a:pt x="218" y="189"/>
                      <a:pt x="212" y="186"/>
                    </a:cubicBezTo>
                    <a:cubicBezTo>
                      <a:pt x="212" y="186"/>
                      <a:pt x="212" y="186"/>
                      <a:pt x="212" y="186"/>
                    </a:cubicBezTo>
                    <a:cubicBezTo>
                      <a:pt x="14" y="112"/>
                      <a:pt x="14" y="112"/>
                      <a:pt x="14" y="112"/>
                    </a:cubicBezTo>
                    <a:cubicBezTo>
                      <a:pt x="2" y="107"/>
                      <a:pt x="0" y="100"/>
                      <a:pt x="0" y="96"/>
                    </a:cubicBezTo>
                    <a:cubicBezTo>
                      <a:pt x="0" y="92"/>
                      <a:pt x="2" y="84"/>
                      <a:pt x="14" y="79"/>
                    </a:cubicBezTo>
                    <a:cubicBezTo>
                      <a:pt x="212" y="5"/>
                      <a:pt x="212" y="5"/>
                      <a:pt x="212" y="5"/>
                    </a:cubicBezTo>
                    <a:cubicBezTo>
                      <a:pt x="225" y="0"/>
                      <a:pt x="247" y="0"/>
                      <a:pt x="260" y="5"/>
                    </a:cubicBezTo>
                    <a:cubicBezTo>
                      <a:pt x="457" y="79"/>
                      <a:pt x="457" y="79"/>
                      <a:pt x="457" y="79"/>
                    </a:cubicBezTo>
                    <a:cubicBezTo>
                      <a:pt x="470" y="84"/>
                      <a:pt x="472" y="92"/>
                      <a:pt x="472" y="96"/>
                    </a:cubicBezTo>
                    <a:cubicBezTo>
                      <a:pt x="472" y="100"/>
                      <a:pt x="470" y="107"/>
                      <a:pt x="457" y="112"/>
                    </a:cubicBezTo>
                    <a:cubicBezTo>
                      <a:pt x="260" y="186"/>
                      <a:pt x="260" y="186"/>
                      <a:pt x="260" y="186"/>
                    </a:cubicBezTo>
                    <a:cubicBezTo>
                      <a:pt x="253" y="189"/>
                      <a:pt x="245" y="190"/>
                      <a:pt x="236" y="190"/>
                    </a:cubicBezTo>
                    <a:close/>
                    <a:moveTo>
                      <a:pt x="218" y="169"/>
                    </a:moveTo>
                    <a:cubicBezTo>
                      <a:pt x="227" y="173"/>
                      <a:pt x="244" y="173"/>
                      <a:pt x="254" y="169"/>
                    </a:cubicBezTo>
                    <a:cubicBezTo>
                      <a:pt x="450" y="96"/>
                      <a:pt x="450" y="96"/>
                      <a:pt x="450" y="96"/>
                    </a:cubicBezTo>
                    <a:cubicBezTo>
                      <a:pt x="254" y="22"/>
                      <a:pt x="254" y="22"/>
                      <a:pt x="254" y="22"/>
                    </a:cubicBezTo>
                    <a:cubicBezTo>
                      <a:pt x="244" y="18"/>
                      <a:pt x="227" y="18"/>
                      <a:pt x="218" y="22"/>
                    </a:cubicBezTo>
                    <a:cubicBezTo>
                      <a:pt x="22" y="96"/>
                      <a:pt x="22" y="96"/>
                      <a:pt x="22" y="96"/>
                    </a:cubicBezTo>
                    <a:lnTo>
                      <a:pt x="218" y="169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87" name="Oval 266"/>
              <p:cNvSpPr>
                <a:spLocks noChangeArrowheads="1"/>
              </p:cNvSpPr>
              <p:nvPr/>
            </p:nvSpPr>
            <p:spPr bwMode="auto">
              <a:xfrm>
                <a:off x="1384301" y="1562100"/>
                <a:ext cx="66675" cy="65088"/>
              </a:xfrm>
              <a:prstGeom prst="ellipse">
                <a:avLst/>
              </a:pr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" name="Oval 267"/>
              <p:cNvSpPr>
                <a:spLocks noChangeArrowheads="1"/>
              </p:cNvSpPr>
              <p:nvPr/>
            </p:nvSpPr>
            <p:spPr bwMode="auto">
              <a:xfrm>
                <a:off x="1284288" y="1562100"/>
                <a:ext cx="65088" cy="65088"/>
              </a:xfrm>
              <a:prstGeom prst="ellipse">
                <a:avLst/>
              </a:pr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defTabSz="454025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9" name="Freeform 306"/>
              <p:cNvSpPr>
                <a:spLocks/>
              </p:cNvSpPr>
              <p:nvPr/>
            </p:nvSpPr>
            <p:spPr bwMode="auto">
              <a:xfrm>
                <a:off x="1725613" y="1243012"/>
                <a:ext cx="30163" cy="290513"/>
              </a:xfrm>
              <a:custGeom>
                <a:avLst/>
                <a:gdLst>
                  <a:gd name="T0" fmla="*/ 15082 w 18"/>
                  <a:gd name="T1" fmla="*/ 290513 h 177"/>
                  <a:gd name="T2" fmla="*/ 0 w 18"/>
                  <a:gd name="T3" fmla="*/ 275741 h 177"/>
                  <a:gd name="T4" fmla="*/ 0 w 18"/>
                  <a:gd name="T5" fmla="*/ 14772 h 177"/>
                  <a:gd name="T6" fmla="*/ 15082 w 18"/>
                  <a:gd name="T7" fmla="*/ 0 h 177"/>
                  <a:gd name="T8" fmla="*/ 30163 w 18"/>
                  <a:gd name="T9" fmla="*/ 14772 h 177"/>
                  <a:gd name="T10" fmla="*/ 30163 w 18"/>
                  <a:gd name="T11" fmla="*/ 275741 h 177"/>
                  <a:gd name="T12" fmla="*/ 15082 w 18"/>
                  <a:gd name="T13" fmla="*/ 290513 h 17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8"/>
                  <a:gd name="T22" fmla="*/ 0 h 177"/>
                  <a:gd name="T23" fmla="*/ 18 w 18"/>
                  <a:gd name="T24" fmla="*/ 177 h 17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8" h="177">
                    <a:moveTo>
                      <a:pt x="9" y="177"/>
                    </a:moveTo>
                    <a:cubicBezTo>
                      <a:pt x="4" y="177"/>
                      <a:pt x="0" y="173"/>
                      <a:pt x="0" y="16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3" y="0"/>
                      <a:pt x="18" y="4"/>
                      <a:pt x="18" y="9"/>
                    </a:cubicBezTo>
                    <a:cubicBezTo>
                      <a:pt x="18" y="168"/>
                      <a:pt x="18" y="168"/>
                      <a:pt x="18" y="168"/>
                    </a:cubicBezTo>
                    <a:cubicBezTo>
                      <a:pt x="18" y="173"/>
                      <a:pt x="13" y="177"/>
                      <a:pt x="9" y="17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0" name="Freeform 307"/>
              <p:cNvSpPr>
                <a:spLocks/>
              </p:cNvSpPr>
              <p:nvPr/>
            </p:nvSpPr>
            <p:spPr bwMode="auto">
              <a:xfrm>
                <a:off x="1404938" y="1322387"/>
                <a:ext cx="185738" cy="287338"/>
              </a:xfrm>
              <a:custGeom>
                <a:avLst/>
                <a:gdLst>
                  <a:gd name="T0" fmla="*/ 16437 w 113"/>
                  <a:gd name="T1" fmla="*/ 287338 h 175"/>
                  <a:gd name="T2" fmla="*/ 1644 w 113"/>
                  <a:gd name="T3" fmla="*/ 275844 h 175"/>
                  <a:gd name="T4" fmla="*/ 13150 w 113"/>
                  <a:gd name="T5" fmla="*/ 257783 h 175"/>
                  <a:gd name="T6" fmla="*/ 156151 w 113"/>
                  <a:gd name="T7" fmla="*/ 172403 h 175"/>
                  <a:gd name="T8" fmla="*/ 156151 w 113"/>
                  <a:gd name="T9" fmla="*/ 14777 h 175"/>
                  <a:gd name="T10" fmla="*/ 170945 w 113"/>
                  <a:gd name="T11" fmla="*/ 0 h 175"/>
                  <a:gd name="T12" fmla="*/ 185738 w 113"/>
                  <a:gd name="T13" fmla="*/ 14777 h 175"/>
                  <a:gd name="T14" fmla="*/ 185738 w 113"/>
                  <a:gd name="T15" fmla="*/ 177329 h 175"/>
                  <a:gd name="T16" fmla="*/ 182451 w 113"/>
                  <a:gd name="T17" fmla="*/ 187180 h 175"/>
                  <a:gd name="T18" fmla="*/ 19724 w 113"/>
                  <a:gd name="T19" fmla="*/ 287338 h 175"/>
                  <a:gd name="T20" fmla="*/ 16437 w 113"/>
                  <a:gd name="T21" fmla="*/ 287338 h 17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13"/>
                  <a:gd name="T34" fmla="*/ 0 h 175"/>
                  <a:gd name="T35" fmla="*/ 113 w 113"/>
                  <a:gd name="T36" fmla="*/ 175 h 17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13" h="175">
                    <a:moveTo>
                      <a:pt x="10" y="175"/>
                    </a:moveTo>
                    <a:cubicBezTo>
                      <a:pt x="6" y="175"/>
                      <a:pt x="2" y="172"/>
                      <a:pt x="1" y="168"/>
                    </a:cubicBezTo>
                    <a:cubicBezTo>
                      <a:pt x="0" y="163"/>
                      <a:pt x="3" y="158"/>
                      <a:pt x="8" y="157"/>
                    </a:cubicBezTo>
                    <a:cubicBezTo>
                      <a:pt x="42" y="150"/>
                      <a:pt x="73" y="132"/>
                      <a:pt x="95" y="105"/>
                    </a:cubicBezTo>
                    <a:cubicBezTo>
                      <a:pt x="95" y="9"/>
                      <a:pt x="95" y="9"/>
                      <a:pt x="95" y="9"/>
                    </a:cubicBezTo>
                    <a:cubicBezTo>
                      <a:pt x="95" y="4"/>
                      <a:pt x="99" y="0"/>
                      <a:pt x="104" y="0"/>
                    </a:cubicBezTo>
                    <a:cubicBezTo>
                      <a:pt x="109" y="0"/>
                      <a:pt x="113" y="4"/>
                      <a:pt x="113" y="9"/>
                    </a:cubicBezTo>
                    <a:cubicBezTo>
                      <a:pt x="113" y="108"/>
                      <a:pt x="113" y="108"/>
                      <a:pt x="113" y="108"/>
                    </a:cubicBezTo>
                    <a:cubicBezTo>
                      <a:pt x="113" y="110"/>
                      <a:pt x="113" y="112"/>
                      <a:pt x="111" y="114"/>
                    </a:cubicBezTo>
                    <a:cubicBezTo>
                      <a:pt x="86" y="145"/>
                      <a:pt x="51" y="167"/>
                      <a:pt x="12" y="175"/>
                    </a:cubicBezTo>
                    <a:cubicBezTo>
                      <a:pt x="11" y="175"/>
                      <a:pt x="10" y="175"/>
                      <a:pt x="10" y="175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91" name="Freeform 308"/>
              <p:cNvSpPr>
                <a:spLocks/>
              </p:cNvSpPr>
              <p:nvPr/>
            </p:nvSpPr>
            <p:spPr bwMode="auto">
              <a:xfrm>
                <a:off x="1144588" y="1322387"/>
                <a:ext cx="190500" cy="288925"/>
              </a:xfrm>
              <a:custGeom>
                <a:avLst/>
                <a:gdLst>
                  <a:gd name="T0" fmla="*/ 174078 w 116"/>
                  <a:gd name="T1" fmla="*/ 288925 h 176"/>
                  <a:gd name="T2" fmla="*/ 172435 w 116"/>
                  <a:gd name="T3" fmla="*/ 288925 h 176"/>
                  <a:gd name="T4" fmla="*/ 1642 w 116"/>
                  <a:gd name="T5" fmla="*/ 187145 h 176"/>
                  <a:gd name="T6" fmla="*/ 0 w 116"/>
                  <a:gd name="T7" fmla="*/ 177295 h 176"/>
                  <a:gd name="T8" fmla="*/ 0 w 116"/>
                  <a:gd name="T9" fmla="*/ 14775 h 176"/>
                  <a:gd name="T10" fmla="*/ 14780 w 116"/>
                  <a:gd name="T11" fmla="*/ 0 h 176"/>
                  <a:gd name="T12" fmla="*/ 29560 w 116"/>
                  <a:gd name="T13" fmla="*/ 14775 h 176"/>
                  <a:gd name="T14" fmla="*/ 29560 w 116"/>
                  <a:gd name="T15" fmla="*/ 172370 h 176"/>
                  <a:gd name="T16" fmla="*/ 177362 w 116"/>
                  <a:gd name="T17" fmla="*/ 259376 h 176"/>
                  <a:gd name="T18" fmla="*/ 188858 w 116"/>
                  <a:gd name="T19" fmla="*/ 277434 h 176"/>
                  <a:gd name="T20" fmla="*/ 174078 w 116"/>
                  <a:gd name="T21" fmla="*/ 288925 h 1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16"/>
                  <a:gd name="T34" fmla="*/ 0 h 176"/>
                  <a:gd name="T35" fmla="*/ 116 w 116"/>
                  <a:gd name="T36" fmla="*/ 176 h 1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16" h="176">
                    <a:moveTo>
                      <a:pt x="106" y="176"/>
                    </a:moveTo>
                    <a:cubicBezTo>
                      <a:pt x="106" y="176"/>
                      <a:pt x="105" y="176"/>
                      <a:pt x="105" y="176"/>
                    </a:cubicBezTo>
                    <a:cubicBezTo>
                      <a:pt x="64" y="168"/>
                      <a:pt x="27" y="146"/>
                      <a:pt x="1" y="114"/>
                    </a:cubicBezTo>
                    <a:cubicBezTo>
                      <a:pt x="0" y="112"/>
                      <a:pt x="0" y="110"/>
                      <a:pt x="0" y="108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4"/>
                      <a:pt x="4" y="0"/>
                      <a:pt x="9" y="0"/>
                    </a:cubicBezTo>
                    <a:cubicBezTo>
                      <a:pt x="14" y="0"/>
                      <a:pt x="18" y="4"/>
                      <a:pt x="18" y="9"/>
                    </a:cubicBezTo>
                    <a:cubicBezTo>
                      <a:pt x="18" y="105"/>
                      <a:pt x="18" y="105"/>
                      <a:pt x="18" y="105"/>
                    </a:cubicBezTo>
                    <a:cubicBezTo>
                      <a:pt x="41" y="133"/>
                      <a:pt x="73" y="152"/>
                      <a:pt x="108" y="158"/>
                    </a:cubicBezTo>
                    <a:cubicBezTo>
                      <a:pt x="113" y="159"/>
                      <a:pt x="116" y="164"/>
                      <a:pt x="115" y="169"/>
                    </a:cubicBezTo>
                    <a:cubicBezTo>
                      <a:pt x="114" y="173"/>
                      <a:pt x="111" y="176"/>
                      <a:pt x="106" y="17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139" b="0" i="0" u="none" strike="noStrike" kern="120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Calibri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</p:grp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786479" y="2022776"/>
              <a:ext cx="684000" cy="684000"/>
            </a:xfrm>
            <a:prstGeom prst="ellipse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380"/>
            <a:stretch/>
          </p:blipFill>
          <p:spPr>
            <a:xfrm>
              <a:off x="7807638" y="3756990"/>
              <a:ext cx="684000" cy="684000"/>
            </a:xfrm>
            <a:prstGeom prst="ellipse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794435" y="3751961"/>
              <a:ext cx="684000" cy="684000"/>
            </a:xfrm>
            <a:prstGeom prst="ellipse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793538" y="3751961"/>
              <a:ext cx="684000" cy="684000"/>
            </a:xfrm>
            <a:prstGeom prst="ellipse">
              <a:avLst/>
            </a:prstGeom>
          </p:spPr>
        </p:pic>
      </p:grpSp>
      <p:sp>
        <p:nvSpPr>
          <p:cNvPr id="66" name="副标题 1">
            <a:extLst>
              <a:ext uri="{FF2B5EF4-FFF2-40B4-BE49-F238E27FC236}">
                <a16:creationId xmlns:a16="http://schemas.microsoft.com/office/drawing/2014/main" id="{C763B449-D4A9-4669-9D84-D088FD9C8762}"/>
              </a:ext>
            </a:extLst>
          </p:cNvPr>
          <p:cNvSpPr txBox="1">
            <a:spLocks/>
          </p:cNvSpPr>
          <p:nvPr/>
        </p:nvSpPr>
        <p:spPr>
          <a:xfrm>
            <a:off x="747030" y="494262"/>
            <a:ext cx="2154436" cy="43075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lvl1pPr marL="296950" indent="-296950" algn="l" defTabSz="1187798" rtl="0" eaLnBrk="1" latinLnBrk="0" hangingPunct="1">
              <a:lnSpc>
                <a:spcPct val="90000"/>
              </a:lnSpc>
              <a:spcBef>
                <a:spcPts val="1299"/>
              </a:spcBef>
              <a:buFont typeface="Arial" panose="020B0604020202020204" pitchFamily="34" charset="0"/>
              <a:buChar char="•"/>
              <a:defRPr sz="363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849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7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648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5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87323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zh-CN" altLang="en-US" sz="2799" dirty="0">
                <a:solidFill>
                  <a:srgbClr val="1D1D1A"/>
                </a:solidFill>
                <a:latin typeface="+mj-ea"/>
                <a:ea typeface="+mj-ea"/>
                <a:cs typeface="+mn-ea"/>
                <a:sym typeface="微软雅黑" panose="020B0503020204020204" pitchFamily="34" charset="-122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06402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副标题 1">
            <a:extLst>
              <a:ext uri="{FF2B5EF4-FFF2-40B4-BE49-F238E27FC236}">
                <a16:creationId xmlns:a16="http://schemas.microsoft.com/office/drawing/2014/main" id="{56B4E16E-81FF-4B28-80B5-1493B9CA50E9}"/>
              </a:ext>
            </a:extLst>
          </p:cNvPr>
          <p:cNvSpPr txBox="1">
            <a:spLocks/>
          </p:cNvSpPr>
          <p:nvPr/>
        </p:nvSpPr>
        <p:spPr>
          <a:xfrm>
            <a:off x="739214" y="494262"/>
            <a:ext cx="10772180" cy="430759"/>
          </a:xfrm>
          <a:prstGeom prst="rect">
            <a:avLst/>
          </a:prstGeom>
        </p:spPr>
        <p:txBody>
          <a:bodyPr vert="horz" wrap="none" lIns="0" tIns="0" rIns="0" bIns="0" anchor="ctr" anchorCtr="0">
            <a:spAutoFit/>
          </a:bodyPr>
          <a:lstStyle>
            <a:defPPr>
              <a:defRPr lang="en-US"/>
            </a:defPPr>
            <a:lvl1pPr lvl="0" indent="0" defTabSz="118779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>
                <a:solidFill>
                  <a:srgbClr val="1D1D1A"/>
                </a:solidFill>
                <a:cs typeface="+mn-ea"/>
              </a:defRPr>
            </a:lvl1pPr>
            <a:lvl2pPr marL="890849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18"/>
            </a:lvl2pPr>
            <a:lvl3pPr marL="14847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598"/>
            </a:lvl3pPr>
            <a:lvl4pPr marL="2078648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4pPr>
            <a:lvl5pPr marL="26725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5pPr>
            <a:lvl6pPr marL="3266447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6pPr>
            <a:lvl7pPr marL="3860346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7pPr>
            <a:lvl8pPr marL="4454245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8pPr>
            <a:lvl9pPr marL="5048144" indent="-296950" defTabSz="1187798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/>
            </a:lvl9pPr>
          </a:lstStyle>
          <a:p>
            <a:pPr defTabSz="1187323">
              <a:defRPr/>
            </a:pPr>
            <a:r>
              <a:rPr lang="zh-CN" altLang="en-US" sz="2799" dirty="0">
                <a:latin typeface="+mj-ea"/>
                <a:ea typeface="+mj-ea"/>
              </a:rPr>
              <a:t>期待您的参与！</a:t>
            </a:r>
            <a:r>
              <a:rPr lang="zh-CN" altLang="en-US" sz="2799" dirty="0">
                <a:latin typeface="+mj-ea"/>
                <a:ea typeface="+mj-ea"/>
                <a:sym typeface="微软雅黑" panose="020B0503020204020204" pitchFamily="34" charset="-122"/>
              </a:rPr>
              <a:t/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DD7DC3-652C-4744-9DFF-54F14A75CEEC}"/>
              </a:ext>
            </a:extLst>
          </p:cNvPr>
          <p:cNvSpPr txBox="1"/>
          <p:nvPr/>
        </p:nvSpPr>
        <p:spPr>
          <a:xfrm>
            <a:off x="7203328" y="6134428"/>
            <a:ext cx="4127733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112"/>
            <a:r>
              <a:rPr kumimoji="1" lang="zh-CN" altLang="en-US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粽叶飘香，代码传情！祝大家端午安康！</a:t>
            </a:r>
            <a:r>
              <a:rPr kumimoji="1" lang="en-US" altLang="zh-CN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kumimoji="1" lang="zh-CN" altLang="en-US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kumimoji="1" lang="en-US" altLang="zh-CN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kumimoji="1" lang="zh-CN" altLang="en-US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kumimoji="1" lang="en-US" altLang="zh-CN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kumimoji="1" lang="zh-CN" altLang="en-US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kumimoji="1" lang="en-US" altLang="zh-CN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kumimoji="1" lang="zh-CN" altLang="en-US" sz="900" i="1" dirty="0">
                <a:solidFill>
                  <a:srgbClr val="666666">
                    <a:lumMod val="75000"/>
                  </a:srgb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kumimoji="1" lang="en-US" altLang="zh-CN" sz="900" i="1" dirty="0">
              <a:solidFill>
                <a:srgbClr val="666666">
                  <a:lumMod val="75000"/>
                </a:srgb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730907D8-D537-491D-8F29-3157933E8F58}"/>
              </a:ext>
            </a:extLst>
          </p:cNvPr>
          <p:cNvGrpSpPr/>
          <p:nvPr/>
        </p:nvGrpSpPr>
        <p:grpSpPr>
          <a:xfrm>
            <a:off x="5265798" y="2819207"/>
            <a:ext cx="1677864" cy="1552491"/>
            <a:chOff x="4425749" y="1608223"/>
            <a:chExt cx="3198720" cy="2959706"/>
          </a:xfrm>
        </p:grpSpPr>
        <p:pic>
          <p:nvPicPr>
            <p:cNvPr id="92" name="图片 91">
              <a:extLst>
                <a:ext uri="{FF2B5EF4-FFF2-40B4-BE49-F238E27FC236}">
                  <a16:creationId xmlns:a16="http://schemas.microsoft.com/office/drawing/2014/main" id="{A9270A8B-3747-438E-9DDB-6EE51B20F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309" y="2016514"/>
              <a:ext cx="2133600" cy="2143125"/>
            </a:xfrm>
            <a:prstGeom prst="rect">
              <a:avLst/>
            </a:prstGeom>
          </p:spPr>
        </p:pic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D799DB49-8025-4A6E-B38F-8DB2F2981E8E}"/>
                </a:ext>
              </a:extLst>
            </p:cNvPr>
            <p:cNvSpPr/>
            <p:nvPr/>
          </p:nvSpPr>
          <p:spPr>
            <a:xfrm>
              <a:off x="5200069" y="2518690"/>
              <a:ext cx="1441420" cy="1138773"/>
            </a:xfrm>
            <a:prstGeom prst="rect">
              <a:avLst/>
            </a:prstGeom>
          </p:spPr>
          <p:txBody>
            <a:bodyPr wrap="none" anchor="ctr" anchorCtr="0">
              <a:noAutofit/>
            </a:bodyPr>
            <a:lstStyle/>
            <a:p>
              <a:pPr algn="ctr" defTabSz="914112"/>
              <a:r>
                <a:rPr lang="zh-CN" altLang="en-US" sz="1399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sym typeface="Arial" panose="020B0604020202020204" pitchFamily="34" charset="0"/>
                </a:rPr>
                <a:t>智能世界</a:t>
              </a:r>
              <a:br>
                <a:rPr lang="en-US" altLang="zh-CN" sz="1399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sym typeface="Arial" panose="020B0604020202020204" pitchFamily="34" charset="0"/>
                </a:rPr>
              </a:br>
              <a:r>
                <a:rPr lang="en-US" altLang="zh-CN" sz="2799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/>
                  <a:ea typeface="微软雅黑"/>
                  <a:sym typeface="Arial" panose="020B0604020202020204" pitchFamily="34" charset="0"/>
                </a:rPr>
                <a:t>2030</a:t>
              </a:r>
              <a:endParaRPr lang="zh-CN" altLang="en-US" sz="2799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微软雅黑"/>
                <a:sym typeface="Arial" panose="020B0604020202020204" pitchFamily="34" charset="0"/>
              </a:endParaRPr>
            </a:p>
          </p:txBody>
        </p:sp>
        <p:grpSp>
          <p:nvGrpSpPr>
            <p:cNvPr id="106" name="组合 105">
              <a:extLst>
                <a:ext uri="{FF2B5EF4-FFF2-40B4-BE49-F238E27FC236}">
                  <a16:creationId xmlns:a16="http://schemas.microsoft.com/office/drawing/2014/main" id="{56E076F5-3EA1-4306-A44B-779584A0EB8B}"/>
                </a:ext>
              </a:extLst>
            </p:cNvPr>
            <p:cNvGrpSpPr/>
            <p:nvPr/>
          </p:nvGrpSpPr>
          <p:grpSpPr>
            <a:xfrm>
              <a:off x="4425749" y="1608223"/>
              <a:ext cx="3198720" cy="2959706"/>
              <a:chOff x="4425749" y="1608223"/>
              <a:chExt cx="3198720" cy="2959706"/>
            </a:xfrm>
          </p:grpSpPr>
          <p:sp>
            <p:nvSpPr>
              <p:cNvPr id="107" name="任意多边形 3">
                <a:extLst>
                  <a:ext uri="{FF2B5EF4-FFF2-40B4-BE49-F238E27FC236}">
                    <a16:creationId xmlns:a16="http://schemas.microsoft.com/office/drawing/2014/main" id="{14F80E8B-9492-4263-86A9-0157FFA578A8}"/>
                  </a:ext>
                </a:extLst>
              </p:cNvPr>
              <p:cNvSpPr/>
              <p:nvPr/>
            </p:nvSpPr>
            <p:spPr>
              <a:xfrm>
                <a:off x="6547395" y="2361843"/>
                <a:ext cx="1077074" cy="1408161"/>
              </a:xfrm>
              <a:custGeom>
                <a:avLst/>
                <a:gdLst>
                  <a:gd name="connsiteX0" fmla="*/ 0 w 1077074"/>
                  <a:gd name="connsiteY0" fmla="*/ 0 h 1408161"/>
                  <a:gd name="connsiteX1" fmla="*/ 1077074 w 1077074"/>
                  <a:gd name="connsiteY1" fmla="*/ 0 h 1408161"/>
                  <a:gd name="connsiteX2" fmla="*/ 1077074 w 1077074"/>
                  <a:gd name="connsiteY2" fmla="*/ 1408161 h 1408161"/>
                  <a:gd name="connsiteX3" fmla="*/ 0 w 1077074"/>
                  <a:gd name="connsiteY3" fmla="*/ 1408161 h 1408161"/>
                  <a:gd name="connsiteX4" fmla="*/ 0 w 1077074"/>
                  <a:gd name="connsiteY4" fmla="*/ 0 h 1408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77074" h="1408161">
                    <a:moveTo>
                      <a:pt x="0" y="0"/>
                    </a:moveTo>
                    <a:lnTo>
                      <a:pt x="1077074" y="0"/>
                    </a:lnTo>
                    <a:lnTo>
                      <a:pt x="1077074" y="1408161"/>
                    </a:lnTo>
                    <a:lnTo>
                      <a:pt x="0" y="140816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spcFirstLastPara="0" vert="horz" wrap="square" lIns="17773" tIns="17773" rIns="17773" bIns="17773" numCol="1" spcCol="1270" anchor="ctr" anchorCtr="0">
                <a:noAutofit/>
              </a:bodyPr>
              <a:lstStyle/>
              <a:p>
                <a:pPr algn="ctr" defTabSz="62205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endParaRPr lang="zh-CN" altLang="en-US" sz="1399" kern="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微软雅黑" panose="020B0503020204020204" pitchFamily="34" charset="-122"/>
                  <a:ea typeface="微软雅黑"/>
                </a:endParaRPr>
              </a:p>
            </p:txBody>
          </p:sp>
          <p:sp>
            <p:nvSpPr>
              <p:cNvPr id="108" name="环形箭头 4">
                <a:extLst>
                  <a:ext uri="{FF2B5EF4-FFF2-40B4-BE49-F238E27FC236}">
                    <a16:creationId xmlns:a16="http://schemas.microsoft.com/office/drawing/2014/main" id="{15D43DD6-2D11-411F-B8E1-E54F52EC3BDB}"/>
                  </a:ext>
                </a:extLst>
              </p:cNvPr>
              <p:cNvSpPr/>
              <p:nvPr/>
            </p:nvSpPr>
            <p:spPr>
              <a:xfrm>
                <a:off x="4472240" y="1670195"/>
                <a:ext cx="2897734" cy="2897734"/>
              </a:xfrm>
              <a:prstGeom prst="circularArrow">
                <a:avLst>
                  <a:gd name="adj1" fmla="val 9476"/>
                  <a:gd name="adj2" fmla="val 684342"/>
                  <a:gd name="adj3" fmla="val 7970050"/>
                  <a:gd name="adj4" fmla="val 2065599"/>
                  <a:gd name="adj5" fmla="val 11055"/>
                </a:avLst>
              </a:prstGeom>
              <a:gradFill rotWithShape="0">
                <a:gsLst>
                  <a:gs pos="0">
                    <a:srgbClr val="FFFFFF">
                      <a:lumMod val="95000"/>
                      <a:alpha val="0"/>
                    </a:srgbClr>
                  </a:gs>
                  <a:gs pos="100000">
                    <a:srgbClr val="C7000B"/>
                  </a:gs>
                </a:gsLst>
                <a:lin ang="10800000" scaled="0"/>
              </a:gradFill>
              <a:ln>
                <a:noFill/>
              </a:ln>
              <a:effectLst/>
            </p:spPr>
          </p:sp>
          <p:sp>
            <p:nvSpPr>
              <p:cNvPr id="109" name="任意多边形 5">
                <a:extLst>
                  <a:ext uri="{FF2B5EF4-FFF2-40B4-BE49-F238E27FC236}">
                    <a16:creationId xmlns:a16="http://schemas.microsoft.com/office/drawing/2014/main" id="{2D02D28F-54A3-4405-A839-38ED2CF0BE9D}"/>
                  </a:ext>
                </a:extLst>
              </p:cNvPr>
              <p:cNvSpPr/>
              <p:nvPr/>
            </p:nvSpPr>
            <p:spPr>
              <a:xfrm>
                <a:off x="4425749" y="2383768"/>
                <a:ext cx="641346" cy="1408161"/>
              </a:xfrm>
              <a:custGeom>
                <a:avLst/>
                <a:gdLst>
                  <a:gd name="connsiteX0" fmla="*/ 0 w 641346"/>
                  <a:gd name="connsiteY0" fmla="*/ 0 h 1408161"/>
                  <a:gd name="connsiteX1" fmla="*/ 641346 w 641346"/>
                  <a:gd name="connsiteY1" fmla="*/ 0 h 1408161"/>
                  <a:gd name="connsiteX2" fmla="*/ 641346 w 641346"/>
                  <a:gd name="connsiteY2" fmla="*/ 1408161 h 1408161"/>
                  <a:gd name="connsiteX3" fmla="*/ 0 w 641346"/>
                  <a:gd name="connsiteY3" fmla="*/ 1408161 h 1408161"/>
                  <a:gd name="connsiteX4" fmla="*/ 0 w 641346"/>
                  <a:gd name="connsiteY4" fmla="*/ 0 h 1408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41346" h="1408161">
                    <a:moveTo>
                      <a:pt x="0" y="0"/>
                    </a:moveTo>
                    <a:lnTo>
                      <a:pt x="641346" y="0"/>
                    </a:lnTo>
                    <a:lnTo>
                      <a:pt x="641346" y="1408161"/>
                    </a:lnTo>
                    <a:lnTo>
                      <a:pt x="0" y="1408161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</p:spPr>
            <p:txBody>
              <a:bodyPr spcFirstLastPara="0" vert="horz" wrap="square" lIns="17773" tIns="17773" rIns="17773" bIns="17773" numCol="1" spcCol="1270" anchor="ctr" anchorCtr="0">
                <a:noAutofit/>
              </a:bodyPr>
              <a:lstStyle/>
              <a:p>
                <a:pPr algn="ctr" defTabSz="622051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defRPr/>
                </a:pPr>
                <a:endParaRPr lang="zh-CN" altLang="en-US" sz="1399" kern="0" dirty="0">
                  <a:solidFill>
                    <a:sysClr val="windowText" lastClr="000000">
                      <a:hueOff val="0"/>
                      <a:satOff val="0"/>
                      <a:lumOff val="0"/>
                      <a:alphaOff val="0"/>
                    </a:sysClr>
                  </a:solidFill>
                  <a:latin typeface="微软雅黑" panose="020B0503020204020204" pitchFamily="34" charset="-122"/>
                  <a:ea typeface="微软雅黑"/>
                </a:endParaRPr>
              </a:p>
            </p:txBody>
          </p:sp>
          <p:sp>
            <p:nvSpPr>
              <p:cNvPr id="110" name="环形箭头 6">
                <a:extLst>
                  <a:ext uri="{FF2B5EF4-FFF2-40B4-BE49-F238E27FC236}">
                    <a16:creationId xmlns:a16="http://schemas.microsoft.com/office/drawing/2014/main" id="{F94688C0-5D7D-4F70-9A99-C738AA0DB9C6}"/>
                  </a:ext>
                </a:extLst>
              </p:cNvPr>
              <p:cNvSpPr/>
              <p:nvPr/>
            </p:nvSpPr>
            <p:spPr>
              <a:xfrm>
                <a:off x="4471912" y="1608223"/>
                <a:ext cx="2897733" cy="2897733"/>
              </a:xfrm>
              <a:prstGeom prst="circularArrow">
                <a:avLst>
                  <a:gd name="adj1" fmla="val 9476"/>
                  <a:gd name="adj2" fmla="val 684342"/>
                  <a:gd name="adj3" fmla="val 18686973"/>
                  <a:gd name="adj4" fmla="val 12947283"/>
                  <a:gd name="adj5" fmla="val 11055"/>
                </a:avLst>
              </a:prstGeom>
              <a:gradFill flip="none" rotWithShape="1">
                <a:gsLst>
                  <a:gs pos="0">
                    <a:srgbClr val="FFFFFF">
                      <a:lumMod val="95000"/>
                      <a:alpha val="0"/>
                    </a:srgbClr>
                  </a:gs>
                  <a:gs pos="100000">
                    <a:srgbClr val="C7000B"/>
                  </a:gs>
                </a:gsLst>
                <a:lin ang="0" scaled="1"/>
                <a:tileRect/>
              </a:gradFill>
              <a:ln>
                <a:noFill/>
              </a:ln>
              <a:effectLst/>
            </p:spPr>
          </p:sp>
        </p:grpSp>
      </p:grpSp>
      <p:pic>
        <p:nvPicPr>
          <p:cNvPr id="147" name="Picture 19" descr="Picture 19">
            <a:extLst>
              <a:ext uri="{FF2B5EF4-FFF2-40B4-BE49-F238E27FC236}">
                <a16:creationId xmlns:a16="http://schemas.microsoft.com/office/drawing/2014/main" id="{253B48BC-824B-42C7-BB04-A8CD58FDAD25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grayscl/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759499" y="2908035"/>
            <a:ext cx="4741076" cy="13748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19" descr="Picture 19">
            <a:extLst>
              <a:ext uri="{FF2B5EF4-FFF2-40B4-BE49-F238E27FC236}">
                <a16:creationId xmlns:a16="http://schemas.microsoft.com/office/drawing/2014/main" id="{8C81B4C2-6142-43C5-AA23-E81FB5C4DCD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grayscl/>
            <a:alphaModFix amt="3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 flipH="1">
            <a:off x="2708883" y="2908035"/>
            <a:ext cx="4741076" cy="137483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F7217002-0A05-4764-9547-209AF0CFE5E0}"/>
              </a:ext>
            </a:extLst>
          </p:cNvPr>
          <p:cNvGrpSpPr/>
          <p:nvPr/>
        </p:nvGrpSpPr>
        <p:grpSpPr>
          <a:xfrm>
            <a:off x="732592" y="1356465"/>
            <a:ext cx="10744276" cy="4477974"/>
            <a:chOff x="730495" y="1456979"/>
            <a:chExt cx="10748473" cy="447972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9CF1506-453E-4761-ABCF-CA2DCE0746C5}"/>
                </a:ext>
              </a:extLst>
            </p:cNvPr>
            <p:cNvGrpSpPr/>
            <p:nvPr/>
          </p:nvGrpSpPr>
          <p:grpSpPr>
            <a:xfrm>
              <a:off x="7563779" y="2706380"/>
              <a:ext cx="3915189" cy="731520"/>
              <a:chOff x="7563779" y="2706380"/>
              <a:chExt cx="3915189" cy="731520"/>
            </a:xfrm>
          </p:grpSpPr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43D14D10-45A3-415A-BF63-004038156EBA}"/>
                  </a:ext>
                </a:extLst>
              </p:cNvPr>
              <p:cNvSpPr/>
              <p:nvPr/>
            </p:nvSpPr>
            <p:spPr>
              <a:xfrm>
                <a:off x="8187128" y="2706380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企业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：制造业工人短缺 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790</a:t>
                </a: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万</a:t>
                </a:r>
                <a:endParaRPr lang="en-US" altLang="zh-CN" sz="1200" b="1" kern="0" spc="5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  <a:sym typeface="Arial" panose="020B0604020202020204" pitchFamily="34" charset="0"/>
                </a:endParaRPr>
              </a:p>
              <a:p>
                <a:pPr algn="ctr" defTabSz="913623">
                  <a:spcAft>
                    <a:spcPts val="900"/>
                  </a:spcAft>
                </a:pP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新生产力重塑生产模式，增强企业韧性</a:t>
                </a:r>
              </a:p>
            </p:txBody>
          </p:sp>
          <p:grpSp>
            <p:nvGrpSpPr>
              <p:cNvPr id="228" name="组合 227">
                <a:extLst>
                  <a:ext uri="{FF2B5EF4-FFF2-40B4-BE49-F238E27FC236}">
                    <a16:creationId xmlns:a16="http://schemas.microsoft.com/office/drawing/2014/main" id="{4BE72473-43F7-4983-AAFC-33AB5250F70F}"/>
                  </a:ext>
                </a:extLst>
              </p:cNvPr>
              <p:cNvGrpSpPr/>
              <p:nvPr/>
            </p:nvGrpSpPr>
            <p:grpSpPr>
              <a:xfrm>
                <a:off x="7563779" y="2797820"/>
                <a:ext cx="548640" cy="548640"/>
                <a:chOff x="7230663" y="2786406"/>
                <a:chExt cx="548640" cy="548640"/>
              </a:xfrm>
            </p:grpSpPr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7460977F-95D1-48B4-8655-F1810DBFE43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30663" y="2786406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230" name="组合 329">
                  <a:extLst>
                    <a:ext uri="{FF2B5EF4-FFF2-40B4-BE49-F238E27FC236}">
                      <a16:creationId xmlns:a16="http://schemas.microsoft.com/office/drawing/2014/main" id="{5C3FC0AA-3D92-4AAA-90AB-E0003B40AF18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7381591" y="2837296"/>
                  <a:ext cx="246784" cy="446860"/>
                  <a:chOff x="7610475" y="2085976"/>
                  <a:chExt cx="452439" cy="819150"/>
                </a:xfrm>
                <a:solidFill>
                  <a:schemeClr val="tx2">
                    <a:lumMod val="50000"/>
                  </a:schemeClr>
                </a:solidFill>
              </p:grpSpPr>
              <p:sp>
                <p:nvSpPr>
                  <p:cNvPr id="231" name="Freeform 216">
                    <a:extLst>
                      <a:ext uri="{FF2B5EF4-FFF2-40B4-BE49-F238E27FC236}">
                        <a16:creationId xmlns:a16="http://schemas.microsoft.com/office/drawing/2014/main" id="{0E06DF2C-8FD9-4A73-B1D0-5881BA4E129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772401" y="2193926"/>
                    <a:ext cx="50800" cy="52388"/>
                  </a:xfrm>
                  <a:custGeom>
                    <a:avLst/>
                    <a:gdLst>
                      <a:gd name="T0" fmla="*/ 2147483647 w 124"/>
                      <a:gd name="T1" fmla="*/ 2147483647 h 124"/>
                      <a:gd name="T2" fmla="*/ 2147483647 w 124"/>
                      <a:gd name="T3" fmla="*/ 2147483647 h 124"/>
                      <a:gd name="T4" fmla="*/ 2147483647 w 124"/>
                      <a:gd name="T5" fmla="*/ 2147483647 h 124"/>
                      <a:gd name="T6" fmla="*/ 0 w 124"/>
                      <a:gd name="T7" fmla="*/ 2147483647 h 124"/>
                      <a:gd name="T8" fmla="*/ 2147483647 w 124"/>
                      <a:gd name="T9" fmla="*/ 0 h 124"/>
                      <a:gd name="T10" fmla="*/ 2147483647 w 124"/>
                      <a:gd name="T11" fmla="*/ 2147483647 h 124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24"/>
                      <a:gd name="T19" fmla="*/ 0 h 124"/>
                      <a:gd name="T20" fmla="*/ 124 w 124"/>
                      <a:gd name="T21" fmla="*/ 124 h 124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24" h="124">
                        <a:moveTo>
                          <a:pt x="124" y="62"/>
                        </a:moveTo>
                        <a:lnTo>
                          <a:pt x="124" y="62"/>
                        </a:lnTo>
                        <a:cubicBezTo>
                          <a:pt x="124" y="96"/>
                          <a:pt x="96" y="124"/>
                          <a:pt x="62" y="124"/>
                        </a:cubicBezTo>
                        <a:cubicBezTo>
                          <a:pt x="27" y="124"/>
                          <a:pt x="0" y="96"/>
                          <a:pt x="0" y="62"/>
                        </a:cubicBezTo>
                        <a:cubicBezTo>
                          <a:pt x="0" y="28"/>
                          <a:pt x="27" y="0"/>
                          <a:pt x="62" y="0"/>
                        </a:cubicBezTo>
                        <a:cubicBezTo>
                          <a:pt x="96" y="0"/>
                          <a:pt x="124" y="28"/>
                          <a:pt x="124" y="6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2" name="Freeform 217">
                    <a:extLst>
                      <a:ext uri="{FF2B5EF4-FFF2-40B4-BE49-F238E27FC236}">
                        <a16:creationId xmlns:a16="http://schemas.microsoft.com/office/drawing/2014/main" id="{80E29222-506B-4331-B995-AD0C03F27EC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861301" y="2260601"/>
                    <a:ext cx="201613" cy="225425"/>
                  </a:xfrm>
                  <a:custGeom>
                    <a:avLst/>
                    <a:gdLst>
                      <a:gd name="T0" fmla="*/ 2147483647 w 482"/>
                      <a:gd name="T1" fmla="*/ 2147483647 h 537"/>
                      <a:gd name="T2" fmla="*/ 2147483647 w 482"/>
                      <a:gd name="T3" fmla="*/ 2147483647 h 537"/>
                      <a:gd name="T4" fmla="*/ 2147483647 w 482"/>
                      <a:gd name="T5" fmla="*/ 2147483647 h 537"/>
                      <a:gd name="T6" fmla="*/ 2147483647 w 482"/>
                      <a:gd name="T7" fmla="*/ 2147483647 h 537"/>
                      <a:gd name="T8" fmla="*/ 2147483647 w 482"/>
                      <a:gd name="T9" fmla="*/ 2147483647 h 537"/>
                      <a:gd name="T10" fmla="*/ 2147483647 w 482"/>
                      <a:gd name="T11" fmla="*/ 2147483647 h 537"/>
                      <a:gd name="T12" fmla="*/ 2147483647 w 482"/>
                      <a:gd name="T13" fmla="*/ 2147483647 h 537"/>
                      <a:gd name="T14" fmla="*/ 2147483647 w 482"/>
                      <a:gd name="T15" fmla="*/ 2147483647 h 537"/>
                      <a:gd name="T16" fmla="*/ 2147483647 w 482"/>
                      <a:gd name="T17" fmla="*/ 2147483647 h 537"/>
                      <a:gd name="T18" fmla="*/ 2147483647 w 482"/>
                      <a:gd name="T19" fmla="*/ 2147483647 h 537"/>
                      <a:gd name="T20" fmla="*/ 2147483647 w 482"/>
                      <a:gd name="T21" fmla="*/ 2147483647 h 537"/>
                      <a:gd name="T22" fmla="*/ 2147483647 w 482"/>
                      <a:gd name="T23" fmla="*/ 2147483647 h 537"/>
                      <a:gd name="T24" fmla="*/ 2147483647 w 482"/>
                      <a:gd name="T25" fmla="*/ 2147483647 h 537"/>
                      <a:gd name="T26" fmla="*/ 2147483647 w 482"/>
                      <a:gd name="T27" fmla="*/ 2147483647 h 537"/>
                      <a:gd name="T28" fmla="*/ 2147483647 w 482"/>
                      <a:gd name="T29" fmla="*/ 2147483647 h 537"/>
                      <a:gd name="T30" fmla="*/ 2147483647 w 482"/>
                      <a:gd name="T31" fmla="*/ 2147483647 h 537"/>
                      <a:gd name="T32" fmla="*/ 2147483647 w 482"/>
                      <a:gd name="T33" fmla="*/ 2147483647 h 537"/>
                      <a:gd name="T34" fmla="*/ 2147483647 w 482"/>
                      <a:gd name="T35" fmla="*/ 2147483647 h 537"/>
                      <a:gd name="T36" fmla="*/ 2147483647 w 482"/>
                      <a:gd name="T37" fmla="*/ 2147483647 h 537"/>
                      <a:gd name="T38" fmla="*/ 2147483647 w 482"/>
                      <a:gd name="T39" fmla="*/ 2147483647 h 537"/>
                      <a:gd name="T40" fmla="*/ 2147483647 w 482"/>
                      <a:gd name="T41" fmla="*/ 2147483647 h 537"/>
                      <a:gd name="T42" fmla="*/ 2147483647 w 482"/>
                      <a:gd name="T43" fmla="*/ 2147483647 h 537"/>
                      <a:gd name="T44" fmla="*/ 2147483647 w 482"/>
                      <a:gd name="T45" fmla="*/ 2147483647 h 537"/>
                      <a:gd name="T46" fmla="*/ 2147483647 w 482"/>
                      <a:gd name="T47" fmla="*/ 2147483647 h 537"/>
                      <a:gd name="T48" fmla="*/ 2147483647 w 482"/>
                      <a:gd name="T49" fmla="*/ 2147483647 h 537"/>
                      <a:gd name="T50" fmla="*/ 2147483647 w 482"/>
                      <a:gd name="T51" fmla="*/ 2147483647 h 537"/>
                      <a:gd name="T52" fmla="*/ 2147483647 w 482"/>
                      <a:gd name="T53" fmla="*/ 2147483647 h 537"/>
                      <a:gd name="T54" fmla="*/ 2147483647 w 482"/>
                      <a:gd name="T55" fmla="*/ 2147483647 h 537"/>
                      <a:gd name="T56" fmla="*/ 2147483647 w 482"/>
                      <a:gd name="T57" fmla="*/ 2147483647 h 537"/>
                      <a:gd name="T58" fmla="*/ 2147483647 w 482"/>
                      <a:gd name="T59" fmla="*/ 2147483647 h 537"/>
                      <a:gd name="T60" fmla="*/ 2147483647 w 482"/>
                      <a:gd name="T61" fmla="*/ 2147483647 h 537"/>
                      <a:gd name="T62" fmla="*/ 2147483647 w 482"/>
                      <a:gd name="T63" fmla="*/ 2147483647 h 537"/>
                      <a:gd name="T64" fmla="*/ 2147483647 w 482"/>
                      <a:gd name="T65" fmla="*/ 2147483647 h 537"/>
                      <a:gd name="T66" fmla="*/ 2147483647 w 482"/>
                      <a:gd name="T67" fmla="*/ 2147483647 h 537"/>
                      <a:gd name="T68" fmla="*/ 2147483647 w 482"/>
                      <a:gd name="T69" fmla="*/ 2147483647 h 537"/>
                      <a:gd name="T70" fmla="*/ 2147483647 w 482"/>
                      <a:gd name="T71" fmla="*/ 2147483647 h 537"/>
                      <a:gd name="T72" fmla="*/ 2147483647 w 482"/>
                      <a:gd name="T73" fmla="*/ 2147483647 h 537"/>
                      <a:gd name="T74" fmla="*/ 2147483647 w 482"/>
                      <a:gd name="T75" fmla="*/ 2147483647 h 537"/>
                      <a:gd name="T76" fmla="*/ 2147483647 w 482"/>
                      <a:gd name="T77" fmla="*/ 2147483647 h 537"/>
                      <a:gd name="T78" fmla="*/ 2147483647 w 482"/>
                      <a:gd name="T79" fmla="*/ 2147483647 h 537"/>
                      <a:gd name="T80" fmla="*/ 2147483647 w 482"/>
                      <a:gd name="T81" fmla="*/ 2147483647 h 537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w 482"/>
                      <a:gd name="T124" fmla="*/ 0 h 537"/>
                      <a:gd name="T125" fmla="*/ 482 w 482"/>
                      <a:gd name="T126" fmla="*/ 537 h 537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T123" t="T124" r="T125" b="T126"/>
                    <a:pathLst>
                      <a:path w="482" h="537">
                        <a:moveTo>
                          <a:pt x="182" y="303"/>
                        </a:moveTo>
                        <a:lnTo>
                          <a:pt x="182" y="303"/>
                        </a:lnTo>
                        <a:lnTo>
                          <a:pt x="241" y="337"/>
                        </a:lnTo>
                        <a:lnTo>
                          <a:pt x="364" y="271"/>
                        </a:lnTo>
                        <a:lnTo>
                          <a:pt x="241" y="202"/>
                        </a:lnTo>
                        <a:lnTo>
                          <a:pt x="182" y="235"/>
                        </a:lnTo>
                        <a:lnTo>
                          <a:pt x="182" y="303"/>
                        </a:lnTo>
                        <a:close/>
                        <a:moveTo>
                          <a:pt x="241" y="537"/>
                        </a:moveTo>
                        <a:lnTo>
                          <a:pt x="241" y="537"/>
                        </a:lnTo>
                        <a:cubicBezTo>
                          <a:pt x="235" y="537"/>
                          <a:pt x="229" y="535"/>
                          <a:pt x="224" y="532"/>
                        </a:cubicBezTo>
                        <a:lnTo>
                          <a:pt x="21" y="415"/>
                        </a:lnTo>
                        <a:cubicBezTo>
                          <a:pt x="5" y="406"/>
                          <a:pt x="0" y="385"/>
                          <a:pt x="9" y="369"/>
                        </a:cubicBezTo>
                        <a:cubicBezTo>
                          <a:pt x="18" y="354"/>
                          <a:pt x="39" y="348"/>
                          <a:pt x="55" y="357"/>
                        </a:cubicBezTo>
                        <a:lnTo>
                          <a:pt x="241" y="465"/>
                        </a:lnTo>
                        <a:lnTo>
                          <a:pt x="398" y="374"/>
                        </a:lnTo>
                        <a:lnTo>
                          <a:pt x="379" y="339"/>
                        </a:lnTo>
                        <a:lnTo>
                          <a:pt x="256" y="404"/>
                        </a:lnTo>
                        <a:cubicBezTo>
                          <a:pt x="246" y="410"/>
                          <a:pt x="234" y="410"/>
                          <a:pt x="224" y="404"/>
                        </a:cubicBezTo>
                        <a:lnTo>
                          <a:pt x="132" y="351"/>
                        </a:lnTo>
                        <a:cubicBezTo>
                          <a:pt x="122" y="345"/>
                          <a:pt x="116" y="334"/>
                          <a:pt x="116" y="322"/>
                        </a:cubicBezTo>
                        <a:lnTo>
                          <a:pt x="116" y="216"/>
                        </a:lnTo>
                        <a:cubicBezTo>
                          <a:pt x="116" y="204"/>
                          <a:pt x="122" y="193"/>
                          <a:pt x="132" y="187"/>
                        </a:cubicBezTo>
                        <a:lnTo>
                          <a:pt x="224" y="134"/>
                        </a:lnTo>
                        <a:cubicBezTo>
                          <a:pt x="234" y="128"/>
                          <a:pt x="247" y="128"/>
                          <a:pt x="257" y="134"/>
                        </a:cubicBezTo>
                        <a:lnTo>
                          <a:pt x="379" y="203"/>
                        </a:lnTo>
                        <a:lnTo>
                          <a:pt x="399" y="165"/>
                        </a:lnTo>
                        <a:lnTo>
                          <a:pt x="241" y="73"/>
                        </a:lnTo>
                        <a:lnTo>
                          <a:pt x="55" y="181"/>
                        </a:lnTo>
                        <a:cubicBezTo>
                          <a:pt x="39" y="190"/>
                          <a:pt x="18" y="184"/>
                          <a:pt x="9" y="169"/>
                        </a:cubicBezTo>
                        <a:cubicBezTo>
                          <a:pt x="0" y="153"/>
                          <a:pt x="5" y="132"/>
                          <a:pt x="21" y="123"/>
                        </a:cubicBezTo>
                        <a:lnTo>
                          <a:pt x="224" y="6"/>
                        </a:lnTo>
                        <a:cubicBezTo>
                          <a:pt x="234" y="0"/>
                          <a:pt x="247" y="0"/>
                          <a:pt x="257" y="6"/>
                        </a:cubicBezTo>
                        <a:lnTo>
                          <a:pt x="460" y="123"/>
                        </a:lnTo>
                        <a:cubicBezTo>
                          <a:pt x="476" y="132"/>
                          <a:pt x="482" y="152"/>
                          <a:pt x="473" y="168"/>
                        </a:cubicBezTo>
                        <a:lnTo>
                          <a:pt x="421" y="265"/>
                        </a:lnTo>
                        <a:cubicBezTo>
                          <a:pt x="420" y="267"/>
                          <a:pt x="418" y="269"/>
                          <a:pt x="416" y="272"/>
                        </a:cubicBezTo>
                        <a:cubicBezTo>
                          <a:pt x="418" y="273"/>
                          <a:pt x="420" y="276"/>
                          <a:pt x="421" y="278"/>
                        </a:cubicBezTo>
                        <a:lnTo>
                          <a:pt x="473" y="370"/>
                        </a:lnTo>
                        <a:cubicBezTo>
                          <a:pt x="482" y="386"/>
                          <a:pt x="476" y="406"/>
                          <a:pt x="460" y="415"/>
                        </a:cubicBezTo>
                        <a:lnTo>
                          <a:pt x="257" y="532"/>
                        </a:lnTo>
                        <a:cubicBezTo>
                          <a:pt x="252" y="535"/>
                          <a:pt x="246" y="537"/>
                          <a:pt x="241" y="53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3" name="Freeform 218">
                    <a:extLst>
                      <a:ext uri="{FF2B5EF4-FFF2-40B4-BE49-F238E27FC236}">
                        <a16:creationId xmlns:a16="http://schemas.microsoft.com/office/drawing/2014/main" id="{08583D80-1232-44BE-B87C-15106D2517D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802563" y="2846388"/>
                    <a:ext cx="58738" cy="58738"/>
                  </a:xfrm>
                  <a:custGeom>
                    <a:avLst/>
                    <a:gdLst>
                      <a:gd name="T0" fmla="*/ 2147483647 w 139"/>
                      <a:gd name="T1" fmla="*/ 2147483647 h 139"/>
                      <a:gd name="T2" fmla="*/ 2147483647 w 139"/>
                      <a:gd name="T3" fmla="*/ 2147483647 h 139"/>
                      <a:gd name="T4" fmla="*/ 2147483647 w 139"/>
                      <a:gd name="T5" fmla="*/ 2147483647 h 139"/>
                      <a:gd name="T6" fmla="*/ 2147483647 w 139"/>
                      <a:gd name="T7" fmla="*/ 0 h 139"/>
                      <a:gd name="T8" fmla="*/ 0 w 139"/>
                      <a:gd name="T9" fmla="*/ 2147483647 h 139"/>
                      <a:gd name="T10" fmla="*/ 2147483647 w 139"/>
                      <a:gd name="T11" fmla="*/ 2147483647 h 13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39"/>
                      <a:gd name="T19" fmla="*/ 0 h 139"/>
                      <a:gd name="T20" fmla="*/ 139 w 139"/>
                      <a:gd name="T21" fmla="*/ 139 h 13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39" h="139">
                        <a:moveTo>
                          <a:pt x="70" y="139"/>
                        </a:moveTo>
                        <a:lnTo>
                          <a:pt x="70" y="139"/>
                        </a:lnTo>
                        <a:cubicBezTo>
                          <a:pt x="108" y="139"/>
                          <a:pt x="139" y="108"/>
                          <a:pt x="139" y="70"/>
                        </a:cubicBezTo>
                        <a:cubicBezTo>
                          <a:pt x="139" y="31"/>
                          <a:pt x="108" y="0"/>
                          <a:pt x="70" y="0"/>
                        </a:cubicBezTo>
                        <a:cubicBezTo>
                          <a:pt x="31" y="0"/>
                          <a:pt x="0" y="31"/>
                          <a:pt x="0" y="70"/>
                        </a:cubicBezTo>
                        <a:cubicBezTo>
                          <a:pt x="0" y="108"/>
                          <a:pt x="31" y="139"/>
                          <a:pt x="70" y="1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4" name="Freeform 219">
                    <a:extLst>
                      <a:ext uri="{FF2B5EF4-FFF2-40B4-BE49-F238E27FC236}">
                        <a16:creationId xmlns:a16="http://schemas.microsoft.com/office/drawing/2014/main" id="{5C2A6419-FC41-4F44-897F-DDF2271AAE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713663" y="2846388"/>
                    <a:ext cx="57150" cy="58738"/>
                  </a:xfrm>
                  <a:custGeom>
                    <a:avLst/>
                    <a:gdLst>
                      <a:gd name="T0" fmla="*/ 2147483647 w 139"/>
                      <a:gd name="T1" fmla="*/ 2147483647 h 139"/>
                      <a:gd name="T2" fmla="*/ 2147483647 w 139"/>
                      <a:gd name="T3" fmla="*/ 2147483647 h 139"/>
                      <a:gd name="T4" fmla="*/ 2147483647 w 139"/>
                      <a:gd name="T5" fmla="*/ 2147483647 h 139"/>
                      <a:gd name="T6" fmla="*/ 2147483647 w 139"/>
                      <a:gd name="T7" fmla="*/ 0 h 139"/>
                      <a:gd name="T8" fmla="*/ 0 w 139"/>
                      <a:gd name="T9" fmla="*/ 2147483647 h 139"/>
                      <a:gd name="T10" fmla="*/ 2147483647 w 139"/>
                      <a:gd name="T11" fmla="*/ 2147483647 h 13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139"/>
                      <a:gd name="T19" fmla="*/ 0 h 139"/>
                      <a:gd name="T20" fmla="*/ 139 w 139"/>
                      <a:gd name="T21" fmla="*/ 139 h 13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139" h="139">
                        <a:moveTo>
                          <a:pt x="70" y="139"/>
                        </a:moveTo>
                        <a:lnTo>
                          <a:pt x="70" y="139"/>
                        </a:lnTo>
                        <a:cubicBezTo>
                          <a:pt x="108" y="139"/>
                          <a:pt x="139" y="108"/>
                          <a:pt x="139" y="70"/>
                        </a:cubicBezTo>
                        <a:cubicBezTo>
                          <a:pt x="139" y="31"/>
                          <a:pt x="108" y="0"/>
                          <a:pt x="70" y="0"/>
                        </a:cubicBezTo>
                        <a:cubicBezTo>
                          <a:pt x="31" y="0"/>
                          <a:pt x="0" y="31"/>
                          <a:pt x="0" y="70"/>
                        </a:cubicBezTo>
                        <a:cubicBezTo>
                          <a:pt x="0" y="108"/>
                          <a:pt x="31" y="139"/>
                          <a:pt x="70" y="13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5" name="Freeform 220">
                    <a:extLst>
                      <a:ext uri="{FF2B5EF4-FFF2-40B4-BE49-F238E27FC236}">
                        <a16:creationId xmlns:a16="http://schemas.microsoft.com/office/drawing/2014/main" id="{98C31E49-54B6-4AA9-B80A-BD88BD449A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715251" y="2141538"/>
                    <a:ext cx="163513" cy="52388"/>
                  </a:xfrm>
                  <a:custGeom>
                    <a:avLst/>
                    <a:gdLst>
                      <a:gd name="T0" fmla="*/ 2147483647 w 390"/>
                      <a:gd name="T1" fmla="*/ 2147483647 h 126"/>
                      <a:gd name="T2" fmla="*/ 2147483647 w 390"/>
                      <a:gd name="T3" fmla="*/ 2147483647 h 126"/>
                      <a:gd name="T4" fmla="*/ 2147483647 w 390"/>
                      <a:gd name="T5" fmla="*/ 2147483647 h 126"/>
                      <a:gd name="T6" fmla="*/ 2147483647 w 390"/>
                      <a:gd name="T7" fmla="*/ 2147483647 h 126"/>
                      <a:gd name="T8" fmla="*/ 2147483647 w 390"/>
                      <a:gd name="T9" fmla="*/ 2147483647 h 126"/>
                      <a:gd name="T10" fmla="*/ 2147483647 w 390"/>
                      <a:gd name="T11" fmla="*/ 2147483647 h 126"/>
                      <a:gd name="T12" fmla="*/ 2147483647 w 390"/>
                      <a:gd name="T13" fmla="*/ 2147483647 h 126"/>
                      <a:gd name="T14" fmla="*/ 2147483647 w 390"/>
                      <a:gd name="T15" fmla="*/ 0 h 126"/>
                      <a:gd name="T16" fmla="*/ 2147483647 w 390"/>
                      <a:gd name="T17" fmla="*/ 2147483647 h 126"/>
                      <a:gd name="T18" fmla="*/ 2147483647 w 390"/>
                      <a:gd name="T19" fmla="*/ 2147483647 h 126"/>
                      <a:gd name="T20" fmla="*/ 2147483647 w 390"/>
                      <a:gd name="T21" fmla="*/ 2147483647 h 12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390"/>
                      <a:gd name="T34" fmla="*/ 0 h 126"/>
                      <a:gd name="T35" fmla="*/ 390 w 390"/>
                      <a:gd name="T36" fmla="*/ 126 h 12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390" h="126">
                        <a:moveTo>
                          <a:pt x="352" y="122"/>
                        </a:moveTo>
                        <a:lnTo>
                          <a:pt x="352" y="122"/>
                        </a:lnTo>
                        <a:cubicBezTo>
                          <a:pt x="345" y="122"/>
                          <a:pt x="338" y="120"/>
                          <a:pt x="332" y="115"/>
                        </a:cubicBezTo>
                        <a:cubicBezTo>
                          <a:pt x="292" y="83"/>
                          <a:pt x="245" y="67"/>
                          <a:pt x="195" y="67"/>
                        </a:cubicBezTo>
                        <a:cubicBezTo>
                          <a:pt x="145" y="67"/>
                          <a:pt x="97" y="83"/>
                          <a:pt x="58" y="115"/>
                        </a:cubicBezTo>
                        <a:cubicBezTo>
                          <a:pt x="44" y="126"/>
                          <a:pt x="23" y="124"/>
                          <a:pt x="11" y="109"/>
                        </a:cubicBezTo>
                        <a:cubicBezTo>
                          <a:pt x="0" y="95"/>
                          <a:pt x="2" y="74"/>
                          <a:pt x="17" y="62"/>
                        </a:cubicBezTo>
                        <a:cubicBezTo>
                          <a:pt x="67" y="22"/>
                          <a:pt x="130" y="0"/>
                          <a:pt x="195" y="0"/>
                        </a:cubicBezTo>
                        <a:cubicBezTo>
                          <a:pt x="260" y="0"/>
                          <a:pt x="323" y="22"/>
                          <a:pt x="373" y="63"/>
                        </a:cubicBezTo>
                        <a:cubicBezTo>
                          <a:pt x="388" y="74"/>
                          <a:pt x="390" y="95"/>
                          <a:pt x="378" y="109"/>
                        </a:cubicBezTo>
                        <a:cubicBezTo>
                          <a:pt x="372" y="118"/>
                          <a:pt x="362" y="122"/>
                          <a:pt x="352" y="12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6" name="Freeform 221">
                    <a:extLst>
                      <a:ext uri="{FF2B5EF4-FFF2-40B4-BE49-F238E27FC236}">
                        <a16:creationId xmlns:a16="http://schemas.microsoft.com/office/drawing/2014/main" id="{CA01E495-5100-40E2-84C1-E6797FFCA0C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677151" y="2085976"/>
                    <a:ext cx="241300" cy="69850"/>
                  </a:xfrm>
                  <a:custGeom>
                    <a:avLst/>
                    <a:gdLst>
                      <a:gd name="T0" fmla="*/ 2147483647 w 572"/>
                      <a:gd name="T1" fmla="*/ 2147483647 h 166"/>
                      <a:gd name="T2" fmla="*/ 2147483647 w 572"/>
                      <a:gd name="T3" fmla="*/ 2147483647 h 166"/>
                      <a:gd name="T4" fmla="*/ 2147483647 w 572"/>
                      <a:gd name="T5" fmla="*/ 2147483647 h 166"/>
                      <a:gd name="T6" fmla="*/ 2147483647 w 572"/>
                      <a:gd name="T7" fmla="*/ 2147483647 h 166"/>
                      <a:gd name="T8" fmla="*/ 2147483647 w 572"/>
                      <a:gd name="T9" fmla="*/ 2147483647 h 166"/>
                      <a:gd name="T10" fmla="*/ 2147483647 w 572"/>
                      <a:gd name="T11" fmla="*/ 2147483647 h 166"/>
                      <a:gd name="T12" fmla="*/ 2147483647 w 572"/>
                      <a:gd name="T13" fmla="*/ 2147483647 h 166"/>
                      <a:gd name="T14" fmla="*/ 2147483647 w 572"/>
                      <a:gd name="T15" fmla="*/ 0 h 166"/>
                      <a:gd name="T16" fmla="*/ 2147483647 w 572"/>
                      <a:gd name="T17" fmla="*/ 2147483647 h 166"/>
                      <a:gd name="T18" fmla="*/ 2147483647 w 572"/>
                      <a:gd name="T19" fmla="*/ 2147483647 h 166"/>
                      <a:gd name="T20" fmla="*/ 2147483647 w 572"/>
                      <a:gd name="T21" fmla="*/ 2147483647 h 16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72"/>
                      <a:gd name="T34" fmla="*/ 0 h 166"/>
                      <a:gd name="T35" fmla="*/ 572 w 572"/>
                      <a:gd name="T36" fmla="*/ 166 h 16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72" h="166">
                        <a:moveTo>
                          <a:pt x="535" y="164"/>
                        </a:moveTo>
                        <a:lnTo>
                          <a:pt x="535" y="164"/>
                        </a:lnTo>
                        <a:cubicBezTo>
                          <a:pt x="527" y="164"/>
                          <a:pt x="519" y="162"/>
                          <a:pt x="512" y="156"/>
                        </a:cubicBezTo>
                        <a:cubicBezTo>
                          <a:pt x="450" y="98"/>
                          <a:pt x="370" y="67"/>
                          <a:pt x="285" y="67"/>
                        </a:cubicBezTo>
                        <a:cubicBezTo>
                          <a:pt x="201" y="67"/>
                          <a:pt x="121" y="98"/>
                          <a:pt x="59" y="154"/>
                        </a:cubicBezTo>
                        <a:cubicBezTo>
                          <a:pt x="46" y="166"/>
                          <a:pt x="24" y="165"/>
                          <a:pt x="12" y="152"/>
                        </a:cubicBezTo>
                        <a:cubicBezTo>
                          <a:pt x="0" y="138"/>
                          <a:pt x="1" y="117"/>
                          <a:pt x="14" y="105"/>
                        </a:cubicBezTo>
                        <a:cubicBezTo>
                          <a:pt x="88" y="37"/>
                          <a:pt x="184" y="0"/>
                          <a:pt x="285" y="0"/>
                        </a:cubicBezTo>
                        <a:cubicBezTo>
                          <a:pt x="386" y="0"/>
                          <a:pt x="483" y="38"/>
                          <a:pt x="558" y="107"/>
                        </a:cubicBezTo>
                        <a:cubicBezTo>
                          <a:pt x="571" y="119"/>
                          <a:pt x="572" y="140"/>
                          <a:pt x="559" y="154"/>
                        </a:cubicBezTo>
                        <a:cubicBezTo>
                          <a:pt x="553" y="161"/>
                          <a:pt x="544" y="164"/>
                          <a:pt x="535" y="16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7" name="Freeform 223">
                    <a:extLst>
                      <a:ext uri="{FF2B5EF4-FFF2-40B4-BE49-F238E27FC236}">
                        <a16:creationId xmlns:a16="http://schemas.microsoft.com/office/drawing/2014/main" id="{4B4EB7E6-F965-48FE-96BB-A0A743DD00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610475" y="2508250"/>
                    <a:ext cx="257175" cy="287338"/>
                  </a:xfrm>
                  <a:custGeom>
                    <a:avLst/>
                    <a:gdLst>
                      <a:gd name="T0" fmla="*/ 2147483647 w 612"/>
                      <a:gd name="T1" fmla="*/ 2147483647 h 683"/>
                      <a:gd name="T2" fmla="*/ 2147483647 w 612"/>
                      <a:gd name="T3" fmla="*/ 2147483647 h 683"/>
                      <a:gd name="T4" fmla="*/ 2147483647 w 612"/>
                      <a:gd name="T5" fmla="*/ 2147483647 h 683"/>
                      <a:gd name="T6" fmla="*/ 2147483647 w 612"/>
                      <a:gd name="T7" fmla="*/ 2147483647 h 683"/>
                      <a:gd name="T8" fmla="*/ 2147483647 w 612"/>
                      <a:gd name="T9" fmla="*/ 2147483647 h 683"/>
                      <a:gd name="T10" fmla="*/ 2147483647 w 612"/>
                      <a:gd name="T11" fmla="*/ 2147483647 h 683"/>
                      <a:gd name="T12" fmla="*/ 2147483647 w 612"/>
                      <a:gd name="T13" fmla="*/ 2147483647 h 683"/>
                      <a:gd name="T14" fmla="*/ 2147483647 w 612"/>
                      <a:gd name="T15" fmla="*/ 2147483647 h 683"/>
                      <a:gd name="T16" fmla="*/ 2147483647 w 612"/>
                      <a:gd name="T17" fmla="*/ 2147483647 h 683"/>
                      <a:gd name="T18" fmla="*/ 2147483647 w 612"/>
                      <a:gd name="T19" fmla="*/ 2147483647 h 683"/>
                      <a:gd name="T20" fmla="*/ 2147483647 w 612"/>
                      <a:gd name="T21" fmla="*/ 2147483647 h 683"/>
                      <a:gd name="T22" fmla="*/ 2147483647 w 612"/>
                      <a:gd name="T23" fmla="*/ 2147483647 h 683"/>
                      <a:gd name="T24" fmla="*/ 2147483647 w 612"/>
                      <a:gd name="T25" fmla="*/ 2147483647 h 683"/>
                      <a:gd name="T26" fmla="*/ 2147483647 w 612"/>
                      <a:gd name="T27" fmla="*/ 2147483647 h 683"/>
                      <a:gd name="T28" fmla="*/ 2147483647 w 612"/>
                      <a:gd name="T29" fmla="*/ 2147483647 h 683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612"/>
                      <a:gd name="T46" fmla="*/ 0 h 683"/>
                      <a:gd name="T47" fmla="*/ 612 w 612"/>
                      <a:gd name="T48" fmla="*/ 683 h 683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612" h="683">
                        <a:moveTo>
                          <a:pt x="574" y="679"/>
                        </a:moveTo>
                        <a:lnTo>
                          <a:pt x="574" y="679"/>
                        </a:lnTo>
                        <a:cubicBezTo>
                          <a:pt x="562" y="679"/>
                          <a:pt x="550" y="672"/>
                          <a:pt x="544" y="661"/>
                        </a:cubicBezTo>
                        <a:lnTo>
                          <a:pt x="289" y="149"/>
                        </a:lnTo>
                        <a:cubicBezTo>
                          <a:pt x="263" y="97"/>
                          <a:pt x="200" y="76"/>
                          <a:pt x="149" y="102"/>
                        </a:cubicBezTo>
                        <a:cubicBezTo>
                          <a:pt x="97" y="128"/>
                          <a:pt x="76" y="190"/>
                          <a:pt x="102" y="242"/>
                        </a:cubicBezTo>
                        <a:lnTo>
                          <a:pt x="296" y="630"/>
                        </a:lnTo>
                        <a:cubicBezTo>
                          <a:pt x="304" y="647"/>
                          <a:pt x="297" y="667"/>
                          <a:pt x="281" y="675"/>
                        </a:cubicBezTo>
                        <a:cubicBezTo>
                          <a:pt x="264" y="683"/>
                          <a:pt x="244" y="676"/>
                          <a:pt x="236" y="660"/>
                        </a:cubicBezTo>
                        <a:lnTo>
                          <a:pt x="42" y="272"/>
                        </a:lnTo>
                        <a:cubicBezTo>
                          <a:pt x="0" y="187"/>
                          <a:pt x="35" y="84"/>
                          <a:pt x="119" y="42"/>
                        </a:cubicBezTo>
                        <a:cubicBezTo>
                          <a:pt x="203" y="0"/>
                          <a:pt x="306" y="35"/>
                          <a:pt x="348" y="119"/>
                        </a:cubicBezTo>
                        <a:lnTo>
                          <a:pt x="604" y="631"/>
                        </a:lnTo>
                        <a:cubicBezTo>
                          <a:pt x="612" y="647"/>
                          <a:pt x="605" y="667"/>
                          <a:pt x="589" y="676"/>
                        </a:cubicBezTo>
                        <a:cubicBezTo>
                          <a:pt x="584" y="678"/>
                          <a:pt x="579" y="679"/>
                          <a:pt x="574" y="67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8" name="Freeform 224">
                    <a:extLst>
                      <a:ext uri="{FF2B5EF4-FFF2-40B4-BE49-F238E27FC236}">
                        <a16:creationId xmlns:a16="http://schemas.microsoft.com/office/drawing/2014/main" id="{C8A5C84B-CF54-47B5-9B81-828FEF262E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618413" y="2305050"/>
                    <a:ext cx="144463" cy="295275"/>
                  </a:xfrm>
                  <a:custGeom>
                    <a:avLst/>
                    <a:gdLst>
                      <a:gd name="T0" fmla="*/ 2147483647 w 345"/>
                      <a:gd name="T1" fmla="*/ 2147483647 h 701"/>
                      <a:gd name="T2" fmla="*/ 2147483647 w 345"/>
                      <a:gd name="T3" fmla="*/ 2147483647 h 701"/>
                      <a:gd name="T4" fmla="*/ 2147483647 w 345"/>
                      <a:gd name="T5" fmla="*/ 2147483647 h 701"/>
                      <a:gd name="T6" fmla="*/ 2147483647 w 345"/>
                      <a:gd name="T7" fmla="*/ 2147483647 h 701"/>
                      <a:gd name="T8" fmla="*/ 2147483647 w 345"/>
                      <a:gd name="T9" fmla="*/ 2147483647 h 701"/>
                      <a:gd name="T10" fmla="*/ 2147483647 w 345"/>
                      <a:gd name="T11" fmla="*/ 2147483647 h 701"/>
                      <a:gd name="T12" fmla="*/ 2147483647 w 345"/>
                      <a:gd name="T13" fmla="*/ 2147483647 h 701"/>
                      <a:gd name="T14" fmla="*/ 2147483647 w 345"/>
                      <a:gd name="T15" fmla="*/ 2147483647 h 701"/>
                      <a:gd name="T16" fmla="*/ 2147483647 w 345"/>
                      <a:gd name="T17" fmla="*/ 2147483647 h 701"/>
                      <a:gd name="T18" fmla="*/ 2147483647 w 345"/>
                      <a:gd name="T19" fmla="*/ 2147483647 h 701"/>
                      <a:gd name="T20" fmla="*/ 2147483647 w 345"/>
                      <a:gd name="T21" fmla="*/ 2147483647 h 701"/>
                      <a:gd name="T22" fmla="*/ 2147483647 w 345"/>
                      <a:gd name="T23" fmla="*/ 2147483647 h 701"/>
                      <a:gd name="T24" fmla="*/ 2147483647 w 345"/>
                      <a:gd name="T25" fmla="*/ 2147483647 h 701"/>
                      <a:gd name="T26" fmla="*/ 2147483647 w 345"/>
                      <a:gd name="T27" fmla="*/ 2147483647 h 701"/>
                      <a:gd name="T28" fmla="*/ 2147483647 w 345"/>
                      <a:gd name="T29" fmla="*/ 2147483647 h 701"/>
                      <a:gd name="T30" fmla="*/ 2147483647 w 345"/>
                      <a:gd name="T31" fmla="*/ 2147483647 h 701"/>
                      <a:gd name="T32" fmla="*/ 2147483647 w 345"/>
                      <a:gd name="T33" fmla="*/ 2147483647 h 701"/>
                      <a:gd name="T34" fmla="*/ 2147483647 w 345"/>
                      <a:gd name="T35" fmla="*/ 2147483647 h 7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45"/>
                      <a:gd name="T55" fmla="*/ 0 h 701"/>
                      <a:gd name="T56" fmla="*/ 345 w 345"/>
                      <a:gd name="T57" fmla="*/ 701 h 7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45" h="701">
                        <a:moveTo>
                          <a:pt x="36" y="701"/>
                        </a:moveTo>
                        <a:lnTo>
                          <a:pt x="36" y="701"/>
                        </a:lnTo>
                        <a:cubicBezTo>
                          <a:pt x="17" y="701"/>
                          <a:pt x="2" y="686"/>
                          <a:pt x="2" y="667"/>
                        </a:cubicBezTo>
                        <a:lnTo>
                          <a:pt x="3" y="175"/>
                        </a:lnTo>
                        <a:cubicBezTo>
                          <a:pt x="0" y="82"/>
                          <a:pt x="75" y="3"/>
                          <a:pt x="169" y="1"/>
                        </a:cubicBezTo>
                        <a:cubicBezTo>
                          <a:pt x="214" y="0"/>
                          <a:pt x="258" y="16"/>
                          <a:pt x="291" y="48"/>
                        </a:cubicBezTo>
                        <a:cubicBezTo>
                          <a:pt x="324" y="79"/>
                          <a:pt x="343" y="121"/>
                          <a:pt x="345" y="167"/>
                        </a:cubicBezTo>
                        <a:lnTo>
                          <a:pt x="342" y="629"/>
                        </a:lnTo>
                        <a:cubicBezTo>
                          <a:pt x="342" y="648"/>
                          <a:pt x="327" y="663"/>
                          <a:pt x="309" y="663"/>
                        </a:cubicBezTo>
                        <a:lnTo>
                          <a:pt x="308" y="663"/>
                        </a:lnTo>
                        <a:cubicBezTo>
                          <a:pt x="290" y="662"/>
                          <a:pt x="275" y="647"/>
                          <a:pt x="275" y="629"/>
                        </a:cubicBezTo>
                        <a:lnTo>
                          <a:pt x="278" y="168"/>
                        </a:lnTo>
                        <a:cubicBezTo>
                          <a:pt x="277" y="141"/>
                          <a:pt x="266" y="115"/>
                          <a:pt x="245" y="96"/>
                        </a:cubicBezTo>
                        <a:cubicBezTo>
                          <a:pt x="225" y="77"/>
                          <a:pt x="199" y="67"/>
                          <a:pt x="171" y="67"/>
                        </a:cubicBezTo>
                        <a:cubicBezTo>
                          <a:pt x="113" y="69"/>
                          <a:pt x="68" y="117"/>
                          <a:pt x="70" y="175"/>
                        </a:cubicBezTo>
                        <a:lnTo>
                          <a:pt x="69" y="668"/>
                        </a:lnTo>
                        <a:cubicBezTo>
                          <a:pt x="69" y="686"/>
                          <a:pt x="54" y="701"/>
                          <a:pt x="36" y="70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39" name="Freeform 225">
                    <a:extLst>
                      <a:ext uri="{FF2B5EF4-FFF2-40B4-BE49-F238E27FC236}">
                        <a16:creationId xmlns:a16="http://schemas.microsoft.com/office/drawing/2014/main" id="{69577B22-5743-4F76-9C55-9DC8F32AB19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658100" y="2571750"/>
                    <a:ext cx="88900" cy="82550"/>
                  </a:xfrm>
                  <a:custGeom>
                    <a:avLst/>
                    <a:gdLst>
                      <a:gd name="T0" fmla="*/ 2147483647 w 210"/>
                      <a:gd name="T1" fmla="*/ 2147483647 h 197"/>
                      <a:gd name="T2" fmla="*/ 2147483647 w 210"/>
                      <a:gd name="T3" fmla="*/ 2147483647 h 197"/>
                      <a:gd name="T4" fmla="*/ 2147483647 w 210"/>
                      <a:gd name="T5" fmla="*/ 2147483647 h 197"/>
                      <a:gd name="T6" fmla="*/ 2147483647 w 210"/>
                      <a:gd name="T7" fmla="*/ 2147483647 h 197"/>
                      <a:gd name="T8" fmla="*/ 2147483647 w 210"/>
                      <a:gd name="T9" fmla="*/ 2147483647 h 197"/>
                      <a:gd name="T10" fmla="*/ 2147483647 w 210"/>
                      <a:gd name="T11" fmla="*/ 2147483647 h 197"/>
                      <a:gd name="T12" fmla="*/ 2147483647 w 210"/>
                      <a:gd name="T13" fmla="*/ 2147483647 h 197"/>
                      <a:gd name="T14" fmla="*/ 2147483647 w 210"/>
                      <a:gd name="T15" fmla="*/ 2147483647 h 197"/>
                      <a:gd name="T16" fmla="*/ 2147483647 w 210"/>
                      <a:gd name="T17" fmla="*/ 2147483647 h 197"/>
                      <a:gd name="T18" fmla="*/ 2147483647 w 210"/>
                      <a:gd name="T19" fmla="*/ 2147483647 h 197"/>
                      <a:gd name="T20" fmla="*/ 2147483647 w 210"/>
                      <a:gd name="T21" fmla="*/ 2147483647 h 197"/>
                      <a:gd name="T22" fmla="*/ 2147483647 w 210"/>
                      <a:gd name="T23" fmla="*/ 2147483647 h 197"/>
                      <a:gd name="T24" fmla="*/ 2147483647 w 210"/>
                      <a:gd name="T25" fmla="*/ 2147483647 h 197"/>
                      <a:gd name="T26" fmla="*/ 2147483647 w 210"/>
                      <a:gd name="T27" fmla="*/ 2147483647 h 197"/>
                      <a:gd name="T28" fmla="*/ 2147483647 w 210"/>
                      <a:gd name="T29" fmla="*/ 2147483647 h 197"/>
                      <a:gd name="T30" fmla="*/ 2147483647 w 210"/>
                      <a:gd name="T31" fmla="*/ 2147483647 h 197"/>
                      <a:gd name="T32" fmla="*/ 2147483647 w 210"/>
                      <a:gd name="T33" fmla="*/ 2147483647 h 197"/>
                      <a:gd name="T34" fmla="*/ 2147483647 w 210"/>
                      <a:gd name="T35" fmla="*/ 2147483647 h 197"/>
                      <a:gd name="T36" fmla="*/ 2147483647 w 210"/>
                      <a:gd name="T37" fmla="*/ 2147483647 h 197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210"/>
                      <a:gd name="T58" fmla="*/ 0 h 197"/>
                      <a:gd name="T59" fmla="*/ 210 w 210"/>
                      <a:gd name="T60" fmla="*/ 197 h 197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210" h="197">
                        <a:moveTo>
                          <a:pt x="110" y="70"/>
                        </a:moveTo>
                        <a:lnTo>
                          <a:pt x="110" y="70"/>
                        </a:lnTo>
                        <a:cubicBezTo>
                          <a:pt x="106" y="70"/>
                          <a:pt x="101" y="71"/>
                          <a:pt x="97" y="73"/>
                        </a:cubicBezTo>
                        <a:cubicBezTo>
                          <a:pt x="82" y="81"/>
                          <a:pt x="76" y="99"/>
                          <a:pt x="84" y="114"/>
                        </a:cubicBezTo>
                        <a:cubicBezTo>
                          <a:pt x="91" y="128"/>
                          <a:pt x="109" y="134"/>
                          <a:pt x="124" y="127"/>
                        </a:cubicBezTo>
                        <a:cubicBezTo>
                          <a:pt x="131" y="123"/>
                          <a:pt x="136" y="117"/>
                          <a:pt x="139" y="110"/>
                        </a:cubicBezTo>
                        <a:cubicBezTo>
                          <a:pt x="142" y="102"/>
                          <a:pt x="141" y="94"/>
                          <a:pt x="137" y="87"/>
                        </a:cubicBezTo>
                        <a:cubicBezTo>
                          <a:pt x="134" y="80"/>
                          <a:pt x="128" y="74"/>
                          <a:pt x="120" y="72"/>
                        </a:cubicBezTo>
                        <a:cubicBezTo>
                          <a:pt x="117" y="71"/>
                          <a:pt x="114" y="70"/>
                          <a:pt x="110" y="70"/>
                        </a:cubicBezTo>
                        <a:close/>
                        <a:moveTo>
                          <a:pt x="111" y="197"/>
                        </a:moveTo>
                        <a:lnTo>
                          <a:pt x="111" y="197"/>
                        </a:lnTo>
                        <a:cubicBezTo>
                          <a:pt x="75" y="197"/>
                          <a:pt x="41" y="177"/>
                          <a:pt x="24" y="143"/>
                        </a:cubicBezTo>
                        <a:cubicBezTo>
                          <a:pt x="0" y="96"/>
                          <a:pt x="20" y="37"/>
                          <a:pt x="67" y="14"/>
                        </a:cubicBezTo>
                        <a:cubicBezTo>
                          <a:pt x="90" y="2"/>
                          <a:pt x="117" y="0"/>
                          <a:pt x="141" y="8"/>
                        </a:cubicBezTo>
                        <a:cubicBezTo>
                          <a:pt x="166" y="17"/>
                          <a:pt x="186" y="34"/>
                          <a:pt x="197" y="57"/>
                        </a:cubicBezTo>
                        <a:cubicBezTo>
                          <a:pt x="209" y="80"/>
                          <a:pt x="210" y="106"/>
                          <a:pt x="202" y="131"/>
                        </a:cubicBezTo>
                        <a:cubicBezTo>
                          <a:pt x="194" y="155"/>
                          <a:pt x="177" y="175"/>
                          <a:pt x="154" y="187"/>
                        </a:cubicBezTo>
                        <a:cubicBezTo>
                          <a:pt x="140" y="194"/>
                          <a:pt x="125" y="197"/>
                          <a:pt x="111" y="19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40" name="Freeform 226">
                    <a:extLst>
                      <a:ext uri="{FF2B5EF4-FFF2-40B4-BE49-F238E27FC236}">
                        <a16:creationId xmlns:a16="http://schemas.microsoft.com/office/drawing/2014/main" id="{F0C88A5B-2487-4B95-8DDB-9B70501C86B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653338" y="2339975"/>
                    <a:ext cx="79375" cy="74613"/>
                  </a:xfrm>
                  <a:custGeom>
                    <a:avLst/>
                    <a:gdLst>
                      <a:gd name="T0" fmla="*/ 2147483647 w 187"/>
                      <a:gd name="T1" fmla="*/ 2147483647 h 177"/>
                      <a:gd name="T2" fmla="*/ 2147483647 w 187"/>
                      <a:gd name="T3" fmla="*/ 2147483647 h 177"/>
                      <a:gd name="T4" fmla="*/ 2147483647 w 187"/>
                      <a:gd name="T5" fmla="*/ 2147483647 h 177"/>
                      <a:gd name="T6" fmla="*/ 2147483647 w 187"/>
                      <a:gd name="T7" fmla="*/ 2147483647 h 177"/>
                      <a:gd name="T8" fmla="*/ 2147483647 w 187"/>
                      <a:gd name="T9" fmla="*/ 2147483647 h 177"/>
                      <a:gd name="T10" fmla="*/ 2147483647 w 187"/>
                      <a:gd name="T11" fmla="*/ 2147483647 h 177"/>
                      <a:gd name="T12" fmla="*/ 2147483647 w 187"/>
                      <a:gd name="T13" fmla="*/ 2147483647 h 177"/>
                      <a:gd name="T14" fmla="*/ 2147483647 w 187"/>
                      <a:gd name="T15" fmla="*/ 2147483647 h 177"/>
                      <a:gd name="T16" fmla="*/ 2147483647 w 187"/>
                      <a:gd name="T17" fmla="*/ 2147483647 h 177"/>
                      <a:gd name="T18" fmla="*/ 2147483647 w 187"/>
                      <a:gd name="T19" fmla="*/ 2147483647 h 177"/>
                      <a:gd name="T20" fmla="*/ 2147483647 w 187"/>
                      <a:gd name="T21" fmla="*/ 2147483647 h 177"/>
                      <a:gd name="T22" fmla="*/ 2147483647 w 187"/>
                      <a:gd name="T23" fmla="*/ 2147483647 h 177"/>
                      <a:gd name="T24" fmla="*/ 2147483647 w 187"/>
                      <a:gd name="T25" fmla="*/ 2147483647 h 177"/>
                      <a:gd name="T26" fmla="*/ 2147483647 w 187"/>
                      <a:gd name="T27" fmla="*/ 2147483647 h 177"/>
                      <a:gd name="T28" fmla="*/ 2147483647 w 187"/>
                      <a:gd name="T29" fmla="*/ 2147483647 h 177"/>
                      <a:gd name="T30" fmla="*/ 2147483647 w 187"/>
                      <a:gd name="T31" fmla="*/ 2147483647 h 177"/>
                      <a:gd name="T32" fmla="*/ 2147483647 w 187"/>
                      <a:gd name="T33" fmla="*/ 2147483647 h 177"/>
                      <a:gd name="T34" fmla="*/ 2147483647 w 187"/>
                      <a:gd name="T35" fmla="*/ 2147483647 h 177"/>
                      <a:gd name="T36" fmla="*/ 2147483647 w 187"/>
                      <a:gd name="T37" fmla="*/ 2147483647 h 177"/>
                      <a:gd name="T38" fmla="*/ 2147483647 w 187"/>
                      <a:gd name="T39" fmla="*/ 2147483647 h 177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187"/>
                      <a:gd name="T61" fmla="*/ 0 h 177"/>
                      <a:gd name="T62" fmla="*/ 187 w 187"/>
                      <a:gd name="T63" fmla="*/ 177 h 177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187" h="177">
                        <a:moveTo>
                          <a:pt x="89" y="69"/>
                        </a:moveTo>
                        <a:lnTo>
                          <a:pt x="89" y="69"/>
                        </a:lnTo>
                        <a:cubicBezTo>
                          <a:pt x="89" y="69"/>
                          <a:pt x="88" y="69"/>
                          <a:pt x="88" y="69"/>
                        </a:cubicBezTo>
                        <a:cubicBezTo>
                          <a:pt x="82" y="69"/>
                          <a:pt x="77" y="72"/>
                          <a:pt x="74" y="76"/>
                        </a:cubicBezTo>
                        <a:cubicBezTo>
                          <a:pt x="70" y="80"/>
                          <a:pt x="68" y="86"/>
                          <a:pt x="69" y="91"/>
                        </a:cubicBezTo>
                        <a:cubicBezTo>
                          <a:pt x="69" y="97"/>
                          <a:pt x="72" y="102"/>
                          <a:pt x="76" y="105"/>
                        </a:cubicBezTo>
                        <a:cubicBezTo>
                          <a:pt x="80" y="109"/>
                          <a:pt x="85" y="111"/>
                          <a:pt x="91" y="110"/>
                        </a:cubicBezTo>
                        <a:cubicBezTo>
                          <a:pt x="97" y="110"/>
                          <a:pt x="102" y="107"/>
                          <a:pt x="105" y="103"/>
                        </a:cubicBezTo>
                        <a:cubicBezTo>
                          <a:pt x="113" y="94"/>
                          <a:pt x="111" y="81"/>
                          <a:pt x="103" y="74"/>
                        </a:cubicBezTo>
                        <a:cubicBezTo>
                          <a:pt x="99" y="70"/>
                          <a:pt x="94" y="69"/>
                          <a:pt x="89" y="69"/>
                        </a:cubicBezTo>
                        <a:close/>
                        <a:moveTo>
                          <a:pt x="89" y="177"/>
                        </a:moveTo>
                        <a:lnTo>
                          <a:pt x="89" y="177"/>
                        </a:lnTo>
                        <a:cubicBezTo>
                          <a:pt x="68" y="177"/>
                          <a:pt x="49" y="170"/>
                          <a:pt x="33" y="156"/>
                        </a:cubicBezTo>
                        <a:cubicBezTo>
                          <a:pt x="15" y="141"/>
                          <a:pt x="4" y="120"/>
                          <a:pt x="2" y="96"/>
                        </a:cubicBezTo>
                        <a:cubicBezTo>
                          <a:pt x="0" y="73"/>
                          <a:pt x="8" y="51"/>
                          <a:pt x="23" y="33"/>
                        </a:cubicBezTo>
                        <a:cubicBezTo>
                          <a:pt x="38" y="15"/>
                          <a:pt x="59" y="4"/>
                          <a:pt x="82" y="2"/>
                        </a:cubicBezTo>
                        <a:cubicBezTo>
                          <a:pt x="106" y="0"/>
                          <a:pt x="128" y="8"/>
                          <a:pt x="146" y="23"/>
                        </a:cubicBezTo>
                        <a:cubicBezTo>
                          <a:pt x="183" y="54"/>
                          <a:pt x="187" y="109"/>
                          <a:pt x="156" y="146"/>
                        </a:cubicBezTo>
                        <a:cubicBezTo>
                          <a:pt x="141" y="164"/>
                          <a:pt x="120" y="175"/>
                          <a:pt x="96" y="177"/>
                        </a:cubicBezTo>
                        <a:cubicBezTo>
                          <a:pt x="94" y="177"/>
                          <a:pt x="92" y="177"/>
                          <a:pt x="89" y="17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41" name="Freeform 227">
                    <a:extLst>
                      <a:ext uri="{FF2B5EF4-FFF2-40B4-BE49-F238E27FC236}">
                        <a16:creationId xmlns:a16="http://schemas.microsoft.com/office/drawing/2014/main" id="{6C3881E2-0672-4897-AA84-98C07DFEC8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629525" y="2767013"/>
                    <a:ext cx="301625" cy="125413"/>
                  </a:xfrm>
                  <a:custGeom>
                    <a:avLst/>
                    <a:gdLst>
                      <a:gd name="T0" fmla="*/ 2147483647 w 718"/>
                      <a:gd name="T1" fmla="*/ 2147483647 h 302"/>
                      <a:gd name="T2" fmla="*/ 2147483647 w 718"/>
                      <a:gd name="T3" fmla="*/ 2147483647 h 302"/>
                      <a:gd name="T4" fmla="*/ 2147483647 w 718"/>
                      <a:gd name="T5" fmla="*/ 2147483647 h 302"/>
                      <a:gd name="T6" fmla="*/ 2147483647 w 718"/>
                      <a:gd name="T7" fmla="*/ 2147483647 h 302"/>
                      <a:gd name="T8" fmla="*/ 2147483647 w 718"/>
                      <a:gd name="T9" fmla="*/ 2147483647 h 302"/>
                      <a:gd name="T10" fmla="*/ 2147483647 w 718"/>
                      <a:gd name="T11" fmla="*/ 2147483647 h 302"/>
                      <a:gd name="T12" fmla="*/ 2147483647 w 718"/>
                      <a:gd name="T13" fmla="*/ 2147483647 h 302"/>
                      <a:gd name="T14" fmla="*/ 2147483647 w 718"/>
                      <a:gd name="T15" fmla="*/ 2147483647 h 302"/>
                      <a:gd name="T16" fmla="*/ 2147483647 w 718"/>
                      <a:gd name="T17" fmla="*/ 2147483647 h 302"/>
                      <a:gd name="T18" fmla="*/ 2147483647 w 718"/>
                      <a:gd name="T19" fmla="*/ 2147483647 h 302"/>
                      <a:gd name="T20" fmla="*/ 2147483647 w 718"/>
                      <a:gd name="T21" fmla="*/ 2147483647 h 302"/>
                      <a:gd name="T22" fmla="*/ 2147483647 w 718"/>
                      <a:gd name="T23" fmla="*/ 2147483647 h 302"/>
                      <a:gd name="T24" fmla="*/ 2147483647 w 718"/>
                      <a:gd name="T25" fmla="*/ 2147483647 h 302"/>
                      <a:gd name="T26" fmla="*/ 2147483647 w 718"/>
                      <a:gd name="T27" fmla="*/ 2147483647 h 302"/>
                      <a:gd name="T28" fmla="*/ 2147483647 w 718"/>
                      <a:gd name="T29" fmla="*/ 2147483647 h 302"/>
                      <a:gd name="T30" fmla="*/ 2147483647 w 718"/>
                      <a:gd name="T31" fmla="*/ 2147483647 h 302"/>
                      <a:gd name="T32" fmla="*/ 2147483647 w 718"/>
                      <a:gd name="T33" fmla="*/ 2147483647 h 302"/>
                      <a:gd name="T34" fmla="*/ 2147483647 w 718"/>
                      <a:gd name="T35" fmla="*/ 2147483647 h 302"/>
                      <a:gd name="T36" fmla="*/ 2147483647 w 718"/>
                      <a:gd name="T37" fmla="*/ 2147483647 h 302"/>
                      <a:gd name="T38" fmla="*/ 0 w 718"/>
                      <a:gd name="T39" fmla="*/ 2147483647 h 302"/>
                      <a:gd name="T40" fmla="*/ 0 w 718"/>
                      <a:gd name="T41" fmla="*/ 2147483647 h 302"/>
                      <a:gd name="T42" fmla="*/ 2147483647 w 718"/>
                      <a:gd name="T43" fmla="*/ 2147483647 h 302"/>
                      <a:gd name="T44" fmla="*/ 2147483647 w 718"/>
                      <a:gd name="T45" fmla="*/ 2147483647 h 302"/>
                      <a:gd name="T46" fmla="*/ 2147483647 w 718"/>
                      <a:gd name="T47" fmla="*/ 2147483647 h 302"/>
                      <a:gd name="T48" fmla="*/ 2147483647 w 718"/>
                      <a:gd name="T49" fmla="*/ 0 h 302"/>
                      <a:gd name="T50" fmla="*/ 2147483647 w 718"/>
                      <a:gd name="T51" fmla="*/ 0 h 302"/>
                      <a:gd name="T52" fmla="*/ 2147483647 w 718"/>
                      <a:gd name="T53" fmla="*/ 2147483647 h 302"/>
                      <a:gd name="T54" fmla="*/ 2147483647 w 718"/>
                      <a:gd name="T55" fmla="*/ 2147483647 h 302"/>
                      <a:gd name="T56" fmla="*/ 2147483647 w 718"/>
                      <a:gd name="T57" fmla="*/ 2147483647 h 302"/>
                      <a:gd name="T58" fmla="*/ 2147483647 w 718"/>
                      <a:gd name="T59" fmla="*/ 2147483647 h 302"/>
                      <a:gd name="T60" fmla="*/ 2147483647 w 718"/>
                      <a:gd name="T61" fmla="*/ 2147483647 h 302"/>
                      <a:gd name="T62" fmla="*/ 2147483647 w 718"/>
                      <a:gd name="T63" fmla="*/ 2147483647 h 302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w 718"/>
                      <a:gd name="T97" fmla="*/ 0 h 302"/>
                      <a:gd name="T98" fmla="*/ 718 w 718"/>
                      <a:gd name="T99" fmla="*/ 302 h 302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T96" t="T97" r="T98" b="T99"/>
                    <a:pathLst>
                      <a:path w="718" h="302">
                        <a:moveTo>
                          <a:pt x="685" y="302"/>
                        </a:moveTo>
                        <a:lnTo>
                          <a:pt x="685" y="302"/>
                        </a:lnTo>
                        <a:lnTo>
                          <a:pt x="474" y="302"/>
                        </a:lnTo>
                        <a:cubicBezTo>
                          <a:pt x="455" y="302"/>
                          <a:pt x="440" y="287"/>
                          <a:pt x="440" y="268"/>
                        </a:cubicBezTo>
                        <a:cubicBezTo>
                          <a:pt x="440" y="250"/>
                          <a:pt x="455" y="235"/>
                          <a:pt x="474" y="235"/>
                        </a:cubicBezTo>
                        <a:lnTo>
                          <a:pt x="652" y="235"/>
                        </a:lnTo>
                        <a:lnTo>
                          <a:pt x="652" y="169"/>
                        </a:lnTo>
                        <a:lnTo>
                          <a:pt x="590" y="169"/>
                        </a:lnTo>
                        <a:cubicBezTo>
                          <a:pt x="572" y="169"/>
                          <a:pt x="557" y="154"/>
                          <a:pt x="557" y="136"/>
                        </a:cubicBezTo>
                        <a:lnTo>
                          <a:pt x="557" y="66"/>
                        </a:lnTo>
                        <a:lnTo>
                          <a:pt x="161" y="66"/>
                        </a:lnTo>
                        <a:lnTo>
                          <a:pt x="161" y="136"/>
                        </a:lnTo>
                        <a:cubicBezTo>
                          <a:pt x="161" y="154"/>
                          <a:pt x="146" y="169"/>
                          <a:pt x="128" y="169"/>
                        </a:cubicBezTo>
                        <a:lnTo>
                          <a:pt x="67" y="169"/>
                        </a:lnTo>
                        <a:lnTo>
                          <a:pt x="67" y="235"/>
                        </a:lnTo>
                        <a:lnTo>
                          <a:pt x="244" y="235"/>
                        </a:lnTo>
                        <a:cubicBezTo>
                          <a:pt x="263" y="235"/>
                          <a:pt x="278" y="250"/>
                          <a:pt x="278" y="268"/>
                        </a:cubicBezTo>
                        <a:cubicBezTo>
                          <a:pt x="278" y="287"/>
                          <a:pt x="263" y="302"/>
                          <a:pt x="244" y="302"/>
                        </a:cubicBezTo>
                        <a:lnTo>
                          <a:pt x="33" y="302"/>
                        </a:lnTo>
                        <a:cubicBezTo>
                          <a:pt x="15" y="302"/>
                          <a:pt x="0" y="287"/>
                          <a:pt x="0" y="268"/>
                        </a:cubicBezTo>
                        <a:lnTo>
                          <a:pt x="0" y="136"/>
                        </a:lnTo>
                        <a:cubicBezTo>
                          <a:pt x="0" y="118"/>
                          <a:pt x="15" y="103"/>
                          <a:pt x="33" y="103"/>
                        </a:cubicBezTo>
                        <a:lnTo>
                          <a:pt x="94" y="103"/>
                        </a:lnTo>
                        <a:lnTo>
                          <a:pt x="94" y="33"/>
                        </a:lnTo>
                        <a:cubicBezTo>
                          <a:pt x="94" y="14"/>
                          <a:pt x="109" y="0"/>
                          <a:pt x="128" y="0"/>
                        </a:cubicBezTo>
                        <a:lnTo>
                          <a:pt x="590" y="0"/>
                        </a:lnTo>
                        <a:cubicBezTo>
                          <a:pt x="609" y="0"/>
                          <a:pt x="624" y="14"/>
                          <a:pt x="624" y="33"/>
                        </a:cubicBezTo>
                        <a:lnTo>
                          <a:pt x="624" y="103"/>
                        </a:lnTo>
                        <a:lnTo>
                          <a:pt x="685" y="103"/>
                        </a:lnTo>
                        <a:cubicBezTo>
                          <a:pt x="703" y="103"/>
                          <a:pt x="718" y="118"/>
                          <a:pt x="718" y="136"/>
                        </a:cubicBezTo>
                        <a:lnTo>
                          <a:pt x="718" y="268"/>
                        </a:lnTo>
                        <a:cubicBezTo>
                          <a:pt x="718" y="287"/>
                          <a:pt x="703" y="302"/>
                          <a:pt x="685" y="30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42" name="Freeform 228">
                    <a:extLst>
                      <a:ext uri="{FF2B5EF4-FFF2-40B4-BE49-F238E27FC236}">
                        <a16:creationId xmlns:a16="http://schemas.microsoft.com/office/drawing/2014/main" id="{1A09C5BB-402A-4ABB-8E63-382F601B567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727950" y="2327275"/>
                    <a:ext cx="122238" cy="92075"/>
                  </a:xfrm>
                  <a:custGeom>
                    <a:avLst/>
                    <a:gdLst>
                      <a:gd name="T0" fmla="*/ 2147483647 w 293"/>
                      <a:gd name="T1" fmla="*/ 2147483647 h 218"/>
                      <a:gd name="T2" fmla="*/ 2147483647 w 293"/>
                      <a:gd name="T3" fmla="*/ 2147483647 h 218"/>
                      <a:gd name="T4" fmla="*/ 2147483647 w 293"/>
                      <a:gd name="T5" fmla="*/ 2147483647 h 218"/>
                      <a:gd name="T6" fmla="*/ 2147483647 w 293"/>
                      <a:gd name="T7" fmla="*/ 2147483647 h 218"/>
                      <a:gd name="T8" fmla="*/ 2147483647 w 293"/>
                      <a:gd name="T9" fmla="*/ 2147483647 h 218"/>
                      <a:gd name="T10" fmla="*/ 2147483647 w 293"/>
                      <a:gd name="T11" fmla="*/ 2147483647 h 218"/>
                      <a:gd name="T12" fmla="*/ 2147483647 w 293"/>
                      <a:gd name="T13" fmla="*/ 2147483647 h 218"/>
                      <a:gd name="T14" fmla="*/ 2147483647 w 293"/>
                      <a:gd name="T15" fmla="*/ 2147483647 h 218"/>
                      <a:gd name="T16" fmla="*/ 0 w 293"/>
                      <a:gd name="T17" fmla="*/ 2147483647 h 218"/>
                      <a:gd name="T18" fmla="*/ 2147483647 w 293"/>
                      <a:gd name="T19" fmla="*/ 0 h 218"/>
                      <a:gd name="T20" fmla="*/ 2147483647 w 293"/>
                      <a:gd name="T21" fmla="*/ 0 h 218"/>
                      <a:gd name="T22" fmla="*/ 2147483647 w 293"/>
                      <a:gd name="T23" fmla="*/ 2147483647 h 218"/>
                      <a:gd name="T24" fmla="*/ 2147483647 w 293"/>
                      <a:gd name="T25" fmla="*/ 2147483647 h 218"/>
                      <a:gd name="T26" fmla="*/ 2147483647 w 293"/>
                      <a:gd name="T27" fmla="*/ 2147483647 h 218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293"/>
                      <a:gd name="T43" fmla="*/ 0 h 218"/>
                      <a:gd name="T44" fmla="*/ 293 w 293"/>
                      <a:gd name="T45" fmla="*/ 218 h 218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293" h="218">
                        <a:moveTo>
                          <a:pt x="260" y="218"/>
                        </a:moveTo>
                        <a:lnTo>
                          <a:pt x="260" y="218"/>
                        </a:lnTo>
                        <a:lnTo>
                          <a:pt x="49" y="218"/>
                        </a:lnTo>
                        <a:cubicBezTo>
                          <a:pt x="31" y="218"/>
                          <a:pt x="16" y="203"/>
                          <a:pt x="16" y="185"/>
                        </a:cubicBezTo>
                        <a:cubicBezTo>
                          <a:pt x="16" y="166"/>
                          <a:pt x="31" y="151"/>
                          <a:pt x="49" y="151"/>
                        </a:cubicBezTo>
                        <a:lnTo>
                          <a:pt x="226" y="151"/>
                        </a:lnTo>
                        <a:lnTo>
                          <a:pt x="226" y="67"/>
                        </a:lnTo>
                        <a:lnTo>
                          <a:pt x="33" y="67"/>
                        </a:lnTo>
                        <a:cubicBezTo>
                          <a:pt x="15" y="67"/>
                          <a:pt x="0" y="52"/>
                          <a:pt x="0" y="33"/>
                        </a:cubicBezTo>
                        <a:cubicBezTo>
                          <a:pt x="0" y="15"/>
                          <a:pt x="15" y="0"/>
                          <a:pt x="33" y="0"/>
                        </a:cubicBezTo>
                        <a:lnTo>
                          <a:pt x="260" y="0"/>
                        </a:lnTo>
                        <a:cubicBezTo>
                          <a:pt x="278" y="0"/>
                          <a:pt x="293" y="15"/>
                          <a:pt x="293" y="33"/>
                        </a:cubicBezTo>
                        <a:lnTo>
                          <a:pt x="293" y="185"/>
                        </a:lnTo>
                        <a:cubicBezTo>
                          <a:pt x="293" y="203"/>
                          <a:pt x="278" y="218"/>
                          <a:pt x="260" y="218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43" name="Freeform 229">
                    <a:extLst>
                      <a:ext uri="{FF2B5EF4-FFF2-40B4-BE49-F238E27FC236}">
                        <a16:creationId xmlns:a16="http://schemas.microsoft.com/office/drawing/2014/main" id="{843D3F5B-F1D4-4370-8D18-D212E08E99D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823197" y="2309814"/>
                    <a:ext cx="68263" cy="127001"/>
                  </a:xfrm>
                  <a:custGeom>
                    <a:avLst/>
                    <a:gdLst>
                      <a:gd name="T0" fmla="*/ 2147483647 w 163"/>
                      <a:gd name="T1" fmla="*/ 2147483647 h 304"/>
                      <a:gd name="T2" fmla="*/ 2147483647 w 163"/>
                      <a:gd name="T3" fmla="*/ 2147483647 h 304"/>
                      <a:gd name="T4" fmla="*/ 2147483647 w 163"/>
                      <a:gd name="T5" fmla="*/ 2147483647 h 304"/>
                      <a:gd name="T6" fmla="*/ 0 w 163"/>
                      <a:gd name="T7" fmla="*/ 2147483647 h 304"/>
                      <a:gd name="T8" fmla="*/ 0 w 163"/>
                      <a:gd name="T9" fmla="*/ 2147483647 h 304"/>
                      <a:gd name="T10" fmla="*/ 2147483647 w 163"/>
                      <a:gd name="T11" fmla="*/ 0 h 304"/>
                      <a:gd name="T12" fmla="*/ 2147483647 w 163"/>
                      <a:gd name="T13" fmla="*/ 0 h 304"/>
                      <a:gd name="T14" fmla="*/ 2147483647 w 163"/>
                      <a:gd name="T15" fmla="*/ 2147483647 h 304"/>
                      <a:gd name="T16" fmla="*/ 2147483647 w 163"/>
                      <a:gd name="T17" fmla="*/ 2147483647 h 304"/>
                      <a:gd name="T18" fmla="*/ 2147483647 w 163"/>
                      <a:gd name="T19" fmla="*/ 2147483647 h 304"/>
                      <a:gd name="T20" fmla="*/ 2147483647 w 163"/>
                      <a:gd name="T21" fmla="*/ 2147483647 h 304"/>
                      <a:gd name="T22" fmla="*/ 2147483647 w 163"/>
                      <a:gd name="T23" fmla="*/ 2147483647 h 304"/>
                      <a:gd name="T24" fmla="*/ 2147483647 w 163"/>
                      <a:gd name="T25" fmla="*/ 2147483647 h 304"/>
                      <a:gd name="T26" fmla="*/ 2147483647 w 163"/>
                      <a:gd name="T27" fmla="*/ 2147483647 h 304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w 163"/>
                      <a:gd name="T43" fmla="*/ 0 h 304"/>
                      <a:gd name="T44" fmla="*/ 163 w 163"/>
                      <a:gd name="T45" fmla="*/ 304 h 304"/>
                    </a:gdLst>
                    <a:ahLst/>
                    <a:cxnLst>
                      <a:cxn ang="T28">
                        <a:pos x="T0" y="T1"/>
                      </a:cxn>
                      <a:cxn ang="T29">
                        <a:pos x="T2" y="T3"/>
                      </a:cxn>
                      <a:cxn ang="T30">
                        <a:pos x="T4" y="T5"/>
                      </a:cxn>
                      <a:cxn ang="T31">
                        <a:pos x="T6" y="T7"/>
                      </a:cxn>
                      <a:cxn ang="T32">
                        <a:pos x="T8" y="T9"/>
                      </a:cxn>
                      <a:cxn ang="T33">
                        <a:pos x="T10" y="T11"/>
                      </a:cxn>
                      <a:cxn ang="T34">
                        <a:pos x="T12" y="T13"/>
                      </a:cxn>
                      <a:cxn ang="T35">
                        <a:pos x="T14" y="T15"/>
                      </a:cxn>
                      <a:cxn ang="T36">
                        <a:pos x="T16" y="T17"/>
                      </a:cxn>
                      <a:cxn ang="T37">
                        <a:pos x="T18" y="T19"/>
                      </a:cxn>
                      <a:cxn ang="T38">
                        <a:pos x="T20" y="T21"/>
                      </a:cxn>
                      <a:cxn ang="T39">
                        <a:pos x="T22" y="T23"/>
                      </a:cxn>
                      <a:cxn ang="T40">
                        <a:pos x="T24" y="T25"/>
                      </a:cxn>
                      <a:cxn ang="T41">
                        <a:pos x="T26" y="T27"/>
                      </a:cxn>
                    </a:cxnLst>
                    <a:rect l="T42" t="T43" r="T44" b="T45"/>
                    <a:pathLst>
                      <a:path w="163" h="304">
                        <a:moveTo>
                          <a:pt x="130" y="304"/>
                        </a:moveTo>
                        <a:lnTo>
                          <a:pt x="130" y="304"/>
                        </a:lnTo>
                        <a:lnTo>
                          <a:pt x="34" y="304"/>
                        </a:lnTo>
                        <a:cubicBezTo>
                          <a:pt x="15" y="304"/>
                          <a:pt x="0" y="289"/>
                          <a:pt x="0" y="271"/>
                        </a:cubicBezTo>
                        <a:lnTo>
                          <a:pt x="0" y="33"/>
                        </a:lnTo>
                        <a:cubicBezTo>
                          <a:pt x="0" y="15"/>
                          <a:pt x="15" y="0"/>
                          <a:pt x="34" y="0"/>
                        </a:cubicBezTo>
                        <a:lnTo>
                          <a:pt x="130" y="0"/>
                        </a:lnTo>
                        <a:cubicBezTo>
                          <a:pt x="148" y="0"/>
                          <a:pt x="163" y="15"/>
                          <a:pt x="163" y="33"/>
                        </a:cubicBezTo>
                        <a:cubicBezTo>
                          <a:pt x="163" y="52"/>
                          <a:pt x="148" y="67"/>
                          <a:pt x="130" y="67"/>
                        </a:cubicBezTo>
                        <a:lnTo>
                          <a:pt x="67" y="67"/>
                        </a:lnTo>
                        <a:lnTo>
                          <a:pt x="67" y="238"/>
                        </a:lnTo>
                        <a:lnTo>
                          <a:pt x="130" y="238"/>
                        </a:lnTo>
                        <a:cubicBezTo>
                          <a:pt x="148" y="238"/>
                          <a:pt x="163" y="252"/>
                          <a:pt x="163" y="271"/>
                        </a:cubicBezTo>
                        <a:cubicBezTo>
                          <a:pt x="163" y="289"/>
                          <a:pt x="148" y="304"/>
                          <a:pt x="130" y="30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>
                      <a:defRPr/>
                    </a:pPr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02FBD931-7073-4786-A17B-599DE3896821}"/>
                </a:ext>
              </a:extLst>
            </p:cNvPr>
            <p:cNvGrpSpPr/>
            <p:nvPr/>
          </p:nvGrpSpPr>
          <p:grpSpPr>
            <a:xfrm>
              <a:off x="7563779" y="1456979"/>
              <a:ext cx="3915189" cy="731520"/>
              <a:chOff x="7563779" y="1456979"/>
              <a:chExt cx="3915189" cy="731520"/>
            </a:xfrm>
          </p:grpSpPr>
          <p:sp>
            <p:nvSpPr>
              <p:cNvPr id="134" name="矩形 133">
                <a:extLst>
                  <a:ext uri="{FF2B5EF4-FFF2-40B4-BE49-F238E27FC236}">
                    <a16:creationId xmlns:a16="http://schemas.microsoft.com/office/drawing/2014/main" id="{BEB6E215-12CE-4DDE-B02A-A519B322BCAB}"/>
                  </a:ext>
                </a:extLst>
              </p:cNvPr>
              <p:cNvSpPr/>
              <p:nvPr/>
            </p:nvSpPr>
            <p:spPr>
              <a:xfrm>
                <a:off x="8187128" y="1456979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城市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：城市人口</a:t>
                </a:r>
                <a:r>
                  <a:rPr lang="en-US" altLang="zh-CN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&gt;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60%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，超千万城市</a:t>
                </a:r>
                <a:r>
                  <a:rPr lang="en-US" altLang="zh-CN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43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座</a:t>
                </a:r>
                <a:endParaRPr lang="en-US" altLang="zh-CN" sz="1200" b="1" kern="0" spc="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  <a:sym typeface="Arial" panose="020B0604020202020204" pitchFamily="34" charset="0"/>
                </a:endParaRPr>
              </a:p>
              <a:p>
                <a:pPr algn="ctr" defTabSz="913623">
                  <a:spcAft>
                    <a:spcPts val="900"/>
                  </a:spcAft>
                </a:pP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数字新基建，让城市有温度，更宜居</a:t>
                </a:r>
              </a:p>
            </p:txBody>
          </p: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3BE8FE6E-9832-4867-942D-E2CA2991B0C4}"/>
                  </a:ext>
                </a:extLst>
              </p:cNvPr>
              <p:cNvGrpSpPr/>
              <p:nvPr/>
            </p:nvGrpSpPr>
            <p:grpSpPr>
              <a:xfrm>
                <a:off x="7563779" y="1548419"/>
                <a:ext cx="548640" cy="548640"/>
                <a:chOff x="7077266" y="1488678"/>
                <a:chExt cx="548640" cy="548640"/>
              </a:xfrm>
            </p:grpSpPr>
            <p:sp>
              <p:nvSpPr>
                <p:cNvPr id="245" name="椭圆 244">
                  <a:extLst>
                    <a:ext uri="{FF2B5EF4-FFF2-40B4-BE49-F238E27FC236}">
                      <a16:creationId xmlns:a16="http://schemas.microsoft.com/office/drawing/2014/main" id="{EC694DF0-9C6C-46A8-8B87-24496C92AFE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77266" y="1488678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  <p:grpSp>
              <p:nvGrpSpPr>
                <p:cNvPr id="246" name="组合 245">
                  <a:extLst>
                    <a:ext uri="{FF2B5EF4-FFF2-40B4-BE49-F238E27FC236}">
                      <a16:creationId xmlns:a16="http://schemas.microsoft.com/office/drawing/2014/main" id="{5143F84C-733C-453D-9714-51EB6888B7C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7195423" y="1598406"/>
                  <a:ext cx="312327" cy="329184"/>
                  <a:chOff x="2305050" y="2811463"/>
                  <a:chExt cx="558800" cy="588962"/>
                </a:xfrm>
                <a:solidFill>
                  <a:srgbClr val="808080"/>
                </a:solidFill>
              </p:grpSpPr>
              <p:sp>
                <p:nvSpPr>
                  <p:cNvPr id="247" name="Oval 446">
                    <a:extLst>
                      <a:ext uri="{FF2B5EF4-FFF2-40B4-BE49-F238E27FC236}">
                        <a16:creationId xmlns:a16="http://schemas.microsoft.com/office/drawing/2014/main" id="{7813EC96-7077-441B-A1CC-53D698EA3D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81250" y="3346450"/>
                    <a:ext cx="53975" cy="5397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48" name="Oval 447">
                    <a:extLst>
                      <a:ext uri="{FF2B5EF4-FFF2-40B4-BE49-F238E27FC236}">
                        <a16:creationId xmlns:a16="http://schemas.microsoft.com/office/drawing/2014/main" id="{D4BC2C49-D891-413B-8B98-2E28DDEF4A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462213" y="3346450"/>
                    <a:ext cx="55563" cy="53975"/>
                  </a:xfrm>
                  <a:prstGeom prst="ellipse">
                    <a:avLst/>
                  </a:pr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49" name="Freeform 458">
                    <a:extLst>
                      <a:ext uri="{FF2B5EF4-FFF2-40B4-BE49-F238E27FC236}">
                        <a16:creationId xmlns:a16="http://schemas.microsoft.com/office/drawing/2014/main" id="{6FA03F1B-EECB-4123-BC60-19A413773F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305050" y="2811463"/>
                    <a:ext cx="382588" cy="573088"/>
                  </a:xfrm>
                  <a:custGeom>
                    <a:avLst/>
                    <a:gdLst/>
                    <a:ahLst/>
                    <a:cxnLst>
                      <a:cxn ang="0">
                        <a:pos x="46" y="265"/>
                      </a:cxn>
                      <a:cxn ang="0">
                        <a:pos x="5" y="265"/>
                      </a:cxn>
                      <a:cxn ang="0">
                        <a:pos x="0" y="260"/>
                      </a:cxn>
                      <a:cxn ang="0">
                        <a:pos x="0" y="6"/>
                      </a:cxn>
                      <a:cxn ang="0">
                        <a:pos x="5" y="0"/>
                      </a:cxn>
                      <a:cxn ang="0">
                        <a:pos x="171" y="0"/>
                      </a:cxn>
                      <a:cxn ang="0">
                        <a:pos x="177" y="6"/>
                      </a:cxn>
                      <a:cxn ang="0">
                        <a:pos x="177" y="135"/>
                      </a:cxn>
                      <a:cxn ang="0">
                        <a:pos x="171" y="141"/>
                      </a:cxn>
                      <a:cxn ang="0">
                        <a:pos x="166" y="135"/>
                      </a:cxn>
                      <a:cxn ang="0">
                        <a:pos x="166" y="11"/>
                      </a:cxn>
                      <a:cxn ang="0">
                        <a:pos x="11" y="11"/>
                      </a:cxn>
                      <a:cxn ang="0">
                        <a:pos x="11" y="254"/>
                      </a:cxn>
                      <a:cxn ang="0">
                        <a:pos x="46" y="254"/>
                      </a:cxn>
                      <a:cxn ang="0">
                        <a:pos x="51" y="260"/>
                      </a:cxn>
                      <a:cxn ang="0">
                        <a:pos x="46" y="265"/>
                      </a:cxn>
                    </a:cxnLst>
                    <a:rect l="0" t="0" r="r" b="b"/>
                    <a:pathLst>
                      <a:path w="177" h="265">
                        <a:moveTo>
                          <a:pt x="46" y="265"/>
                        </a:moveTo>
                        <a:cubicBezTo>
                          <a:pt x="5" y="265"/>
                          <a:pt x="5" y="265"/>
                          <a:pt x="5" y="265"/>
                        </a:cubicBezTo>
                        <a:cubicBezTo>
                          <a:pt x="2" y="265"/>
                          <a:pt x="0" y="263"/>
                          <a:pt x="0" y="260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3"/>
                          <a:pt x="2" y="0"/>
                          <a:pt x="5" y="0"/>
                        </a:cubicBezTo>
                        <a:cubicBezTo>
                          <a:pt x="171" y="0"/>
                          <a:pt x="171" y="0"/>
                          <a:pt x="171" y="0"/>
                        </a:cubicBezTo>
                        <a:cubicBezTo>
                          <a:pt x="174" y="0"/>
                          <a:pt x="177" y="3"/>
                          <a:pt x="177" y="6"/>
                        </a:cubicBezTo>
                        <a:cubicBezTo>
                          <a:pt x="177" y="135"/>
                          <a:pt x="177" y="135"/>
                          <a:pt x="177" y="135"/>
                        </a:cubicBezTo>
                        <a:cubicBezTo>
                          <a:pt x="177" y="138"/>
                          <a:pt x="174" y="141"/>
                          <a:pt x="171" y="141"/>
                        </a:cubicBezTo>
                        <a:cubicBezTo>
                          <a:pt x="168" y="141"/>
                          <a:pt x="166" y="138"/>
                          <a:pt x="166" y="135"/>
                        </a:cubicBezTo>
                        <a:cubicBezTo>
                          <a:pt x="166" y="11"/>
                          <a:pt x="166" y="11"/>
                          <a:pt x="166" y="11"/>
                        </a:cubicBezTo>
                        <a:cubicBezTo>
                          <a:pt x="11" y="11"/>
                          <a:pt x="11" y="11"/>
                          <a:pt x="11" y="11"/>
                        </a:cubicBezTo>
                        <a:cubicBezTo>
                          <a:pt x="11" y="254"/>
                          <a:pt x="11" y="254"/>
                          <a:pt x="11" y="254"/>
                        </a:cubicBezTo>
                        <a:cubicBezTo>
                          <a:pt x="46" y="254"/>
                          <a:pt x="46" y="254"/>
                          <a:pt x="46" y="254"/>
                        </a:cubicBezTo>
                        <a:cubicBezTo>
                          <a:pt x="49" y="254"/>
                          <a:pt x="51" y="256"/>
                          <a:pt x="51" y="260"/>
                        </a:cubicBezTo>
                        <a:cubicBezTo>
                          <a:pt x="51" y="263"/>
                          <a:pt x="49" y="265"/>
                          <a:pt x="46" y="265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0" name="Freeform 459">
                    <a:extLst>
                      <a:ext uri="{FF2B5EF4-FFF2-40B4-BE49-F238E27FC236}">
                        <a16:creationId xmlns:a16="http://schemas.microsoft.com/office/drawing/2014/main" id="{377EEB9A-052D-4E4B-86C8-0043C40726E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78088" y="3360738"/>
                    <a:ext cx="125413" cy="23813"/>
                  </a:xfrm>
                  <a:custGeom>
                    <a:avLst/>
                    <a:gdLst/>
                    <a:ahLst/>
                    <a:cxnLst>
                      <a:cxn ang="0">
                        <a:pos x="52" y="11"/>
                      </a:cxn>
                      <a:cxn ang="0">
                        <a:pos x="5" y="11"/>
                      </a:cxn>
                      <a:cxn ang="0">
                        <a:pos x="0" y="6"/>
                      </a:cxn>
                      <a:cxn ang="0">
                        <a:pos x="5" y="0"/>
                      </a:cxn>
                      <a:cxn ang="0">
                        <a:pos x="52" y="0"/>
                      </a:cxn>
                      <a:cxn ang="0">
                        <a:pos x="58" y="6"/>
                      </a:cxn>
                      <a:cxn ang="0">
                        <a:pos x="52" y="11"/>
                      </a:cxn>
                    </a:cxnLst>
                    <a:rect l="0" t="0" r="r" b="b"/>
                    <a:pathLst>
                      <a:path w="58" h="11">
                        <a:moveTo>
                          <a:pt x="52" y="11"/>
                        </a:moveTo>
                        <a:cubicBezTo>
                          <a:pt x="5" y="11"/>
                          <a:pt x="5" y="11"/>
                          <a:pt x="5" y="11"/>
                        </a:cubicBezTo>
                        <a:cubicBezTo>
                          <a:pt x="2" y="11"/>
                          <a:pt x="0" y="9"/>
                          <a:pt x="0" y="6"/>
                        </a:cubicBezTo>
                        <a:cubicBezTo>
                          <a:pt x="0" y="2"/>
                          <a:pt x="2" y="0"/>
                          <a:pt x="5" y="0"/>
                        </a:cubicBezTo>
                        <a:cubicBezTo>
                          <a:pt x="52" y="0"/>
                          <a:pt x="52" y="0"/>
                          <a:pt x="52" y="0"/>
                        </a:cubicBezTo>
                        <a:cubicBezTo>
                          <a:pt x="55" y="0"/>
                          <a:pt x="58" y="2"/>
                          <a:pt x="58" y="6"/>
                        </a:cubicBezTo>
                        <a:cubicBezTo>
                          <a:pt x="58" y="9"/>
                          <a:pt x="55" y="11"/>
                          <a:pt x="52" y="1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1" name="Freeform 460">
                    <a:extLst>
                      <a:ext uri="{FF2B5EF4-FFF2-40B4-BE49-F238E27FC236}">
                        <a16:creationId xmlns:a16="http://schemas.microsoft.com/office/drawing/2014/main" id="{AAF12011-EA1B-443B-A42D-73A0C0F77CB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371725" y="3055938"/>
                    <a:ext cx="63500" cy="61913"/>
                  </a:xfrm>
                  <a:custGeom>
                    <a:avLst/>
                    <a:gdLst/>
                    <a:ahLst/>
                    <a:cxnLst>
                      <a:cxn ang="0">
                        <a:pos x="26" y="29"/>
                      </a:cxn>
                      <a:cxn ang="0">
                        <a:pos x="4" y="29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29" y="4"/>
                      </a:cxn>
                      <a:cxn ang="0">
                        <a:pos x="29" y="26"/>
                      </a:cxn>
                      <a:cxn ang="0">
                        <a:pos x="26" y="29"/>
                      </a:cxn>
                      <a:cxn ang="0">
                        <a:pos x="7" y="22"/>
                      </a:cxn>
                      <a:cxn ang="0">
                        <a:pos x="22" y="22"/>
                      </a:cxn>
                      <a:cxn ang="0">
                        <a:pos x="22" y="7"/>
                      </a:cxn>
                      <a:cxn ang="0">
                        <a:pos x="7" y="7"/>
                      </a:cxn>
                      <a:cxn ang="0">
                        <a:pos x="7" y="22"/>
                      </a:cxn>
                    </a:cxnLst>
                    <a:rect l="0" t="0" r="r" b="b"/>
                    <a:pathLst>
                      <a:path w="29" h="29">
                        <a:moveTo>
                          <a:pt x="26" y="29"/>
                        </a:moveTo>
                        <a:cubicBezTo>
                          <a:pt x="4" y="29"/>
                          <a:pt x="4" y="29"/>
                          <a:pt x="4" y="29"/>
                        </a:cubicBezTo>
                        <a:cubicBezTo>
                          <a:pt x="2" y="29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29" y="2"/>
                          <a:pt x="29" y="4"/>
                        </a:cubicBezTo>
                        <a:cubicBezTo>
                          <a:pt x="29" y="26"/>
                          <a:pt x="29" y="26"/>
                          <a:pt x="29" y="26"/>
                        </a:cubicBezTo>
                        <a:cubicBezTo>
                          <a:pt x="29" y="28"/>
                          <a:pt x="28" y="29"/>
                          <a:pt x="26" y="29"/>
                        </a:cubicBezTo>
                        <a:close/>
                        <a:moveTo>
                          <a:pt x="7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7" y="7"/>
                          <a:pt x="7" y="7"/>
                          <a:pt x="7" y="7"/>
                        </a:cubicBezTo>
                        <a:lnTo>
                          <a:pt x="7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2" name="Freeform 461">
                    <a:extLst>
                      <a:ext uri="{FF2B5EF4-FFF2-40B4-BE49-F238E27FC236}">
                        <a16:creationId xmlns:a16="http://schemas.microsoft.com/office/drawing/2014/main" id="{E0C831DA-CA90-496F-A0BC-88659811F4D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459038" y="3055938"/>
                    <a:ext cx="65088" cy="61913"/>
                  </a:xfrm>
                  <a:custGeom>
                    <a:avLst/>
                    <a:gdLst/>
                    <a:ahLst/>
                    <a:cxnLst>
                      <a:cxn ang="0">
                        <a:pos x="26" y="29"/>
                      </a:cxn>
                      <a:cxn ang="0">
                        <a:pos x="4" y="29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30" y="4"/>
                      </a:cxn>
                      <a:cxn ang="0">
                        <a:pos x="30" y="26"/>
                      </a:cxn>
                      <a:cxn ang="0">
                        <a:pos x="26" y="29"/>
                      </a:cxn>
                      <a:cxn ang="0">
                        <a:pos x="8" y="22"/>
                      </a:cxn>
                      <a:cxn ang="0">
                        <a:pos x="22" y="22"/>
                      </a:cxn>
                      <a:cxn ang="0">
                        <a:pos x="22" y="7"/>
                      </a:cxn>
                      <a:cxn ang="0">
                        <a:pos x="8" y="7"/>
                      </a:cxn>
                      <a:cxn ang="0">
                        <a:pos x="8" y="22"/>
                      </a:cxn>
                    </a:cxnLst>
                    <a:rect l="0" t="0" r="r" b="b"/>
                    <a:pathLst>
                      <a:path w="30" h="29">
                        <a:moveTo>
                          <a:pt x="26" y="29"/>
                        </a:moveTo>
                        <a:cubicBezTo>
                          <a:pt x="4" y="29"/>
                          <a:pt x="4" y="29"/>
                          <a:pt x="4" y="29"/>
                        </a:cubicBezTo>
                        <a:cubicBezTo>
                          <a:pt x="2" y="29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30" y="2"/>
                          <a:pt x="30" y="4"/>
                        </a:cubicBezTo>
                        <a:cubicBezTo>
                          <a:pt x="30" y="26"/>
                          <a:pt x="30" y="26"/>
                          <a:pt x="30" y="26"/>
                        </a:cubicBezTo>
                        <a:cubicBezTo>
                          <a:pt x="30" y="28"/>
                          <a:pt x="28" y="29"/>
                          <a:pt x="26" y="29"/>
                        </a:cubicBezTo>
                        <a:close/>
                        <a:moveTo>
                          <a:pt x="8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8" y="7"/>
                          <a:pt x="8" y="7"/>
                          <a:pt x="8" y="7"/>
                        </a:cubicBezTo>
                        <a:lnTo>
                          <a:pt x="8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3" name="Freeform 462">
                    <a:extLst>
                      <a:ext uri="{FF2B5EF4-FFF2-40B4-BE49-F238E27FC236}">
                        <a16:creationId xmlns:a16="http://schemas.microsoft.com/office/drawing/2014/main" id="{5F84E3F1-DB7A-4B21-AA35-9BE37250B45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547938" y="3055938"/>
                    <a:ext cx="61913" cy="61913"/>
                  </a:xfrm>
                  <a:custGeom>
                    <a:avLst/>
                    <a:gdLst/>
                    <a:ahLst/>
                    <a:cxnLst>
                      <a:cxn ang="0">
                        <a:pos x="25" y="29"/>
                      </a:cxn>
                      <a:cxn ang="0">
                        <a:pos x="3" y="29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  <a:cxn ang="0">
                        <a:pos x="25" y="0"/>
                      </a:cxn>
                      <a:cxn ang="0">
                        <a:pos x="29" y="4"/>
                      </a:cxn>
                      <a:cxn ang="0">
                        <a:pos x="29" y="26"/>
                      </a:cxn>
                      <a:cxn ang="0">
                        <a:pos x="25" y="29"/>
                      </a:cxn>
                      <a:cxn ang="0">
                        <a:pos x="7" y="22"/>
                      </a:cxn>
                      <a:cxn ang="0">
                        <a:pos x="22" y="22"/>
                      </a:cxn>
                      <a:cxn ang="0">
                        <a:pos x="22" y="7"/>
                      </a:cxn>
                      <a:cxn ang="0">
                        <a:pos x="7" y="7"/>
                      </a:cxn>
                      <a:cxn ang="0">
                        <a:pos x="7" y="22"/>
                      </a:cxn>
                    </a:cxnLst>
                    <a:rect l="0" t="0" r="r" b="b"/>
                    <a:pathLst>
                      <a:path w="29" h="29">
                        <a:moveTo>
                          <a:pt x="25" y="29"/>
                        </a:move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1" y="29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1" y="0"/>
                          <a:pt x="3" y="0"/>
                        </a:cubicBezTo>
                        <a:cubicBezTo>
                          <a:pt x="25" y="0"/>
                          <a:pt x="25" y="0"/>
                          <a:pt x="25" y="0"/>
                        </a:cubicBezTo>
                        <a:cubicBezTo>
                          <a:pt x="27" y="0"/>
                          <a:pt x="29" y="2"/>
                          <a:pt x="29" y="4"/>
                        </a:cubicBezTo>
                        <a:cubicBezTo>
                          <a:pt x="29" y="26"/>
                          <a:pt x="29" y="26"/>
                          <a:pt x="29" y="26"/>
                        </a:cubicBezTo>
                        <a:cubicBezTo>
                          <a:pt x="29" y="28"/>
                          <a:pt x="27" y="29"/>
                          <a:pt x="25" y="29"/>
                        </a:cubicBezTo>
                        <a:close/>
                        <a:moveTo>
                          <a:pt x="7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7" y="7"/>
                          <a:pt x="7" y="7"/>
                          <a:pt x="7" y="7"/>
                        </a:cubicBezTo>
                        <a:lnTo>
                          <a:pt x="7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4" name="Freeform 463">
                    <a:extLst>
                      <a:ext uri="{FF2B5EF4-FFF2-40B4-BE49-F238E27FC236}">
                        <a16:creationId xmlns:a16="http://schemas.microsoft.com/office/drawing/2014/main" id="{05F139FF-F825-4B5A-9BD8-785CC1AB434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371725" y="3140075"/>
                    <a:ext cx="63500" cy="65088"/>
                  </a:xfrm>
                  <a:custGeom>
                    <a:avLst/>
                    <a:gdLst/>
                    <a:ahLst/>
                    <a:cxnLst>
                      <a:cxn ang="0">
                        <a:pos x="26" y="30"/>
                      </a:cxn>
                      <a:cxn ang="0">
                        <a:pos x="4" y="30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29" y="4"/>
                      </a:cxn>
                      <a:cxn ang="0">
                        <a:pos x="29" y="26"/>
                      </a:cxn>
                      <a:cxn ang="0">
                        <a:pos x="26" y="30"/>
                      </a:cxn>
                      <a:cxn ang="0">
                        <a:pos x="7" y="22"/>
                      </a:cxn>
                      <a:cxn ang="0">
                        <a:pos x="22" y="22"/>
                      </a:cxn>
                      <a:cxn ang="0">
                        <a:pos x="22" y="8"/>
                      </a:cxn>
                      <a:cxn ang="0">
                        <a:pos x="7" y="8"/>
                      </a:cxn>
                      <a:cxn ang="0">
                        <a:pos x="7" y="22"/>
                      </a:cxn>
                    </a:cxnLst>
                    <a:rect l="0" t="0" r="r" b="b"/>
                    <a:pathLst>
                      <a:path w="29" h="30">
                        <a:moveTo>
                          <a:pt x="26" y="30"/>
                        </a:moveTo>
                        <a:cubicBezTo>
                          <a:pt x="4" y="30"/>
                          <a:pt x="4" y="30"/>
                          <a:pt x="4" y="30"/>
                        </a:cubicBezTo>
                        <a:cubicBezTo>
                          <a:pt x="2" y="30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29" y="2"/>
                          <a:pt x="29" y="4"/>
                        </a:cubicBezTo>
                        <a:cubicBezTo>
                          <a:pt x="29" y="26"/>
                          <a:pt x="29" y="26"/>
                          <a:pt x="29" y="26"/>
                        </a:cubicBezTo>
                        <a:cubicBezTo>
                          <a:pt x="29" y="28"/>
                          <a:pt x="28" y="30"/>
                          <a:pt x="26" y="30"/>
                        </a:cubicBezTo>
                        <a:close/>
                        <a:moveTo>
                          <a:pt x="7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7" y="8"/>
                          <a:pt x="7" y="8"/>
                          <a:pt x="7" y="8"/>
                        </a:cubicBezTo>
                        <a:lnTo>
                          <a:pt x="7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5" name="Freeform 464">
                    <a:extLst>
                      <a:ext uri="{FF2B5EF4-FFF2-40B4-BE49-F238E27FC236}">
                        <a16:creationId xmlns:a16="http://schemas.microsoft.com/office/drawing/2014/main" id="{3089C4FA-E4FD-453E-A2D3-AED7F89976D8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459038" y="3140075"/>
                    <a:ext cx="65088" cy="65088"/>
                  </a:xfrm>
                  <a:custGeom>
                    <a:avLst/>
                    <a:gdLst/>
                    <a:ahLst/>
                    <a:cxnLst>
                      <a:cxn ang="0">
                        <a:pos x="26" y="30"/>
                      </a:cxn>
                      <a:cxn ang="0">
                        <a:pos x="4" y="30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30" y="4"/>
                      </a:cxn>
                      <a:cxn ang="0">
                        <a:pos x="30" y="26"/>
                      </a:cxn>
                      <a:cxn ang="0">
                        <a:pos x="26" y="30"/>
                      </a:cxn>
                      <a:cxn ang="0">
                        <a:pos x="8" y="22"/>
                      </a:cxn>
                      <a:cxn ang="0">
                        <a:pos x="22" y="22"/>
                      </a:cxn>
                      <a:cxn ang="0">
                        <a:pos x="22" y="8"/>
                      </a:cxn>
                      <a:cxn ang="0">
                        <a:pos x="8" y="8"/>
                      </a:cxn>
                      <a:cxn ang="0">
                        <a:pos x="8" y="22"/>
                      </a:cxn>
                    </a:cxnLst>
                    <a:rect l="0" t="0" r="r" b="b"/>
                    <a:pathLst>
                      <a:path w="30" h="30">
                        <a:moveTo>
                          <a:pt x="26" y="30"/>
                        </a:moveTo>
                        <a:cubicBezTo>
                          <a:pt x="4" y="30"/>
                          <a:pt x="4" y="30"/>
                          <a:pt x="4" y="30"/>
                        </a:cubicBezTo>
                        <a:cubicBezTo>
                          <a:pt x="2" y="30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30" y="2"/>
                          <a:pt x="30" y="4"/>
                        </a:cubicBezTo>
                        <a:cubicBezTo>
                          <a:pt x="30" y="26"/>
                          <a:pt x="30" y="26"/>
                          <a:pt x="30" y="26"/>
                        </a:cubicBezTo>
                        <a:cubicBezTo>
                          <a:pt x="30" y="28"/>
                          <a:pt x="28" y="30"/>
                          <a:pt x="26" y="30"/>
                        </a:cubicBezTo>
                        <a:close/>
                        <a:moveTo>
                          <a:pt x="8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lnTo>
                          <a:pt x="8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6" name="Freeform 465">
                    <a:extLst>
                      <a:ext uri="{FF2B5EF4-FFF2-40B4-BE49-F238E27FC236}">
                        <a16:creationId xmlns:a16="http://schemas.microsoft.com/office/drawing/2014/main" id="{EA3B5673-53BD-41A4-8E6C-4554D00B8EAB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371725" y="2884488"/>
                    <a:ext cx="63500" cy="65088"/>
                  </a:xfrm>
                  <a:custGeom>
                    <a:avLst/>
                    <a:gdLst/>
                    <a:ahLst/>
                    <a:cxnLst>
                      <a:cxn ang="0">
                        <a:pos x="26" y="30"/>
                      </a:cxn>
                      <a:cxn ang="0">
                        <a:pos x="4" y="30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29" y="4"/>
                      </a:cxn>
                      <a:cxn ang="0">
                        <a:pos x="29" y="26"/>
                      </a:cxn>
                      <a:cxn ang="0">
                        <a:pos x="26" y="30"/>
                      </a:cxn>
                      <a:cxn ang="0">
                        <a:pos x="7" y="22"/>
                      </a:cxn>
                      <a:cxn ang="0">
                        <a:pos x="22" y="22"/>
                      </a:cxn>
                      <a:cxn ang="0">
                        <a:pos x="22" y="8"/>
                      </a:cxn>
                      <a:cxn ang="0">
                        <a:pos x="7" y="8"/>
                      </a:cxn>
                      <a:cxn ang="0">
                        <a:pos x="7" y="22"/>
                      </a:cxn>
                    </a:cxnLst>
                    <a:rect l="0" t="0" r="r" b="b"/>
                    <a:pathLst>
                      <a:path w="29" h="30">
                        <a:moveTo>
                          <a:pt x="26" y="30"/>
                        </a:moveTo>
                        <a:cubicBezTo>
                          <a:pt x="4" y="30"/>
                          <a:pt x="4" y="30"/>
                          <a:pt x="4" y="30"/>
                        </a:cubicBezTo>
                        <a:cubicBezTo>
                          <a:pt x="2" y="30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29" y="2"/>
                          <a:pt x="29" y="4"/>
                        </a:cubicBezTo>
                        <a:cubicBezTo>
                          <a:pt x="29" y="26"/>
                          <a:pt x="29" y="26"/>
                          <a:pt x="29" y="26"/>
                        </a:cubicBezTo>
                        <a:cubicBezTo>
                          <a:pt x="29" y="28"/>
                          <a:pt x="28" y="30"/>
                          <a:pt x="26" y="30"/>
                        </a:cubicBezTo>
                        <a:close/>
                        <a:moveTo>
                          <a:pt x="7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7" y="8"/>
                          <a:pt x="7" y="8"/>
                          <a:pt x="7" y="8"/>
                        </a:cubicBezTo>
                        <a:lnTo>
                          <a:pt x="7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7" name="Freeform 466">
                    <a:extLst>
                      <a:ext uri="{FF2B5EF4-FFF2-40B4-BE49-F238E27FC236}">
                        <a16:creationId xmlns:a16="http://schemas.microsoft.com/office/drawing/2014/main" id="{AD62FBFA-8EB8-40DB-81D9-23C837820E4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459038" y="2884488"/>
                    <a:ext cx="65088" cy="65088"/>
                  </a:xfrm>
                  <a:custGeom>
                    <a:avLst/>
                    <a:gdLst/>
                    <a:ahLst/>
                    <a:cxnLst>
                      <a:cxn ang="0">
                        <a:pos x="26" y="30"/>
                      </a:cxn>
                      <a:cxn ang="0">
                        <a:pos x="4" y="30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30" y="4"/>
                      </a:cxn>
                      <a:cxn ang="0">
                        <a:pos x="30" y="26"/>
                      </a:cxn>
                      <a:cxn ang="0">
                        <a:pos x="26" y="30"/>
                      </a:cxn>
                      <a:cxn ang="0">
                        <a:pos x="8" y="22"/>
                      </a:cxn>
                      <a:cxn ang="0">
                        <a:pos x="22" y="22"/>
                      </a:cxn>
                      <a:cxn ang="0">
                        <a:pos x="22" y="8"/>
                      </a:cxn>
                      <a:cxn ang="0">
                        <a:pos x="8" y="8"/>
                      </a:cxn>
                      <a:cxn ang="0">
                        <a:pos x="8" y="22"/>
                      </a:cxn>
                    </a:cxnLst>
                    <a:rect l="0" t="0" r="r" b="b"/>
                    <a:pathLst>
                      <a:path w="30" h="30">
                        <a:moveTo>
                          <a:pt x="26" y="30"/>
                        </a:moveTo>
                        <a:cubicBezTo>
                          <a:pt x="4" y="30"/>
                          <a:pt x="4" y="30"/>
                          <a:pt x="4" y="30"/>
                        </a:cubicBezTo>
                        <a:cubicBezTo>
                          <a:pt x="2" y="30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30" y="2"/>
                          <a:pt x="30" y="4"/>
                        </a:cubicBezTo>
                        <a:cubicBezTo>
                          <a:pt x="30" y="26"/>
                          <a:pt x="30" y="26"/>
                          <a:pt x="30" y="26"/>
                        </a:cubicBezTo>
                        <a:cubicBezTo>
                          <a:pt x="30" y="28"/>
                          <a:pt x="28" y="30"/>
                          <a:pt x="26" y="30"/>
                        </a:cubicBezTo>
                        <a:close/>
                        <a:moveTo>
                          <a:pt x="8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8" y="8"/>
                          <a:pt x="8" y="8"/>
                          <a:pt x="8" y="8"/>
                        </a:cubicBezTo>
                        <a:lnTo>
                          <a:pt x="8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8" name="Freeform 467">
                    <a:extLst>
                      <a:ext uri="{FF2B5EF4-FFF2-40B4-BE49-F238E27FC236}">
                        <a16:creationId xmlns:a16="http://schemas.microsoft.com/office/drawing/2014/main" id="{E233E2E1-DD94-4E88-AB01-66F29D51EDB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547938" y="2884488"/>
                    <a:ext cx="61913" cy="65088"/>
                  </a:xfrm>
                  <a:custGeom>
                    <a:avLst/>
                    <a:gdLst/>
                    <a:ahLst/>
                    <a:cxnLst>
                      <a:cxn ang="0">
                        <a:pos x="25" y="30"/>
                      </a:cxn>
                      <a:cxn ang="0">
                        <a:pos x="3" y="30"/>
                      </a:cxn>
                      <a:cxn ang="0">
                        <a:pos x="0" y="26"/>
                      </a:cxn>
                      <a:cxn ang="0">
                        <a:pos x="0" y="4"/>
                      </a:cxn>
                      <a:cxn ang="0">
                        <a:pos x="3" y="0"/>
                      </a:cxn>
                      <a:cxn ang="0">
                        <a:pos x="25" y="0"/>
                      </a:cxn>
                      <a:cxn ang="0">
                        <a:pos x="29" y="4"/>
                      </a:cxn>
                      <a:cxn ang="0">
                        <a:pos x="29" y="26"/>
                      </a:cxn>
                      <a:cxn ang="0">
                        <a:pos x="25" y="30"/>
                      </a:cxn>
                      <a:cxn ang="0">
                        <a:pos x="7" y="22"/>
                      </a:cxn>
                      <a:cxn ang="0">
                        <a:pos x="22" y="22"/>
                      </a:cxn>
                      <a:cxn ang="0">
                        <a:pos x="22" y="8"/>
                      </a:cxn>
                      <a:cxn ang="0">
                        <a:pos x="7" y="8"/>
                      </a:cxn>
                      <a:cxn ang="0">
                        <a:pos x="7" y="22"/>
                      </a:cxn>
                    </a:cxnLst>
                    <a:rect l="0" t="0" r="r" b="b"/>
                    <a:pathLst>
                      <a:path w="29" h="30">
                        <a:moveTo>
                          <a:pt x="25" y="30"/>
                        </a:moveTo>
                        <a:cubicBezTo>
                          <a:pt x="3" y="30"/>
                          <a:pt x="3" y="30"/>
                          <a:pt x="3" y="30"/>
                        </a:cubicBezTo>
                        <a:cubicBezTo>
                          <a:pt x="1" y="30"/>
                          <a:pt x="0" y="28"/>
                          <a:pt x="0" y="26"/>
                        </a:cubicBez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0" y="2"/>
                          <a:pt x="1" y="0"/>
                          <a:pt x="3" y="0"/>
                        </a:cubicBezTo>
                        <a:cubicBezTo>
                          <a:pt x="25" y="0"/>
                          <a:pt x="25" y="0"/>
                          <a:pt x="25" y="0"/>
                        </a:cubicBezTo>
                        <a:cubicBezTo>
                          <a:pt x="27" y="0"/>
                          <a:pt x="29" y="2"/>
                          <a:pt x="29" y="4"/>
                        </a:cubicBezTo>
                        <a:cubicBezTo>
                          <a:pt x="29" y="26"/>
                          <a:pt x="29" y="26"/>
                          <a:pt x="29" y="26"/>
                        </a:cubicBezTo>
                        <a:cubicBezTo>
                          <a:pt x="29" y="28"/>
                          <a:pt x="27" y="30"/>
                          <a:pt x="25" y="30"/>
                        </a:cubicBezTo>
                        <a:close/>
                        <a:moveTo>
                          <a:pt x="7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8"/>
                          <a:pt x="22" y="8"/>
                          <a:pt x="22" y="8"/>
                        </a:cubicBezTo>
                        <a:cubicBezTo>
                          <a:pt x="7" y="8"/>
                          <a:pt x="7" y="8"/>
                          <a:pt x="7" y="8"/>
                        </a:cubicBezTo>
                        <a:lnTo>
                          <a:pt x="7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59" name="Freeform 468">
                    <a:extLst>
                      <a:ext uri="{FF2B5EF4-FFF2-40B4-BE49-F238E27FC236}">
                        <a16:creationId xmlns:a16="http://schemas.microsoft.com/office/drawing/2014/main" id="{BF21D8FE-E568-4B6E-A173-762EBF474C97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371725" y="2971800"/>
                    <a:ext cx="63500" cy="61913"/>
                  </a:xfrm>
                  <a:custGeom>
                    <a:avLst/>
                    <a:gdLst/>
                    <a:ahLst/>
                    <a:cxnLst>
                      <a:cxn ang="0">
                        <a:pos x="26" y="29"/>
                      </a:cxn>
                      <a:cxn ang="0">
                        <a:pos x="4" y="29"/>
                      </a:cxn>
                      <a:cxn ang="0">
                        <a:pos x="0" y="25"/>
                      </a:cxn>
                      <a:cxn ang="0">
                        <a:pos x="0" y="3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29" y="3"/>
                      </a:cxn>
                      <a:cxn ang="0">
                        <a:pos x="29" y="25"/>
                      </a:cxn>
                      <a:cxn ang="0">
                        <a:pos x="26" y="29"/>
                      </a:cxn>
                      <a:cxn ang="0">
                        <a:pos x="7" y="21"/>
                      </a:cxn>
                      <a:cxn ang="0">
                        <a:pos x="22" y="21"/>
                      </a:cxn>
                      <a:cxn ang="0">
                        <a:pos x="22" y="7"/>
                      </a:cxn>
                      <a:cxn ang="0">
                        <a:pos x="7" y="7"/>
                      </a:cxn>
                      <a:cxn ang="0">
                        <a:pos x="7" y="21"/>
                      </a:cxn>
                    </a:cxnLst>
                    <a:rect l="0" t="0" r="r" b="b"/>
                    <a:pathLst>
                      <a:path w="29" h="29">
                        <a:moveTo>
                          <a:pt x="26" y="29"/>
                        </a:moveTo>
                        <a:cubicBezTo>
                          <a:pt x="4" y="29"/>
                          <a:pt x="4" y="29"/>
                          <a:pt x="4" y="29"/>
                        </a:cubicBezTo>
                        <a:cubicBezTo>
                          <a:pt x="2" y="29"/>
                          <a:pt x="0" y="27"/>
                          <a:pt x="0" y="2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29" y="1"/>
                          <a:pt x="29" y="3"/>
                        </a:cubicBezTo>
                        <a:cubicBezTo>
                          <a:pt x="29" y="25"/>
                          <a:pt x="29" y="25"/>
                          <a:pt x="29" y="25"/>
                        </a:cubicBezTo>
                        <a:cubicBezTo>
                          <a:pt x="29" y="27"/>
                          <a:pt x="28" y="29"/>
                          <a:pt x="26" y="29"/>
                        </a:cubicBezTo>
                        <a:close/>
                        <a:moveTo>
                          <a:pt x="7" y="21"/>
                        </a:moveTo>
                        <a:cubicBezTo>
                          <a:pt x="22" y="21"/>
                          <a:pt x="22" y="21"/>
                          <a:pt x="22" y="21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7" y="7"/>
                          <a:pt x="7" y="7"/>
                          <a:pt x="7" y="7"/>
                        </a:cubicBezTo>
                        <a:lnTo>
                          <a:pt x="7" y="2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60" name="Freeform 469">
                    <a:extLst>
                      <a:ext uri="{FF2B5EF4-FFF2-40B4-BE49-F238E27FC236}">
                        <a16:creationId xmlns:a16="http://schemas.microsoft.com/office/drawing/2014/main" id="{7AC33783-0655-4959-9409-47B62C9AFF6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459038" y="2971800"/>
                    <a:ext cx="65088" cy="61913"/>
                  </a:xfrm>
                  <a:custGeom>
                    <a:avLst/>
                    <a:gdLst/>
                    <a:ahLst/>
                    <a:cxnLst>
                      <a:cxn ang="0">
                        <a:pos x="26" y="29"/>
                      </a:cxn>
                      <a:cxn ang="0">
                        <a:pos x="4" y="29"/>
                      </a:cxn>
                      <a:cxn ang="0">
                        <a:pos x="0" y="25"/>
                      </a:cxn>
                      <a:cxn ang="0">
                        <a:pos x="0" y="3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30" y="3"/>
                      </a:cxn>
                      <a:cxn ang="0">
                        <a:pos x="30" y="25"/>
                      </a:cxn>
                      <a:cxn ang="0">
                        <a:pos x="26" y="29"/>
                      </a:cxn>
                      <a:cxn ang="0">
                        <a:pos x="8" y="21"/>
                      </a:cxn>
                      <a:cxn ang="0">
                        <a:pos x="22" y="21"/>
                      </a:cxn>
                      <a:cxn ang="0">
                        <a:pos x="22" y="7"/>
                      </a:cxn>
                      <a:cxn ang="0">
                        <a:pos x="8" y="7"/>
                      </a:cxn>
                      <a:cxn ang="0">
                        <a:pos x="8" y="21"/>
                      </a:cxn>
                    </a:cxnLst>
                    <a:rect l="0" t="0" r="r" b="b"/>
                    <a:pathLst>
                      <a:path w="30" h="29">
                        <a:moveTo>
                          <a:pt x="26" y="29"/>
                        </a:moveTo>
                        <a:cubicBezTo>
                          <a:pt x="4" y="29"/>
                          <a:pt x="4" y="29"/>
                          <a:pt x="4" y="29"/>
                        </a:cubicBezTo>
                        <a:cubicBezTo>
                          <a:pt x="2" y="29"/>
                          <a:pt x="0" y="27"/>
                          <a:pt x="0" y="2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30" y="1"/>
                          <a:pt x="30" y="3"/>
                        </a:cubicBezTo>
                        <a:cubicBezTo>
                          <a:pt x="30" y="25"/>
                          <a:pt x="30" y="25"/>
                          <a:pt x="30" y="25"/>
                        </a:cubicBezTo>
                        <a:cubicBezTo>
                          <a:pt x="30" y="27"/>
                          <a:pt x="28" y="29"/>
                          <a:pt x="26" y="29"/>
                        </a:cubicBezTo>
                        <a:close/>
                        <a:moveTo>
                          <a:pt x="8" y="21"/>
                        </a:moveTo>
                        <a:cubicBezTo>
                          <a:pt x="22" y="21"/>
                          <a:pt x="22" y="21"/>
                          <a:pt x="22" y="21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8" y="7"/>
                          <a:pt x="8" y="7"/>
                          <a:pt x="8" y="7"/>
                        </a:cubicBezTo>
                        <a:lnTo>
                          <a:pt x="8" y="2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61" name="Freeform 470">
                    <a:extLst>
                      <a:ext uri="{FF2B5EF4-FFF2-40B4-BE49-F238E27FC236}">
                        <a16:creationId xmlns:a16="http://schemas.microsoft.com/office/drawing/2014/main" id="{F829F068-8BB5-4ED5-9F95-1FA700D381F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547938" y="2971800"/>
                    <a:ext cx="61913" cy="61913"/>
                  </a:xfrm>
                  <a:custGeom>
                    <a:avLst/>
                    <a:gdLst/>
                    <a:ahLst/>
                    <a:cxnLst>
                      <a:cxn ang="0">
                        <a:pos x="25" y="29"/>
                      </a:cxn>
                      <a:cxn ang="0">
                        <a:pos x="3" y="29"/>
                      </a:cxn>
                      <a:cxn ang="0">
                        <a:pos x="0" y="25"/>
                      </a:cxn>
                      <a:cxn ang="0">
                        <a:pos x="0" y="3"/>
                      </a:cxn>
                      <a:cxn ang="0">
                        <a:pos x="3" y="0"/>
                      </a:cxn>
                      <a:cxn ang="0">
                        <a:pos x="25" y="0"/>
                      </a:cxn>
                      <a:cxn ang="0">
                        <a:pos x="29" y="3"/>
                      </a:cxn>
                      <a:cxn ang="0">
                        <a:pos x="29" y="25"/>
                      </a:cxn>
                      <a:cxn ang="0">
                        <a:pos x="25" y="29"/>
                      </a:cxn>
                      <a:cxn ang="0">
                        <a:pos x="7" y="21"/>
                      </a:cxn>
                      <a:cxn ang="0">
                        <a:pos x="22" y="21"/>
                      </a:cxn>
                      <a:cxn ang="0">
                        <a:pos x="22" y="7"/>
                      </a:cxn>
                      <a:cxn ang="0">
                        <a:pos x="7" y="7"/>
                      </a:cxn>
                      <a:cxn ang="0">
                        <a:pos x="7" y="21"/>
                      </a:cxn>
                    </a:cxnLst>
                    <a:rect l="0" t="0" r="r" b="b"/>
                    <a:pathLst>
                      <a:path w="29" h="29">
                        <a:moveTo>
                          <a:pt x="25" y="29"/>
                        </a:moveTo>
                        <a:cubicBezTo>
                          <a:pt x="3" y="29"/>
                          <a:pt x="3" y="29"/>
                          <a:pt x="3" y="29"/>
                        </a:cubicBezTo>
                        <a:cubicBezTo>
                          <a:pt x="1" y="29"/>
                          <a:pt x="0" y="27"/>
                          <a:pt x="0" y="2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1" y="0"/>
                          <a:pt x="3" y="0"/>
                        </a:cubicBezTo>
                        <a:cubicBezTo>
                          <a:pt x="25" y="0"/>
                          <a:pt x="25" y="0"/>
                          <a:pt x="25" y="0"/>
                        </a:cubicBezTo>
                        <a:cubicBezTo>
                          <a:pt x="27" y="0"/>
                          <a:pt x="29" y="1"/>
                          <a:pt x="29" y="3"/>
                        </a:cubicBezTo>
                        <a:cubicBezTo>
                          <a:pt x="29" y="25"/>
                          <a:pt x="29" y="25"/>
                          <a:pt x="29" y="25"/>
                        </a:cubicBezTo>
                        <a:cubicBezTo>
                          <a:pt x="29" y="27"/>
                          <a:pt x="27" y="29"/>
                          <a:pt x="25" y="29"/>
                        </a:cubicBezTo>
                        <a:close/>
                        <a:moveTo>
                          <a:pt x="7" y="21"/>
                        </a:moveTo>
                        <a:cubicBezTo>
                          <a:pt x="22" y="21"/>
                          <a:pt x="22" y="21"/>
                          <a:pt x="22" y="21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7" y="7"/>
                          <a:pt x="7" y="7"/>
                          <a:pt x="7" y="7"/>
                        </a:cubicBezTo>
                        <a:lnTo>
                          <a:pt x="7" y="21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62" name="Freeform 471">
                    <a:extLst>
                      <a:ext uri="{FF2B5EF4-FFF2-40B4-BE49-F238E27FC236}">
                        <a16:creationId xmlns:a16="http://schemas.microsoft.com/office/drawing/2014/main" id="{69A4212E-5E06-42DD-9217-B3676A5EFEE6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371725" y="3227388"/>
                    <a:ext cx="63500" cy="61913"/>
                  </a:xfrm>
                  <a:custGeom>
                    <a:avLst/>
                    <a:gdLst/>
                    <a:ahLst/>
                    <a:cxnLst>
                      <a:cxn ang="0">
                        <a:pos x="26" y="29"/>
                      </a:cxn>
                      <a:cxn ang="0">
                        <a:pos x="4" y="29"/>
                      </a:cxn>
                      <a:cxn ang="0">
                        <a:pos x="0" y="25"/>
                      </a:cxn>
                      <a:cxn ang="0">
                        <a:pos x="0" y="3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29" y="3"/>
                      </a:cxn>
                      <a:cxn ang="0">
                        <a:pos x="29" y="25"/>
                      </a:cxn>
                      <a:cxn ang="0">
                        <a:pos x="26" y="29"/>
                      </a:cxn>
                      <a:cxn ang="0">
                        <a:pos x="7" y="22"/>
                      </a:cxn>
                      <a:cxn ang="0">
                        <a:pos x="22" y="22"/>
                      </a:cxn>
                      <a:cxn ang="0">
                        <a:pos x="22" y="7"/>
                      </a:cxn>
                      <a:cxn ang="0">
                        <a:pos x="7" y="7"/>
                      </a:cxn>
                      <a:cxn ang="0">
                        <a:pos x="7" y="22"/>
                      </a:cxn>
                    </a:cxnLst>
                    <a:rect l="0" t="0" r="r" b="b"/>
                    <a:pathLst>
                      <a:path w="29" h="29">
                        <a:moveTo>
                          <a:pt x="26" y="29"/>
                        </a:moveTo>
                        <a:cubicBezTo>
                          <a:pt x="4" y="29"/>
                          <a:pt x="4" y="29"/>
                          <a:pt x="4" y="29"/>
                        </a:cubicBezTo>
                        <a:cubicBezTo>
                          <a:pt x="2" y="29"/>
                          <a:pt x="0" y="27"/>
                          <a:pt x="0" y="2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29" y="1"/>
                          <a:pt x="29" y="3"/>
                        </a:cubicBezTo>
                        <a:cubicBezTo>
                          <a:pt x="29" y="25"/>
                          <a:pt x="29" y="25"/>
                          <a:pt x="29" y="25"/>
                        </a:cubicBezTo>
                        <a:cubicBezTo>
                          <a:pt x="29" y="27"/>
                          <a:pt x="28" y="29"/>
                          <a:pt x="26" y="29"/>
                        </a:cubicBezTo>
                        <a:close/>
                        <a:moveTo>
                          <a:pt x="7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7" y="7"/>
                          <a:pt x="7" y="7"/>
                          <a:pt x="7" y="7"/>
                        </a:cubicBezTo>
                        <a:lnTo>
                          <a:pt x="7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63" name="Freeform 472">
                    <a:extLst>
                      <a:ext uri="{FF2B5EF4-FFF2-40B4-BE49-F238E27FC236}">
                        <a16:creationId xmlns:a16="http://schemas.microsoft.com/office/drawing/2014/main" id="{21A3D9BE-73C7-4CA0-A4C8-3C6BA6DE985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459038" y="3227388"/>
                    <a:ext cx="65088" cy="61913"/>
                  </a:xfrm>
                  <a:custGeom>
                    <a:avLst/>
                    <a:gdLst/>
                    <a:ahLst/>
                    <a:cxnLst>
                      <a:cxn ang="0">
                        <a:pos x="26" y="29"/>
                      </a:cxn>
                      <a:cxn ang="0">
                        <a:pos x="4" y="29"/>
                      </a:cxn>
                      <a:cxn ang="0">
                        <a:pos x="0" y="25"/>
                      </a:cxn>
                      <a:cxn ang="0">
                        <a:pos x="0" y="3"/>
                      </a:cxn>
                      <a:cxn ang="0">
                        <a:pos x="4" y="0"/>
                      </a:cxn>
                      <a:cxn ang="0">
                        <a:pos x="26" y="0"/>
                      </a:cxn>
                      <a:cxn ang="0">
                        <a:pos x="30" y="3"/>
                      </a:cxn>
                      <a:cxn ang="0">
                        <a:pos x="30" y="25"/>
                      </a:cxn>
                      <a:cxn ang="0">
                        <a:pos x="26" y="29"/>
                      </a:cxn>
                      <a:cxn ang="0">
                        <a:pos x="8" y="22"/>
                      </a:cxn>
                      <a:cxn ang="0">
                        <a:pos x="22" y="22"/>
                      </a:cxn>
                      <a:cxn ang="0">
                        <a:pos x="22" y="7"/>
                      </a:cxn>
                      <a:cxn ang="0">
                        <a:pos x="8" y="7"/>
                      </a:cxn>
                      <a:cxn ang="0">
                        <a:pos x="8" y="22"/>
                      </a:cxn>
                    </a:cxnLst>
                    <a:rect l="0" t="0" r="r" b="b"/>
                    <a:pathLst>
                      <a:path w="30" h="29">
                        <a:moveTo>
                          <a:pt x="26" y="29"/>
                        </a:moveTo>
                        <a:cubicBezTo>
                          <a:pt x="4" y="29"/>
                          <a:pt x="4" y="29"/>
                          <a:pt x="4" y="29"/>
                        </a:cubicBezTo>
                        <a:cubicBezTo>
                          <a:pt x="2" y="29"/>
                          <a:pt x="0" y="27"/>
                          <a:pt x="0" y="25"/>
                        </a:cubicBezTo>
                        <a:cubicBezTo>
                          <a:pt x="0" y="3"/>
                          <a:pt x="0" y="3"/>
                          <a:pt x="0" y="3"/>
                        </a:cubicBezTo>
                        <a:cubicBezTo>
                          <a:pt x="0" y="1"/>
                          <a:pt x="2" y="0"/>
                          <a:pt x="4" y="0"/>
                        </a:cubicBezTo>
                        <a:cubicBezTo>
                          <a:pt x="26" y="0"/>
                          <a:pt x="26" y="0"/>
                          <a:pt x="26" y="0"/>
                        </a:cubicBezTo>
                        <a:cubicBezTo>
                          <a:pt x="28" y="0"/>
                          <a:pt x="30" y="1"/>
                          <a:pt x="30" y="3"/>
                        </a:cubicBezTo>
                        <a:cubicBezTo>
                          <a:pt x="30" y="25"/>
                          <a:pt x="30" y="25"/>
                          <a:pt x="30" y="25"/>
                        </a:cubicBezTo>
                        <a:cubicBezTo>
                          <a:pt x="30" y="27"/>
                          <a:pt x="28" y="29"/>
                          <a:pt x="26" y="29"/>
                        </a:cubicBezTo>
                        <a:close/>
                        <a:moveTo>
                          <a:pt x="8" y="22"/>
                        </a:moveTo>
                        <a:cubicBezTo>
                          <a:pt x="22" y="22"/>
                          <a:pt x="22" y="22"/>
                          <a:pt x="22" y="22"/>
                        </a:cubicBezTo>
                        <a:cubicBezTo>
                          <a:pt x="22" y="7"/>
                          <a:pt x="22" y="7"/>
                          <a:pt x="22" y="7"/>
                        </a:cubicBezTo>
                        <a:cubicBezTo>
                          <a:pt x="8" y="7"/>
                          <a:pt x="8" y="7"/>
                          <a:pt x="8" y="7"/>
                        </a:cubicBezTo>
                        <a:lnTo>
                          <a:pt x="8" y="22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64" name="Freeform 473">
                    <a:extLst>
                      <a:ext uri="{FF2B5EF4-FFF2-40B4-BE49-F238E27FC236}">
                        <a16:creationId xmlns:a16="http://schemas.microsoft.com/office/drawing/2014/main" id="{4602D26F-4146-48F4-8356-57AF62AF2AB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27300" y="3074988"/>
                    <a:ext cx="336550" cy="155575"/>
                  </a:xfrm>
                  <a:custGeom>
                    <a:avLst/>
                    <a:gdLst/>
                    <a:ahLst/>
                    <a:cxnLst>
                      <a:cxn ang="0">
                        <a:pos x="149" y="72"/>
                      </a:cxn>
                      <a:cxn ang="0">
                        <a:pos x="124" y="72"/>
                      </a:cxn>
                      <a:cxn ang="0">
                        <a:pos x="118" y="67"/>
                      </a:cxn>
                      <a:cxn ang="0">
                        <a:pos x="124" y="61"/>
                      </a:cxn>
                      <a:cxn ang="0">
                        <a:pos x="133" y="61"/>
                      </a:cxn>
                      <a:cxn ang="0">
                        <a:pos x="77" y="14"/>
                      </a:cxn>
                      <a:cxn ang="0">
                        <a:pos x="21" y="61"/>
                      </a:cxn>
                      <a:cxn ang="0">
                        <a:pos x="29" y="61"/>
                      </a:cxn>
                      <a:cxn ang="0">
                        <a:pos x="35" y="67"/>
                      </a:cxn>
                      <a:cxn ang="0">
                        <a:pos x="29" y="72"/>
                      </a:cxn>
                      <a:cxn ang="0">
                        <a:pos x="6" y="72"/>
                      </a:cxn>
                      <a:cxn ang="0">
                        <a:pos x="1" y="69"/>
                      </a:cxn>
                      <a:cxn ang="0">
                        <a:pos x="2" y="63"/>
                      </a:cxn>
                      <a:cxn ang="0">
                        <a:pos x="74" y="2"/>
                      </a:cxn>
                      <a:cxn ang="0">
                        <a:pos x="81" y="2"/>
                      </a:cxn>
                      <a:cxn ang="0">
                        <a:pos x="152" y="63"/>
                      </a:cxn>
                      <a:cxn ang="0">
                        <a:pos x="154" y="69"/>
                      </a:cxn>
                      <a:cxn ang="0">
                        <a:pos x="149" y="72"/>
                      </a:cxn>
                    </a:cxnLst>
                    <a:rect l="0" t="0" r="r" b="b"/>
                    <a:pathLst>
                      <a:path w="155" h="72">
                        <a:moveTo>
                          <a:pt x="149" y="72"/>
                        </a:moveTo>
                        <a:cubicBezTo>
                          <a:pt x="124" y="72"/>
                          <a:pt x="124" y="72"/>
                          <a:pt x="124" y="72"/>
                        </a:cubicBezTo>
                        <a:cubicBezTo>
                          <a:pt x="121" y="72"/>
                          <a:pt x="118" y="70"/>
                          <a:pt x="118" y="67"/>
                        </a:cubicBezTo>
                        <a:cubicBezTo>
                          <a:pt x="118" y="64"/>
                          <a:pt x="121" y="61"/>
                          <a:pt x="124" y="61"/>
                        </a:cubicBezTo>
                        <a:cubicBezTo>
                          <a:pt x="133" y="61"/>
                          <a:pt x="133" y="61"/>
                          <a:pt x="133" y="61"/>
                        </a:cubicBezTo>
                        <a:cubicBezTo>
                          <a:pt x="77" y="14"/>
                          <a:pt x="77" y="14"/>
                          <a:pt x="77" y="14"/>
                        </a:cubicBezTo>
                        <a:cubicBezTo>
                          <a:pt x="21" y="61"/>
                          <a:pt x="21" y="61"/>
                          <a:pt x="21" y="61"/>
                        </a:cubicBezTo>
                        <a:cubicBezTo>
                          <a:pt x="29" y="61"/>
                          <a:pt x="29" y="61"/>
                          <a:pt x="29" y="61"/>
                        </a:cubicBezTo>
                        <a:cubicBezTo>
                          <a:pt x="32" y="61"/>
                          <a:pt x="35" y="64"/>
                          <a:pt x="35" y="67"/>
                        </a:cubicBezTo>
                        <a:cubicBezTo>
                          <a:pt x="35" y="70"/>
                          <a:pt x="32" y="72"/>
                          <a:pt x="29" y="72"/>
                        </a:cubicBezTo>
                        <a:cubicBezTo>
                          <a:pt x="6" y="72"/>
                          <a:pt x="6" y="72"/>
                          <a:pt x="6" y="72"/>
                        </a:cubicBezTo>
                        <a:cubicBezTo>
                          <a:pt x="4" y="72"/>
                          <a:pt x="2" y="71"/>
                          <a:pt x="1" y="69"/>
                        </a:cubicBezTo>
                        <a:cubicBezTo>
                          <a:pt x="0" y="67"/>
                          <a:pt x="1" y="64"/>
                          <a:pt x="2" y="63"/>
                        </a:cubicBezTo>
                        <a:cubicBezTo>
                          <a:pt x="74" y="2"/>
                          <a:pt x="74" y="2"/>
                          <a:pt x="74" y="2"/>
                        </a:cubicBezTo>
                        <a:cubicBezTo>
                          <a:pt x="76" y="0"/>
                          <a:pt x="79" y="0"/>
                          <a:pt x="81" y="2"/>
                        </a:cubicBezTo>
                        <a:cubicBezTo>
                          <a:pt x="152" y="63"/>
                          <a:pt x="152" y="63"/>
                          <a:pt x="152" y="63"/>
                        </a:cubicBezTo>
                        <a:cubicBezTo>
                          <a:pt x="154" y="64"/>
                          <a:pt x="155" y="67"/>
                          <a:pt x="154" y="69"/>
                        </a:cubicBezTo>
                        <a:cubicBezTo>
                          <a:pt x="153" y="71"/>
                          <a:pt x="151" y="72"/>
                          <a:pt x="149" y="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65" name="Freeform 474">
                    <a:extLst>
                      <a:ext uri="{FF2B5EF4-FFF2-40B4-BE49-F238E27FC236}">
                        <a16:creationId xmlns:a16="http://schemas.microsoft.com/office/drawing/2014/main" id="{EBA7A627-9917-4971-AA08-972C7BB3AA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9688" y="3206750"/>
                    <a:ext cx="227013" cy="177800"/>
                  </a:xfrm>
                  <a:custGeom>
                    <a:avLst/>
                    <a:gdLst/>
                    <a:ahLst/>
                    <a:cxnLst>
                      <a:cxn ang="0">
                        <a:pos x="100" y="82"/>
                      </a:cxn>
                      <a:cxn ang="0">
                        <a:pos x="5" y="82"/>
                      </a:cxn>
                      <a:cxn ang="0">
                        <a:pos x="0" y="77"/>
                      </a:cxn>
                      <a:cxn ang="0">
                        <a:pos x="0" y="6"/>
                      </a:cxn>
                      <a:cxn ang="0">
                        <a:pos x="5" y="0"/>
                      </a:cxn>
                      <a:cxn ang="0">
                        <a:pos x="11" y="6"/>
                      </a:cxn>
                      <a:cxn ang="0">
                        <a:pos x="11" y="71"/>
                      </a:cxn>
                      <a:cxn ang="0">
                        <a:pos x="94" y="71"/>
                      </a:cxn>
                      <a:cxn ang="0">
                        <a:pos x="94" y="6"/>
                      </a:cxn>
                      <a:cxn ang="0">
                        <a:pos x="100" y="0"/>
                      </a:cxn>
                      <a:cxn ang="0">
                        <a:pos x="105" y="6"/>
                      </a:cxn>
                      <a:cxn ang="0">
                        <a:pos x="105" y="77"/>
                      </a:cxn>
                      <a:cxn ang="0">
                        <a:pos x="100" y="82"/>
                      </a:cxn>
                    </a:cxnLst>
                    <a:rect l="0" t="0" r="r" b="b"/>
                    <a:pathLst>
                      <a:path w="105" h="82">
                        <a:moveTo>
                          <a:pt x="100" y="82"/>
                        </a:moveTo>
                        <a:cubicBezTo>
                          <a:pt x="5" y="82"/>
                          <a:pt x="5" y="82"/>
                          <a:pt x="5" y="82"/>
                        </a:cubicBezTo>
                        <a:cubicBezTo>
                          <a:pt x="2" y="82"/>
                          <a:pt x="0" y="80"/>
                          <a:pt x="0" y="77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3"/>
                          <a:pt x="2" y="0"/>
                          <a:pt x="5" y="0"/>
                        </a:cubicBezTo>
                        <a:cubicBezTo>
                          <a:pt x="8" y="0"/>
                          <a:pt x="11" y="3"/>
                          <a:pt x="11" y="6"/>
                        </a:cubicBezTo>
                        <a:cubicBezTo>
                          <a:pt x="11" y="71"/>
                          <a:pt x="11" y="71"/>
                          <a:pt x="11" y="71"/>
                        </a:cubicBezTo>
                        <a:cubicBezTo>
                          <a:pt x="94" y="71"/>
                          <a:pt x="94" y="71"/>
                          <a:pt x="94" y="71"/>
                        </a:cubicBezTo>
                        <a:cubicBezTo>
                          <a:pt x="94" y="6"/>
                          <a:pt x="94" y="6"/>
                          <a:pt x="94" y="6"/>
                        </a:cubicBezTo>
                        <a:cubicBezTo>
                          <a:pt x="94" y="3"/>
                          <a:pt x="97" y="0"/>
                          <a:pt x="100" y="0"/>
                        </a:cubicBezTo>
                        <a:cubicBezTo>
                          <a:pt x="103" y="0"/>
                          <a:pt x="105" y="3"/>
                          <a:pt x="105" y="6"/>
                        </a:cubicBezTo>
                        <a:cubicBezTo>
                          <a:pt x="105" y="77"/>
                          <a:pt x="105" y="77"/>
                          <a:pt x="105" y="77"/>
                        </a:cubicBezTo>
                        <a:cubicBezTo>
                          <a:pt x="105" y="80"/>
                          <a:pt x="103" y="82"/>
                          <a:pt x="100" y="8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66" name="Freeform 475">
                    <a:extLst>
                      <a:ext uri="{FF2B5EF4-FFF2-40B4-BE49-F238E27FC236}">
                        <a16:creationId xmlns:a16="http://schemas.microsoft.com/office/drawing/2014/main" id="{91AA9BEE-7620-4AA5-A14F-40096F201983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2638425" y="3240088"/>
                    <a:ext cx="114300" cy="144463"/>
                  </a:xfrm>
                  <a:custGeom>
                    <a:avLst/>
                    <a:gdLst/>
                    <a:ahLst/>
                    <a:cxnLst>
                      <a:cxn ang="0">
                        <a:pos x="47" y="67"/>
                      </a:cxn>
                      <a:cxn ang="0">
                        <a:pos x="5" y="67"/>
                      </a:cxn>
                      <a:cxn ang="0">
                        <a:pos x="0" y="62"/>
                      </a:cxn>
                      <a:cxn ang="0">
                        <a:pos x="0" y="6"/>
                      </a:cxn>
                      <a:cxn ang="0">
                        <a:pos x="5" y="0"/>
                      </a:cxn>
                      <a:cxn ang="0">
                        <a:pos x="47" y="0"/>
                      </a:cxn>
                      <a:cxn ang="0">
                        <a:pos x="53" y="6"/>
                      </a:cxn>
                      <a:cxn ang="0">
                        <a:pos x="53" y="62"/>
                      </a:cxn>
                      <a:cxn ang="0">
                        <a:pos x="47" y="67"/>
                      </a:cxn>
                      <a:cxn ang="0">
                        <a:pos x="11" y="56"/>
                      </a:cxn>
                      <a:cxn ang="0">
                        <a:pos x="42" y="56"/>
                      </a:cxn>
                      <a:cxn ang="0">
                        <a:pos x="42" y="11"/>
                      </a:cxn>
                      <a:cxn ang="0">
                        <a:pos x="11" y="11"/>
                      </a:cxn>
                      <a:cxn ang="0">
                        <a:pos x="11" y="56"/>
                      </a:cxn>
                    </a:cxnLst>
                    <a:rect l="0" t="0" r="r" b="b"/>
                    <a:pathLst>
                      <a:path w="53" h="67">
                        <a:moveTo>
                          <a:pt x="47" y="67"/>
                        </a:moveTo>
                        <a:cubicBezTo>
                          <a:pt x="5" y="67"/>
                          <a:pt x="5" y="67"/>
                          <a:pt x="5" y="67"/>
                        </a:cubicBezTo>
                        <a:cubicBezTo>
                          <a:pt x="2" y="67"/>
                          <a:pt x="0" y="65"/>
                          <a:pt x="0" y="62"/>
                        </a:cubicBezTo>
                        <a:cubicBezTo>
                          <a:pt x="0" y="6"/>
                          <a:pt x="0" y="6"/>
                          <a:pt x="0" y="6"/>
                        </a:cubicBezTo>
                        <a:cubicBezTo>
                          <a:pt x="0" y="3"/>
                          <a:pt x="2" y="0"/>
                          <a:pt x="5" y="0"/>
                        </a:cubicBezTo>
                        <a:cubicBezTo>
                          <a:pt x="47" y="0"/>
                          <a:pt x="47" y="0"/>
                          <a:pt x="47" y="0"/>
                        </a:cubicBezTo>
                        <a:cubicBezTo>
                          <a:pt x="51" y="0"/>
                          <a:pt x="53" y="3"/>
                          <a:pt x="53" y="6"/>
                        </a:cubicBezTo>
                        <a:cubicBezTo>
                          <a:pt x="53" y="62"/>
                          <a:pt x="53" y="62"/>
                          <a:pt x="53" y="62"/>
                        </a:cubicBezTo>
                        <a:cubicBezTo>
                          <a:pt x="53" y="65"/>
                          <a:pt x="51" y="67"/>
                          <a:pt x="47" y="67"/>
                        </a:cubicBezTo>
                        <a:close/>
                        <a:moveTo>
                          <a:pt x="11" y="56"/>
                        </a:moveTo>
                        <a:cubicBezTo>
                          <a:pt x="42" y="56"/>
                          <a:pt x="42" y="56"/>
                          <a:pt x="42" y="56"/>
                        </a:cubicBezTo>
                        <a:cubicBezTo>
                          <a:pt x="42" y="11"/>
                          <a:pt x="42" y="11"/>
                          <a:pt x="42" y="11"/>
                        </a:cubicBezTo>
                        <a:cubicBezTo>
                          <a:pt x="11" y="11"/>
                          <a:pt x="11" y="11"/>
                          <a:pt x="11" y="11"/>
                        </a:cubicBezTo>
                        <a:lnTo>
                          <a:pt x="11" y="56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5616C6B-A0BB-4015-8133-154B0C8E815C}"/>
                </a:ext>
              </a:extLst>
            </p:cNvPr>
            <p:cNvGrpSpPr/>
            <p:nvPr/>
          </p:nvGrpSpPr>
          <p:grpSpPr>
            <a:xfrm>
              <a:off x="730495" y="1456979"/>
              <a:ext cx="3908102" cy="731520"/>
              <a:chOff x="730495" y="1456979"/>
              <a:chExt cx="3908102" cy="731520"/>
            </a:xfrm>
          </p:grpSpPr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A6D68B96-4AAF-4B6A-B288-AB513A5CF370}"/>
                  </a:ext>
                </a:extLst>
              </p:cNvPr>
              <p:cNvSpPr/>
              <p:nvPr/>
            </p:nvSpPr>
            <p:spPr>
              <a:xfrm>
                <a:off x="730495" y="1456979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highlight>
                      <a:srgbClr val="F5F5F5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医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：全球</a:t>
                </a:r>
                <a:r>
                  <a:rPr lang="en-US" altLang="zh-CN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60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岁以上人口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16.5%</a:t>
                </a:r>
              </a:p>
              <a:p>
                <a:pPr algn="ctr" defTabSz="914112">
                  <a:spcAft>
                    <a:spcPts val="900"/>
                  </a:spcAft>
                </a:pP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让健康可计算，让生命有质量</a:t>
                </a:r>
              </a:p>
            </p:txBody>
          </p:sp>
          <p:grpSp>
            <p:nvGrpSpPr>
              <p:cNvPr id="288" name="组合 287">
                <a:extLst>
                  <a:ext uri="{FF2B5EF4-FFF2-40B4-BE49-F238E27FC236}">
                    <a16:creationId xmlns:a16="http://schemas.microsoft.com/office/drawing/2014/main" id="{54EBF3A2-6A92-46F4-B5CB-4AF620088772}"/>
                  </a:ext>
                </a:extLst>
              </p:cNvPr>
              <p:cNvGrpSpPr/>
              <p:nvPr/>
            </p:nvGrpSpPr>
            <p:grpSpPr>
              <a:xfrm>
                <a:off x="4089957" y="1548419"/>
                <a:ext cx="548640" cy="548640"/>
                <a:chOff x="5152080" y="1446332"/>
                <a:chExt cx="548640" cy="548640"/>
              </a:xfrm>
            </p:grpSpPr>
            <p:sp>
              <p:nvSpPr>
                <p:cNvPr id="289" name="救护车2 Ambulance 2">
                  <a:extLst>
                    <a:ext uri="{FF2B5EF4-FFF2-40B4-BE49-F238E27FC236}">
                      <a16:creationId xmlns:a16="http://schemas.microsoft.com/office/drawing/2014/main" id="{A384E303-6F30-46B9-A5F0-5D0CC493C897}"/>
                    </a:ext>
                  </a:extLst>
                </p:cNvPr>
                <p:cNvSpPr/>
                <p:nvPr/>
              </p:nvSpPr>
              <p:spPr>
                <a:xfrm>
                  <a:off x="5252551" y="1561617"/>
                  <a:ext cx="347698" cy="318071"/>
                </a:xfrm>
                <a:custGeom>
                  <a:avLst/>
                  <a:gdLst>
                    <a:gd name="connsiteX0" fmla="*/ 980218 w 1265492"/>
                    <a:gd name="connsiteY0" fmla="*/ 839468 h 1032159"/>
                    <a:gd name="connsiteX1" fmla="*/ 911059 w 1265492"/>
                    <a:gd name="connsiteY1" fmla="*/ 907849 h 1032159"/>
                    <a:gd name="connsiteX2" fmla="*/ 911066 w 1265492"/>
                    <a:gd name="connsiteY2" fmla="*/ 909287 h 1032159"/>
                    <a:gd name="connsiteX3" fmla="*/ 980218 w 1265492"/>
                    <a:gd name="connsiteY3" fmla="*/ 981867 h 1032159"/>
                    <a:gd name="connsiteX4" fmla="*/ 1052131 w 1265492"/>
                    <a:gd name="connsiteY4" fmla="*/ 909287 h 1032159"/>
                    <a:gd name="connsiteX5" fmla="*/ 980218 w 1265492"/>
                    <a:gd name="connsiteY5" fmla="*/ 839468 h 1032159"/>
                    <a:gd name="connsiteX6" fmla="*/ 258413 w 1265492"/>
                    <a:gd name="connsiteY6" fmla="*/ 839468 h 1032159"/>
                    <a:gd name="connsiteX7" fmla="*/ 189349 w 1265492"/>
                    <a:gd name="connsiteY7" fmla="*/ 907945 h 1032159"/>
                    <a:gd name="connsiteX8" fmla="*/ 189357 w 1265492"/>
                    <a:gd name="connsiteY8" fmla="*/ 909287 h 1032159"/>
                    <a:gd name="connsiteX9" fmla="*/ 258413 w 1265492"/>
                    <a:gd name="connsiteY9" fmla="*/ 981867 h 1032159"/>
                    <a:gd name="connsiteX10" fmla="*/ 330327 w 1265492"/>
                    <a:gd name="connsiteY10" fmla="*/ 909287 h 1032159"/>
                    <a:gd name="connsiteX11" fmla="*/ 258413 w 1265492"/>
                    <a:gd name="connsiteY11" fmla="*/ 839468 h 1032159"/>
                    <a:gd name="connsiteX12" fmla="*/ 318801 w 1265492"/>
                    <a:gd name="connsiteY12" fmla="*/ 512475 h 1032159"/>
                    <a:gd name="connsiteX13" fmla="*/ 344043 w 1265492"/>
                    <a:gd name="connsiteY13" fmla="*/ 537716 h 1032159"/>
                    <a:gd name="connsiteX14" fmla="*/ 344043 w 1265492"/>
                    <a:gd name="connsiteY14" fmla="*/ 590009 h 1032159"/>
                    <a:gd name="connsiteX15" fmla="*/ 393668 w 1265492"/>
                    <a:gd name="connsiteY15" fmla="*/ 590009 h 1032159"/>
                    <a:gd name="connsiteX16" fmla="*/ 421180 w 1265492"/>
                    <a:gd name="connsiteY16" fmla="*/ 610122 h 1032159"/>
                    <a:gd name="connsiteX17" fmla="*/ 401068 w 1265492"/>
                    <a:gd name="connsiteY17" fmla="*/ 637634 h 1032159"/>
                    <a:gd name="connsiteX18" fmla="*/ 393668 w 1265492"/>
                    <a:gd name="connsiteY18" fmla="*/ 637634 h 1032159"/>
                    <a:gd name="connsiteX19" fmla="*/ 344043 w 1265492"/>
                    <a:gd name="connsiteY19" fmla="*/ 637634 h 1032159"/>
                    <a:gd name="connsiteX20" fmla="*/ 344043 w 1265492"/>
                    <a:gd name="connsiteY20" fmla="*/ 689354 h 1032159"/>
                    <a:gd name="connsiteX21" fmla="*/ 318802 w 1265492"/>
                    <a:gd name="connsiteY21" fmla="*/ 714405 h 1032159"/>
                    <a:gd name="connsiteX22" fmla="*/ 318801 w 1265492"/>
                    <a:gd name="connsiteY22" fmla="*/ 714405 h 1032159"/>
                    <a:gd name="connsiteX23" fmla="*/ 293560 w 1265492"/>
                    <a:gd name="connsiteY23" fmla="*/ 689355 h 1032159"/>
                    <a:gd name="connsiteX24" fmla="*/ 293560 w 1265492"/>
                    <a:gd name="connsiteY24" fmla="*/ 689164 h 1032159"/>
                    <a:gd name="connsiteX25" fmla="*/ 293560 w 1265492"/>
                    <a:gd name="connsiteY25" fmla="*/ 637634 h 1032159"/>
                    <a:gd name="connsiteX26" fmla="*/ 243935 w 1265492"/>
                    <a:gd name="connsiteY26" fmla="*/ 637634 h 1032159"/>
                    <a:gd name="connsiteX27" fmla="*/ 216422 w 1265492"/>
                    <a:gd name="connsiteY27" fmla="*/ 617522 h 1032159"/>
                    <a:gd name="connsiteX28" fmla="*/ 236535 w 1265492"/>
                    <a:gd name="connsiteY28" fmla="*/ 590009 h 1032159"/>
                    <a:gd name="connsiteX29" fmla="*/ 243935 w 1265492"/>
                    <a:gd name="connsiteY29" fmla="*/ 590009 h 1032159"/>
                    <a:gd name="connsiteX30" fmla="*/ 293560 w 1265492"/>
                    <a:gd name="connsiteY30" fmla="*/ 590009 h 1032159"/>
                    <a:gd name="connsiteX31" fmla="*/ 293560 w 1265492"/>
                    <a:gd name="connsiteY31" fmla="*/ 537716 h 1032159"/>
                    <a:gd name="connsiteX32" fmla="*/ 318801 w 1265492"/>
                    <a:gd name="connsiteY32" fmla="*/ 512475 h 1032159"/>
                    <a:gd name="connsiteX33" fmla="*/ 643794 w 1265492"/>
                    <a:gd name="connsiteY33" fmla="*/ 429703 h 1032159"/>
                    <a:gd name="connsiteX34" fmla="*/ 643794 w 1265492"/>
                    <a:gd name="connsiteY34" fmla="*/ 597629 h 1032159"/>
                    <a:gd name="connsiteX35" fmla="*/ 811815 w 1265492"/>
                    <a:gd name="connsiteY35" fmla="*/ 597629 h 1032159"/>
                    <a:gd name="connsiteX36" fmla="*/ 811815 w 1265492"/>
                    <a:gd name="connsiteY36" fmla="*/ 429703 h 1032159"/>
                    <a:gd name="connsiteX37" fmla="*/ 1102176 w 1265492"/>
                    <a:gd name="connsiteY37" fmla="*/ 428939 h 1032159"/>
                    <a:gd name="connsiteX38" fmla="*/ 1100328 w 1265492"/>
                    <a:gd name="connsiteY38" fmla="*/ 429704 h 1032159"/>
                    <a:gd name="connsiteX39" fmla="*/ 935545 w 1265492"/>
                    <a:gd name="connsiteY39" fmla="*/ 429704 h 1032159"/>
                    <a:gd name="connsiteX40" fmla="*/ 935545 w 1265492"/>
                    <a:gd name="connsiteY40" fmla="*/ 597629 h 1032159"/>
                    <a:gd name="connsiteX41" fmla="*/ 1194862 w 1265492"/>
                    <a:gd name="connsiteY41" fmla="*/ 597629 h 1032159"/>
                    <a:gd name="connsiteX42" fmla="*/ 1187958 w 1265492"/>
                    <a:gd name="connsiteY42" fmla="*/ 571531 h 1032159"/>
                    <a:gd name="connsiteX43" fmla="*/ 618933 w 1265492"/>
                    <a:gd name="connsiteY43" fmla="*/ 380173 h 1032159"/>
                    <a:gd name="connsiteX44" fmla="*/ 619124 w 1265492"/>
                    <a:gd name="connsiteY44" fmla="*/ 380173 h 1032159"/>
                    <a:gd name="connsiteX45" fmla="*/ 836580 w 1265492"/>
                    <a:gd name="connsiteY45" fmla="*/ 380173 h 1032159"/>
                    <a:gd name="connsiteX46" fmla="*/ 861345 w 1265492"/>
                    <a:gd name="connsiteY46" fmla="*/ 404747 h 1032159"/>
                    <a:gd name="connsiteX47" fmla="*/ 861345 w 1265492"/>
                    <a:gd name="connsiteY47" fmla="*/ 404938 h 1032159"/>
                    <a:gd name="connsiteX48" fmla="*/ 861345 w 1265492"/>
                    <a:gd name="connsiteY48" fmla="*/ 622489 h 1032159"/>
                    <a:gd name="connsiteX49" fmla="*/ 836771 w 1265492"/>
                    <a:gd name="connsiteY49" fmla="*/ 647254 h 1032159"/>
                    <a:gd name="connsiteX50" fmla="*/ 836580 w 1265492"/>
                    <a:gd name="connsiteY50" fmla="*/ 647254 h 1032159"/>
                    <a:gd name="connsiteX51" fmla="*/ 836580 w 1265492"/>
                    <a:gd name="connsiteY51" fmla="*/ 647730 h 1032159"/>
                    <a:gd name="connsiteX52" fmla="*/ 619124 w 1265492"/>
                    <a:gd name="connsiteY52" fmla="*/ 647730 h 1032159"/>
                    <a:gd name="connsiteX53" fmla="*/ 594359 w 1265492"/>
                    <a:gd name="connsiteY53" fmla="*/ 623156 h 1032159"/>
                    <a:gd name="connsiteX54" fmla="*/ 594359 w 1265492"/>
                    <a:gd name="connsiteY54" fmla="*/ 622965 h 1032159"/>
                    <a:gd name="connsiteX55" fmla="*/ 594359 w 1265492"/>
                    <a:gd name="connsiteY55" fmla="*/ 404938 h 1032159"/>
                    <a:gd name="connsiteX56" fmla="*/ 618933 w 1265492"/>
                    <a:gd name="connsiteY56" fmla="*/ 380173 h 1032159"/>
                    <a:gd name="connsiteX57" fmla="*/ 727900 w 1265492"/>
                    <a:gd name="connsiteY57" fmla="*/ 218439 h 1032159"/>
                    <a:gd name="connsiteX58" fmla="*/ 692182 w 1265492"/>
                    <a:gd name="connsiteY58" fmla="*/ 254538 h 1032159"/>
                    <a:gd name="connsiteX59" fmla="*/ 692182 w 1265492"/>
                    <a:gd name="connsiteY59" fmla="*/ 298925 h 1032159"/>
                    <a:gd name="connsiteX60" fmla="*/ 766000 w 1265492"/>
                    <a:gd name="connsiteY60" fmla="*/ 298925 h 1032159"/>
                    <a:gd name="connsiteX61" fmla="*/ 766000 w 1265492"/>
                    <a:gd name="connsiteY61" fmla="*/ 254538 h 1032159"/>
                    <a:gd name="connsiteX62" fmla="*/ 727900 w 1265492"/>
                    <a:gd name="connsiteY62" fmla="*/ 218439 h 1032159"/>
                    <a:gd name="connsiteX63" fmla="*/ 945355 w 1265492"/>
                    <a:gd name="connsiteY63" fmla="*/ 213772 h 1032159"/>
                    <a:gd name="connsiteX64" fmla="*/ 970406 w 1265492"/>
                    <a:gd name="connsiteY64" fmla="*/ 238823 h 1032159"/>
                    <a:gd name="connsiteX65" fmla="*/ 945355 w 1265492"/>
                    <a:gd name="connsiteY65" fmla="*/ 263873 h 1032159"/>
                    <a:gd name="connsiteX66" fmla="*/ 880776 w 1265492"/>
                    <a:gd name="connsiteY66" fmla="*/ 266731 h 1032159"/>
                    <a:gd name="connsiteX67" fmla="*/ 857224 w 1265492"/>
                    <a:gd name="connsiteY67" fmla="*/ 240086 h 1032159"/>
                    <a:gd name="connsiteX68" fmla="*/ 880776 w 1265492"/>
                    <a:gd name="connsiteY68" fmla="*/ 216534 h 1032159"/>
                    <a:gd name="connsiteX69" fmla="*/ 511301 w 1265492"/>
                    <a:gd name="connsiteY69" fmla="*/ 213771 h 1032159"/>
                    <a:gd name="connsiteX70" fmla="*/ 578643 w 1265492"/>
                    <a:gd name="connsiteY70" fmla="*/ 213771 h 1032159"/>
                    <a:gd name="connsiteX71" fmla="*/ 605123 w 1265492"/>
                    <a:gd name="connsiteY71" fmla="*/ 240251 h 1032159"/>
                    <a:gd name="connsiteX72" fmla="*/ 578643 w 1265492"/>
                    <a:gd name="connsiteY72" fmla="*/ 266730 h 1032159"/>
                    <a:gd name="connsiteX73" fmla="*/ 511301 w 1265492"/>
                    <a:gd name="connsiteY73" fmla="*/ 266730 h 1032159"/>
                    <a:gd name="connsiteX74" fmla="*/ 484822 w 1265492"/>
                    <a:gd name="connsiteY74" fmla="*/ 240251 h 1032159"/>
                    <a:gd name="connsiteX75" fmla="*/ 511301 w 1265492"/>
                    <a:gd name="connsiteY75" fmla="*/ 213771 h 1032159"/>
                    <a:gd name="connsiteX76" fmla="*/ 731869 w 1265492"/>
                    <a:gd name="connsiteY76" fmla="*/ 170782 h 1032159"/>
                    <a:gd name="connsiteX77" fmla="*/ 815626 w 1265492"/>
                    <a:gd name="connsiteY77" fmla="*/ 254538 h 1032159"/>
                    <a:gd name="connsiteX78" fmla="*/ 815626 w 1265492"/>
                    <a:gd name="connsiteY78" fmla="*/ 300735 h 1032159"/>
                    <a:gd name="connsiteX79" fmla="*/ 1005173 w 1265492"/>
                    <a:gd name="connsiteY79" fmla="*/ 300735 h 1032159"/>
                    <a:gd name="connsiteX80" fmla="*/ 1121569 w 1265492"/>
                    <a:gd name="connsiteY80" fmla="*/ 367410 h 1032159"/>
                    <a:gd name="connsiteX81" fmla="*/ 1229487 w 1265492"/>
                    <a:gd name="connsiteY81" fmla="*/ 546956 h 1032159"/>
                    <a:gd name="connsiteX82" fmla="*/ 1265492 w 1265492"/>
                    <a:gd name="connsiteY82" fmla="*/ 676877 h 1032159"/>
                    <a:gd name="connsiteX83" fmla="*/ 1265492 w 1265492"/>
                    <a:gd name="connsiteY83" fmla="*/ 847756 h 1032159"/>
                    <a:gd name="connsiteX84" fmla="*/ 1179767 w 1265492"/>
                    <a:gd name="connsiteY84" fmla="*/ 933481 h 1032159"/>
                    <a:gd name="connsiteX85" fmla="*/ 1179671 w 1265492"/>
                    <a:gd name="connsiteY85" fmla="*/ 933481 h 1032159"/>
                    <a:gd name="connsiteX86" fmla="*/ 1096952 w 1265492"/>
                    <a:gd name="connsiteY86" fmla="*/ 933481 h 1032159"/>
                    <a:gd name="connsiteX87" fmla="*/ 1092163 w 1265492"/>
                    <a:gd name="connsiteY87" fmla="*/ 956678 h 1032159"/>
                    <a:gd name="connsiteX88" fmla="*/ 980218 w 1265492"/>
                    <a:gd name="connsiteY88" fmla="*/ 1032159 h 1032159"/>
                    <a:gd name="connsiteX89" fmla="*/ 870087 w 1265492"/>
                    <a:gd name="connsiteY89" fmla="*/ 956479 h 1032159"/>
                    <a:gd name="connsiteX90" fmla="*/ 865845 w 1265492"/>
                    <a:gd name="connsiteY90" fmla="*/ 933576 h 1032159"/>
                    <a:gd name="connsiteX91" fmla="*/ 750968 w 1265492"/>
                    <a:gd name="connsiteY91" fmla="*/ 933576 h 1032159"/>
                    <a:gd name="connsiteX92" fmla="*/ 740917 w 1265492"/>
                    <a:gd name="connsiteY92" fmla="*/ 954900 h 1032159"/>
                    <a:gd name="connsiteX93" fmla="*/ 703707 w 1265492"/>
                    <a:gd name="connsiteY93" fmla="*/ 969580 h 1032159"/>
                    <a:gd name="connsiteX94" fmla="*/ 649605 w 1265492"/>
                    <a:gd name="connsiteY94" fmla="*/ 911858 h 1032159"/>
                    <a:gd name="connsiteX95" fmla="*/ 707218 w 1265492"/>
                    <a:gd name="connsiteY95" fmla="*/ 861103 h 1032159"/>
                    <a:gd name="connsiteX96" fmla="*/ 744527 w 1265492"/>
                    <a:gd name="connsiteY96" fmla="*/ 879398 h 1032159"/>
                    <a:gd name="connsiteX97" fmla="*/ 745758 w 1265492"/>
                    <a:gd name="connsiteY97" fmla="*/ 882998 h 1032159"/>
                    <a:gd name="connsiteX98" fmla="*/ 866302 w 1265492"/>
                    <a:gd name="connsiteY98" fmla="*/ 882998 h 1032159"/>
                    <a:gd name="connsiteX99" fmla="*/ 870071 w 1265492"/>
                    <a:gd name="connsiteY99" fmla="*/ 863012 h 1032159"/>
                    <a:gd name="connsiteX100" fmla="*/ 978398 w 1265492"/>
                    <a:gd name="connsiteY100" fmla="*/ 789186 h 1032159"/>
                    <a:gd name="connsiteX101" fmla="*/ 980218 w 1265492"/>
                    <a:gd name="connsiteY101" fmla="*/ 789176 h 1032159"/>
                    <a:gd name="connsiteX102" fmla="*/ 1092118 w 1265492"/>
                    <a:gd name="connsiteY102" fmla="*/ 862291 h 1032159"/>
                    <a:gd name="connsiteX103" fmla="*/ 1096608 w 1265492"/>
                    <a:gd name="connsiteY103" fmla="*/ 883760 h 1032159"/>
                    <a:gd name="connsiteX104" fmla="*/ 1179671 w 1265492"/>
                    <a:gd name="connsiteY104" fmla="*/ 883760 h 1032159"/>
                    <a:gd name="connsiteX105" fmla="*/ 1215676 w 1265492"/>
                    <a:gd name="connsiteY105" fmla="*/ 847756 h 1032159"/>
                    <a:gd name="connsiteX106" fmla="*/ 1215676 w 1265492"/>
                    <a:gd name="connsiteY106" fmla="*/ 676306 h 1032159"/>
                    <a:gd name="connsiteX107" fmla="*/ 1208117 w 1265492"/>
                    <a:gd name="connsiteY107" fmla="*/ 647731 h 1032159"/>
                    <a:gd name="connsiteX108" fmla="*/ 910495 w 1265492"/>
                    <a:gd name="connsiteY108" fmla="*/ 647731 h 1032159"/>
                    <a:gd name="connsiteX109" fmla="*/ 885823 w 1265492"/>
                    <a:gd name="connsiteY109" fmla="*/ 622684 h 1032159"/>
                    <a:gd name="connsiteX110" fmla="*/ 885825 w 1265492"/>
                    <a:gd name="connsiteY110" fmla="*/ 622490 h 1032159"/>
                    <a:gd name="connsiteX111" fmla="*/ 885825 w 1265492"/>
                    <a:gd name="connsiteY111" fmla="*/ 404939 h 1032159"/>
                    <a:gd name="connsiteX112" fmla="*/ 910779 w 1265492"/>
                    <a:gd name="connsiteY112" fmla="*/ 380172 h 1032159"/>
                    <a:gd name="connsiteX113" fmla="*/ 910971 w 1265492"/>
                    <a:gd name="connsiteY113" fmla="*/ 380174 h 1032159"/>
                    <a:gd name="connsiteX114" fmla="*/ 1066469 w 1265492"/>
                    <a:gd name="connsiteY114" fmla="*/ 380174 h 1032159"/>
                    <a:gd name="connsiteX115" fmla="*/ 1047053 w 1265492"/>
                    <a:gd name="connsiteY115" fmla="*/ 363158 h 1032159"/>
                    <a:gd name="connsiteX116" fmla="*/ 1005173 w 1265492"/>
                    <a:gd name="connsiteY116" fmla="*/ 350551 h 1032159"/>
                    <a:gd name="connsiteX117" fmla="*/ 88583 w 1265492"/>
                    <a:gd name="connsiteY117" fmla="*/ 350551 h 1032159"/>
                    <a:gd name="connsiteX118" fmla="*/ 49816 w 1265492"/>
                    <a:gd name="connsiteY118" fmla="*/ 389222 h 1032159"/>
                    <a:gd name="connsiteX119" fmla="*/ 49816 w 1265492"/>
                    <a:gd name="connsiteY119" fmla="*/ 847756 h 1032159"/>
                    <a:gd name="connsiteX120" fmla="*/ 88436 w 1265492"/>
                    <a:gd name="connsiteY120" fmla="*/ 883766 h 1032159"/>
                    <a:gd name="connsiteX121" fmla="*/ 88583 w 1265492"/>
                    <a:gd name="connsiteY121" fmla="*/ 883760 h 1032159"/>
                    <a:gd name="connsiteX122" fmla="*/ 144354 w 1265492"/>
                    <a:gd name="connsiteY122" fmla="*/ 883760 h 1032159"/>
                    <a:gd name="connsiteX123" fmla="*/ 148266 w 1265492"/>
                    <a:gd name="connsiteY123" fmla="*/ 863012 h 1032159"/>
                    <a:gd name="connsiteX124" fmla="*/ 256593 w 1265492"/>
                    <a:gd name="connsiteY124" fmla="*/ 789186 h 1032159"/>
                    <a:gd name="connsiteX125" fmla="*/ 258413 w 1265492"/>
                    <a:gd name="connsiteY125" fmla="*/ 789176 h 1032159"/>
                    <a:gd name="connsiteX126" fmla="*/ 370313 w 1265492"/>
                    <a:gd name="connsiteY126" fmla="*/ 862291 h 1032159"/>
                    <a:gd name="connsiteX127" fmla="*/ 374644 w 1265492"/>
                    <a:gd name="connsiteY127" fmla="*/ 882998 h 1032159"/>
                    <a:gd name="connsiteX128" fmla="*/ 492195 w 1265492"/>
                    <a:gd name="connsiteY128" fmla="*/ 882998 h 1032159"/>
                    <a:gd name="connsiteX129" fmla="*/ 496660 w 1265492"/>
                    <a:gd name="connsiteY129" fmla="*/ 873363 h 1032159"/>
                    <a:gd name="connsiteX130" fmla="*/ 536495 w 1265492"/>
                    <a:gd name="connsiteY130" fmla="*/ 858756 h 1032159"/>
                    <a:gd name="connsiteX131" fmla="*/ 589598 w 1265492"/>
                    <a:gd name="connsiteY131" fmla="*/ 916430 h 1032159"/>
                    <a:gd name="connsiteX132" fmla="*/ 534161 w 1265492"/>
                    <a:gd name="connsiteY132" fmla="*/ 969580 h 1032159"/>
                    <a:gd name="connsiteX133" fmla="*/ 494547 w 1265492"/>
                    <a:gd name="connsiteY133" fmla="*/ 952170 h 1032159"/>
                    <a:gd name="connsiteX134" fmla="*/ 487293 w 1265492"/>
                    <a:gd name="connsiteY134" fmla="*/ 933576 h 1032159"/>
                    <a:gd name="connsiteX135" fmla="*/ 375128 w 1265492"/>
                    <a:gd name="connsiteY135" fmla="*/ 933576 h 1032159"/>
                    <a:gd name="connsiteX136" fmla="*/ 370358 w 1265492"/>
                    <a:gd name="connsiteY136" fmla="*/ 956678 h 1032159"/>
                    <a:gd name="connsiteX137" fmla="*/ 258413 w 1265492"/>
                    <a:gd name="connsiteY137" fmla="*/ 1032159 h 1032159"/>
                    <a:gd name="connsiteX138" fmla="*/ 148308 w 1265492"/>
                    <a:gd name="connsiteY138" fmla="*/ 956464 h 1032159"/>
                    <a:gd name="connsiteX139" fmla="*/ 144037 w 1265492"/>
                    <a:gd name="connsiteY139" fmla="*/ 933481 h 1032159"/>
                    <a:gd name="connsiteX140" fmla="*/ 88583 w 1265492"/>
                    <a:gd name="connsiteY140" fmla="*/ 933481 h 1032159"/>
                    <a:gd name="connsiteX141" fmla="*/ 10 w 1265492"/>
                    <a:gd name="connsiteY141" fmla="*/ 848352 h 1032159"/>
                    <a:gd name="connsiteX142" fmla="*/ 0 w 1265492"/>
                    <a:gd name="connsiteY142" fmla="*/ 847756 h 1032159"/>
                    <a:gd name="connsiteX143" fmla="*/ 0 w 1265492"/>
                    <a:gd name="connsiteY143" fmla="*/ 389222 h 1032159"/>
                    <a:gd name="connsiteX144" fmla="*/ 88583 w 1265492"/>
                    <a:gd name="connsiteY144" fmla="*/ 300735 h 1032159"/>
                    <a:gd name="connsiteX145" fmla="*/ 642366 w 1265492"/>
                    <a:gd name="connsiteY145" fmla="*/ 300735 h 1032159"/>
                    <a:gd name="connsiteX146" fmla="*/ 642366 w 1265492"/>
                    <a:gd name="connsiteY146" fmla="*/ 254538 h 1032159"/>
                    <a:gd name="connsiteX147" fmla="*/ 731869 w 1265492"/>
                    <a:gd name="connsiteY147" fmla="*/ 170782 h 1032159"/>
                    <a:gd name="connsiteX148" fmla="*/ 880586 w 1265492"/>
                    <a:gd name="connsiteY148" fmla="*/ 60722 h 1032159"/>
                    <a:gd name="connsiteX149" fmla="*/ 897951 w 1265492"/>
                    <a:gd name="connsiteY149" fmla="*/ 66258 h 1032159"/>
                    <a:gd name="connsiteX150" fmla="*/ 900779 w 1265492"/>
                    <a:gd name="connsiteY150" fmla="*/ 69087 h 1032159"/>
                    <a:gd name="connsiteX151" fmla="*/ 904875 w 1265492"/>
                    <a:gd name="connsiteY151" fmla="*/ 98709 h 1032159"/>
                    <a:gd name="connsiteX152" fmla="*/ 900779 w 1265492"/>
                    <a:gd name="connsiteY152" fmla="*/ 102805 h 1032159"/>
                    <a:gd name="connsiteX153" fmla="*/ 853154 w 1265492"/>
                    <a:gd name="connsiteY153" fmla="*/ 153288 h 1032159"/>
                    <a:gd name="connsiteX154" fmla="*/ 836390 w 1265492"/>
                    <a:gd name="connsiteY154" fmla="*/ 158908 h 1032159"/>
                    <a:gd name="connsiteX155" fmla="*/ 836390 w 1265492"/>
                    <a:gd name="connsiteY155" fmla="*/ 158812 h 1032159"/>
                    <a:gd name="connsiteX156" fmla="*/ 816769 w 1265492"/>
                    <a:gd name="connsiteY156" fmla="*/ 153193 h 1032159"/>
                    <a:gd name="connsiteX157" fmla="*/ 816769 w 1265492"/>
                    <a:gd name="connsiteY157" fmla="*/ 116712 h 1032159"/>
                    <a:gd name="connsiteX158" fmla="*/ 864394 w 1265492"/>
                    <a:gd name="connsiteY158" fmla="*/ 69087 h 1032159"/>
                    <a:gd name="connsiteX159" fmla="*/ 880586 w 1265492"/>
                    <a:gd name="connsiteY159" fmla="*/ 60722 h 1032159"/>
                    <a:gd name="connsiteX160" fmla="*/ 570642 w 1265492"/>
                    <a:gd name="connsiteY160" fmla="*/ 60722 h 1032159"/>
                    <a:gd name="connsiteX161" fmla="*/ 588007 w 1265492"/>
                    <a:gd name="connsiteY161" fmla="*/ 66258 h 1032159"/>
                    <a:gd name="connsiteX162" fmla="*/ 590835 w 1265492"/>
                    <a:gd name="connsiteY162" fmla="*/ 69087 h 1032159"/>
                    <a:gd name="connsiteX163" fmla="*/ 638460 w 1265492"/>
                    <a:gd name="connsiteY163" fmla="*/ 116712 h 1032159"/>
                    <a:gd name="connsiteX164" fmla="*/ 641098 w 1265492"/>
                    <a:gd name="connsiteY164" fmla="*/ 150555 h 1032159"/>
                    <a:gd name="connsiteX165" fmla="*/ 638460 w 1265492"/>
                    <a:gd name="connsiteY165" fmla="*/ 153193 h 1032159"/>
                    <a:gd name="connsiteX166" fmla="*/ 621601 w 1265492"/>
                    <a:gd name="connsiteY166" fmla="*/ 158812 h 1032159"/>
                    <a:gd name="connsiteX167" fmla="*/ 602075 w 1265492"/>
                    <a:gd name="connsiteY167" fmla="*/ 153193 h 1032159"/>
                    <a:gd name="connsiteX168" fmla="*/ 554450 w 1265492"/>
                    <a:gd name="connsiteY168" fmla="*/ 105568 h 1032159"/>
                    <a:gd name="connsiteX169" fmla="*/ 554450 w 1265492"/>
                    <a:gd name="connsiteY169" fmla="*/ 69087 h 1032159"/>
                    <a:gd name="connsiteX170" fmla="*/ 570642 w 1265492"/>
                    <a:gd name="connsiteY170" fmla="*/ 60722 h 1032159"/>
                    <a:gd name="connsiteX171" fmla="*/ 726515 w 1265492"/>
                    <a:gd name="connsiteY171" fmla="*/ 29 h 1032159"/>
                    <a:gd name="connsiteX172" fmla="*/ 726566 w 1265492"/>
                    <a:gd name="connsiteY172" fmla="*/ 31 h 1032159"/>
                    <a:gd name="connsiteX173" fmla="*/ 753035 w 1265492"/>
                    <a:gd name="connsiteY173" fmla="*/ 23982 h 1032159"/>
                    <a:gd name="connsiteX174" fmla="*/ 753046 w 1265492"/>
                    <a:gd name="connsiteY174" fmla="*/ 24224 h 1032159"/>
                    <a:gd name="connsiteX175" fmla="*/ 753046 w 1265492"/>
                    <a:gd name="connsiteY175" fmla="*/ 88899 h 1032159"/>
                    <a:gd name="connsiteX176" fmla="*/ 726809 w 1265492"/>
                    <a:gd name="connsiteY176" fmla="*/ 113104 h 1032159"/>
                    <a:gd name="connsiteX177" fmla="*/ 726566 w 1265492"/>
                    <a:gd name="connsiteY177" fmla="*/ 113093 h 1032159"/>
                    <a:gd name="connsiteX178" fmla="*/ 700089 w 1265492"/>
                    <a:gd name="connsiteY178" fmla="*/ 88951 h 1032159"/>
                    <a:gd name="connsiteX179" fmla="*/ 700087 w 1265492"/>
                    <a:gd name="connsiteY179" fmla="*/ 88899 h 1032159"/>
                    <a:gd name="connsiteX180" fmla="*/ 700087 w 1265492"/>
                    <a:gd name="connsiteY180" fmla="*/ 24224 h 1032159"/>
                    <a:gd name="connsiteX181" fmla="*/ 726515 w 1265492"/>
                    <a:gd name="connsiteY181" fmla="*/ 29 h 1032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</a:cxnLst>
                  <a:rect l="l" t="t" r="r" b="b"/>
                  <a:pathLst>
                    <a:path w="1265492" h="1032159">
                      <a:moveTo>
                        <a:pt x="980218" y="839468"/>
                      </a:moveTo>
                      <a:cubicBezTo>
                        <a:pt x="942237" y="839254"/>
                        <a:pt x="911274" y="869869"/>
                        <a:pt x="911059" y="907849"/>
                      </a:cubicBezTo>
                      <a:cubicBezTo>
                        <a:pt x="911057" y="908328"/>
                        <a:pt x="911059" y="908807"/>
                        <a:pt x="911066" y="909287"/>
                      </a:cubicBezTo>
                      <a:cubicBezTo>
                        <a:pt x="910318" y="948348"/>
                        <a:pt x="941166" y="980725"/>
                        <a:pt x="980218" y="981867"/>
                      </a:cubicBezTo>
                      <a:cubicBezTo>
                        <a:pt x="1019828" y="980998"/>
                        <a:pt x="1051628" y="948903"/>
                        <a:pt x="1052131" y="909287"/>
                      </a:cubicBezTo>
                      <a:cubicBezTo>
                        <a:pt x="1051401" y="870214"/>
                        <a:pt x="1019295" y="839043"/>
                        <a:pt x="980218" y="839468"/>
                      </a:cubicBezTo>
                      <a:close/>
                      <a:moveTo>
                        <a:pt x="258413" y="839468"/>
                      </a:moveTo>
                      <a:cubicBezTo>
                        <a:pt x="220433" y="839306"/>
                        <a:pt x="189512" y="869964"/>
                        <a:pt x="189349" y="907945"/>
                      </a:cubicBezTo>
                      <a:cubicBezTo>
                        <a:pt x="189348" y="908392"/>
                        <a:pt x="189350" y="908839"/>
                        <a:pt x="189357" y="909287"/>
                      </a:cubicBezTo>
                      <a:cubicBezTo>
                        <a:pt x="188556" y="948332"/>
                        <a:pt x="219376" y="980725"/>
                        <a:pt x="258413" y="981867"/>
                      </a:cubicBezTo>
                      <a:cubicBezTo>
                        <a:pt x="298023" y="980998"/>
                        <a:pt x="329823" y="948903"/>
                        <a:pt x="330327" y="909287"/>
                      </a:cubicBezTo>
                      <a:cubicBezTo>
                        <a:pt x="329597" y="870214"/>
                        <a:pt x="297490" y="839043"/>
                        <a:pt x="258413" y="839468"/>
                      </a:cubicBezTo>
                      <a:close/>
                      <a:moveTo>
                        <a:pt x="318801" y="512475"/>
                      </a:moveTo>
                      <a:cubicBezTo>
                        <a:pt x="332742" y="512475"/>
                        <a:pt x="344043" y="523776"/>
                        <a:pt x="344043" y="537716"/>
                      </a:cubicBezTo>
                      <a:lnTo>
                        <a:pt x="344043" y="590009"/>
                      </a:lnTo>
                      <a:lnTo>
                        <a:pt x="393668" y="590009"/>
                      </a:lnTo>
                      <a:cubicBezTo>
                        <a:pt x="406819" y="587966"/>
                        <a:pt x="419137" y="596970"/>
                        <a:pt x="421180" y="610122"/>
                      </a:cubicBezTo>
                      <a:cubicBezTo>
                        <a:pt x="423224" y="623273"/>
                        <a:pt x="414219" y="635591"/>
                        <a:pt x="401068" y="637634"/>
                      </a:cubicBezTo>
                      <a:cubicBezTo>
                        <a:pt x="398616" y="638015"/>
                        <a:pt x="396120" y="638015"/>
                        <a:pt x="393668" y="637634"/>
                      </a:cubicBezTo>
                      <a:lnTo>
                        <a:pt x="344043" y="637634"/>
                      </a:lnTo>
                      <a:lnTo>
                        <a:pt x="344043" y="689354"/>
                      </a:lnTo>
                      <a:cubicBezTo>
                        <a:pt x="343990" y="703242"/>
                        <a:pt x="332689" y="714458"/>
                        <a:pt x="318802" y="714405"/>
                      </a:cubicBezTo>
                      <a:cubicBezTo>
                        <a:pt x="318802" y="714405"/>
                        <a:pt x="318801" y="714405"/>
                        <a:pt x="318801" y="714405"/>
                      </a:cubicBezTo>
                      <a:cubicBezTo>
                        <a:pt x="304914" y="714458"/>
                        <a:pt x="293613" y="703242"/>
                        <a:pt x="293560" y="689355"/>
                      </a:cubicBezTo>
                      <a:cubicBezTo>
                        <a:pt x="293560" y="689291"/>
                        <a:pt x="293560" y="689227"/>
                        <a:pt x="293560" y="689164"/>
                      </a:cubicBezTo>
                      <a:lnTo>
                        <a:pt x="293560" y="637634"/>
                      </a:lnTo>
                      <a:lnTo>
                        <a:pt x="243935" y="637634"/>
                      </a:lnTo>
                      <a:cubicBezTo>
                        <a:pt x="230783" y="639678"/>
                        <a:pt x="218466" y="630673"/>
                        <a:pt x="216422" y="617522"/>
                      </a:cubicBezTo>
                      <a:cubicBezTo>
                        <a:pt x="214379" y="604371"/>
                        <a:pt x="223383" y="592053"/>
                        <a:pt x="236535" y="590009"/>
                      </a:cubicBezTo>
                      <a:cubicBezTo>
                        <a:pt x="238987" y="589628"/>
                        <a:pt x="241483" y="589628"/>
                        <a:pt x="243935" y="590009"/>
                      </a:cubicBezTo>
                      <a:lnTo>
                        <a:pt x="293560" y="590009"/>
                      </a:lnTo>
                      <a:lnTo>
                        <a:pt x="293560" y="537716"/>
                      </a:lnTo>
                      <a:cubicBezTo>
                        <a:pt x="293560" y="523776"/>
                        <a:pt x="304861" y="512475"/>
                        <a:pt x="318801" y="512475"/>
                      </a:cubicBezTo>
                      <a:close/>
                      <a:moveTo>
                        <a:pt x="643794" y="429703"/>
                      </a:moveTo>
                      <a:lnTo>
                        <a:pt x="643794" y="597629"/>
                      </a:lnTo>
                      <a:lnTo>
                        <a:pt x="811815" y="597629"/>
                      </a:lnTo>
                      <a:lnTo>
                        <a:pt x="811815" y="429703"/>
                      </a:lnTo>
                      <a:close/>
                      <a:moveTo>
                        <a:pt x="1102176" y="428939"/>
                      </a:moveTo>
                      <a:lnTo>
                        <a:pt x="1100328" y="429704"/>
                      </a:lnTo>
                      <a:lnTo>
                        <a:pt x="935545" y="429704"/>
                      </a:lnTo>
                      <a:lnTo>
                        <a:pt x="935545" y="597629"/>
                      </a:lnTo>
                      <a:lnTo>
                        <a:pt x="1194862" y="597629"/>
                      </a:lnTo>
                      <a:lnTo>
                        <a:pt x="1187958" y="571531"/>
                      </a:lnTo>
                      <a:close/>
                      <a:moveTo>
                        <a:pt x="618933" y="380173"/>
                      </a:moveTo>
                      <a:cubicBezTo>
                        <a:pt x="618997" y="380173"/>
                        <a:pt x="619061" y="380173"/>
                        <a:pt x="619124" y="380173"/>
                      </a:cubicBezTo>
                      <a:lnTo>
                        <a:pt x="836580" y="380173"/>
                      </a:lnTo>
                      <a:cubicBezTo>
                        <a:pt x="850205" y="380120"/>
                        <a:pt x="861292" y="391123"/>
                        <a:pt x="861345" y="404747"/>
                      </a:cubicBezTo>
                      <a:cubicBezTo>
                        <a:pt x="861345" y="404811"/>
                        <a:pt x="861345" y="404875"/>
                        <a:pt x="861345" y="404938"/>
                      </a:cubicBezTo>
                      <a:lnTo>
                        <a:pt x="861345" y="622489"/>
                      </a:lnTo>
                      <a:cubicBezTo>
                        <a:pt x="861398" y="636114"/>
                        <a:pt x="850395" y="647201"/>
                        <a:pt x="836771" y="647254"/>
                      </a:cubicBezTo>
                      <a:cubicBezTo>
                        <a:pt x="836707" y="647254"/>
                        <a:pt x="836644" y="647254"/>
                        <a:pt x="836580" y="647254"/>
                      </a:cubicBezTo>
                      <a:lnTo>
                        <a:pt x="836580" y="647730"/>
                      </a:lnTo>
                      <a:lnTo>
                        <a:pt x="619124" y="647730"/>
                      </a:lnTo>
                      <a:cubicBezTo>
                        <a:pt x="605500" y="647783"/>
                        <a:pt x="594412" y="636781"/>
                        <a:pt x="594359" y="623156"/>
                      </a:cubicBezTo>
                      <a:cubicBezTo>
                        <a:pt x="594359" y="623093"/>
                        <a:pt x="594359" y="623029"/>
                        <a:pt x="594359" y="622965"/>
                      </a:cubicBezTo>
                      <a:lnTo>
                        <a:pt x="594359" y="404938"/>
                      </a:lnTo>
                      <a:cubicBezTo>
                        <a:pt x="594306" y="391314"/>
                        <a:pt x="605309" y="380226"/>
                        <a:pt x="618933" y="380173"/>
                      </a:cubicBezTo>
                      <a:close/>
                      <a:moveTo>
                        <a:pt x="727900" y="218439"/>
                      </a:moveTo>
                      <a:cubicBezTo>
                        <a:pt x="708219" y="218899"/>
                        <a:pt x="692433" y="234854"/>
                        <a:pt x="692182" y="254538"/>
                      </a:cubicBezTo>
                      <a:lnTo>
                        <a:pt x="692182" y="298925"/>
                      </a:lnTo>
                      <a:lnTo>
                        <a:pt x="766000" y="298925"/>
                      </a:lnTo>
                      <a:lnTo>
                        <a:pt x="766000" y="254538"/>
                      </a:lnTo>
                      <a:cubicBezTo>
                        <a:pt x="765378" y="234080"/>
                        <a:pt x="748363" y="217958"/>
                        <a:pt x="727900" y="218439"/>
                      </a:cubicBezTo>
                      <a:close/>
                      <a:moveTo>
                        <a:pt x="945355" y="213772"/>
                      </a:moveTo>
                      <a:cubicBezTo>
                        <a:pt x="959191" y="213772"/>
                        <a:pt x="970406" y="224988"/>
                        <a:pt x="970406" y="238823"/>
                      </a:cubicBezTo>
                      <a:cubicBezTo>
                        <a:pt x="970406" y="252658"/>
                        <a:pt x="959191" y="263873"/>
                        <a:pt x="945355" y="263873"/>
                      </a:cubicBezTo>
                      <a:lnTo>
                        <a:pt x="880776" y="266731"/>
                      </a:lnTo>
                      <a:cubicBezTo>
                        <a:pt x="866914" y="265877"/>
                        <a:pt x="856370" y="253947"/>
                        <a:pt x="857224" y="240086"/>
                      </a:cubicBezTo>
                      <a:cubicBezTo>
                        <a:pt x="858005" y="227416"/>
                        <a:pt x="868106" y="217315"/>
                        <a:pt x="880776" y="216534"/>
                      </a:cubicBezTo>
                      <a:close/>
                      <a:moveTo>
                        <a:pt x="511301" y="213771"/>
                      </a:moveTo>
                      <a:lnTo>
                        <a:pt x="578643" y="213771"/>
                      </a:lnTo>
                      <a:cubicBezTo>
                        <a:pt x="593267" y="213771"/>
                        <a:pt x="605123" y="225626"/>
                        <a:pt x="605123" y="240251"/>
                      </a:cubicBezTo>
                      <a:cubicBezTo>
                        <a:pt x="605123" y="254875"/>
                        <a:pt x="593267" y="266730"/>
                        <a:pt x="578643" y="266730"/>
                      </a:cubicBezTo>
                      <a:lnTo>
                        <a:pt x="511301" y="266730"/>
                      </a:lnTo>
                      <a:cubicBezTo>
                        <a:pt x="496677" y="266730"/>
                        <a:pt x="484822" y="254875"/>
                        <a:pt x="484822" y="240251"/>
                      </a:cubicBezTo>
                      <a:cubicBezTo>
                        <a:pt x="484822" y="225626"/>
                        <a:pt x="496677" y="213771"/>
                        <a:pt x="511301" y="213771"/>
                      </a:cubicBezTo>
                      <a:close/>
                      <a:moveTo>
                        <a:pt x="731869" y="170782"/>
                      </a:moveTo>
                      <a:cubicBezTo>
                        <a:pt x="777485" y="172294"/>
                        <a:pt x="814113" y="208922"/>
                        <a:pt x="815626" y="254538"/>
                      </a:cubicBezTo>
                      <a:lnTo>
                        <a:pt x="815626" y="300735"/>
                      </a:lnTo>
                      <a:lnTo>
                        <a:pt x="1005173" y="300735"/>
                      </a:lnTo>
                      <a:cubicBezTo>
                        <a:pt x="1049560" y="300735"/>
                        <a:pt x="1099376" y="331120"/>
                        <a:pt x="1121569" y="367410"/>
                      </a:cubicBezTo>
                      <a:lnTo>
                        <a:pt x="1229487" y="546956"/>
                      </a:lnTo>
                      <a:cubicBezTo>
                        <a:pt x="1251680" y="580103"/>
                        <a:pt x="1265492" y="638206"/>
                        <a:pt x="1265492" y="676877"/>
                      </a:cubicBezTo>
                      <a:lnTo>
                        <a:pt x="1265492" y="847756"/>
                      </a:lnTo>
                      <a:cubicBezTo>
                        <a:pt x="1265231" y="894992"/>
                        <a:pt x="1227003" y="933221"/>
                        <a:pt x="1179767" y="933481"/>
                      </a:cubicBezTo>
                      <a:lnTo>
                        <a:pt x="1179671" y="933481"/>
                      </a:lnTo>
                      <a:lnTo>
                        <a:pt x="1096952" y="933481"/>
                      </a:lnTo>
                      <a:lnTo>
                        <a:pt x="1092163" y="956678"/>
                      </a:lnTo>
                      <a:cubicBezTo>
                        <a:pt x="1073605" y="1000421"/>
                        <a:pt x="1030617" y="1031308"/>
                        <a:pt x="980218" y="1032159"/>
                      </a:cubicBezTo>
                      <a:cubicBezTo>
                        <a:pt x="930165" y="1031298"/>
                        <a:pt x="887729" y="1000153"/>
                        <a:pt x="870087" y="956479"/>
                      </a:cubicBezTo>
                      <a:lnTo>
                        <a:pt x="865845" y="933576"/>
                      </a:lnTo>
                      <a:lnTo>
                        <a:pt x="750968" y="933576"/>
                      </a:lnTo>
                      <a:lnTo>
                        <a:pt x="740917" y="954900"/>
                      </a:lnTo>
                      <a:cubicBezTo>
                        <a:pt x="731163" y="964043"/>
                        <a:pt x="718049" y="969601"/>
                        <a:pt x="703707" y="969580"/>
                      </a:cubicBezTo>
                      <a:cubicBezTo>
                        <a:pt x="672844" y="968545"/>
                        <a:pt x="648642" y="942724"/>
                        <a:pt x="649605" y="911858"/>
                      </a:cubicBezTo>
                      <a:cubicBezTo>
                        <a:pt x="651499" y="881933"/>
                        <a:pt x="677293" y="859209"/>
                        <a:pt x="707218" y="861103"/>
                      </a:cubicBezTo>
                      <a:cubicBezTo>
                        <a:pt x="722180" y="862050"/>
                        <a:pt x="735343" y="868972"/>
                        <a:pt x="744527" y="879398"/>
                      </a:cubicBezTo>
                      <a:lnTo>
                        <a:pt x="745758" y="882998"/>
                      </a:lnTo>
                      <a:lnTo>
                        <a:pt x="866302" y="882998"/>
                      </a:lnTo>
                      <a:lnTo>
                        <a:pt x="870071" y="863012"/>
                      </a:lnTo>
                      <a:cubicBezTo>
                        <a:pt x="887525" y="820222"/>
                        <a:pt x="929282" y="789817"/>
                        <a:pt x="978398" y="789186"/>
                      </a:cubicBezTo>
                      <a:cubicBezTo>
                        <a:pt x="979004" y="789178"/>
                        <a:pt x="979611" y="789175"/>
                        <a:pt x="980218" y="789176"/>
                      </a:cubicBezTo>
                      <a:cubicBezTo>
                        <a:pt x="1030297" y="788860"/>
                        <a:pt x="1073465" y="819021"/>
                        <a:pt x="1092118" y="862291"/>
                      </a:cubicBezTo>
                      <a:lnTo>
                        <a:pt x="1096608" y="883760"/>
                      </a:lnTo>
                      <a:lnTo>
                        <a:pt x="1179671" y="883760"/>
                      </a:lnTo>
                      <a:cubicBezTo>
                        <a:pt x="1199428" y="883454"/>
                        <a:pt x="1215369" y="867512"/>
                        <a:pt x="1215676" y="847756"/>
                      </a:cubicBezTo>
                      <a:lnTo>
                        <a:pt x="1215676" y="676306"/>
                      </a:lnTo>
                      <a:lnTo>
                        <a:pt x="1208117" y="647731"/>
                      </a:lnTo>
                      <a:lnTo>
                        <a:pt x="910495" y="647731"/>
                      </a:lnTo>
                      <a:cubicBezTo>
                        <a:pt x="896765" y="647627"/>
                        <a:pt x="885719" y="636413"/>
                        <a:pt x="885823" y="622684"/>
                      </a:cubicBezTo>
                      <a:cubicBezTo>
                        <a:pt x="885823" y="622619"/>
                        <a:pt x="885824" y="622554"/>
                        <a:pt x="885825" y="622490"/>
                      </a:cubicBezTo>
                      <a:lnTo>
                        <a:pt x="885825" y="404939"/>
                      </a:lnTo>
                      <a:cubicBezTo>
                        <a:pt x="885877" y="391209"/>
                        <a:pt x="897049" y="380120"/>
                        <a:pt x="910779" y="380172"/>
                      </a:cubicBezTo>
                      <a:cubicBezTo>
                        <a:pt x="910843" y="380172"/>
                        <a:pt x="910907" y="380173"/>
                        <a:pt x="910971" y="380174"/>
                      </a:cubicBezTo>
                      <a:lnTo>
                        <a:pt x="1066469" y="380174"/>
                      </a:lnTo>
                      <a:lnTo>
                        <a:pt x="1047053" y="363158"/>
                      </a:lnTo>
                      <a:cubicBezTo>
                        <a:pt x="1034298" y="356090"/>
                        <a:pt x="1020045" y="351725"/>
                        <a:pt x="1005173" y="350551"/>
                      </a:cubicBezTo>
                      <a:lnTo>
                        <a:pt x="88583" y="350551"/>
                      </a:lnTo>
                      <a:cubicBezTo>
                        <a:pt x="67399" y="351003"/>
                        <a:pt x="50320" y="368040"/>
                        <a:pt x="49816" y="389222"/>
                      </a:cubicBezTo>
                      <a:lnTo>
                        <a:pt x="49816" y="847756"/>
                      </a:lnTo>
                      <a:cubicBezTo>
                        <a:pt x="50537" y="868364"/>
                        <a:pt x="67828" y="884487"/>
                        <a:pt x="88436" y="883766"/>
                      </a:cubicBezTo>
                      <a:cubicBezTo>
                        <a:pt x="88485" y="883764"/>
                        <a:pt x="88534" y="883762"/>
                        <a:pt x="88583" y="883760"/>
                      </a:cubicBezTo>
                      <a:lnTo>
                        <a:pt x="144354" y="883760"/>
                      </a:lnTo>
                      <a:lnTo>
                        <a:pt x="148266" y="863012"/>
                      </a:lnTo>
                      <a:cubicBezTo>
                        <a:pt x="165720" y="820222"/>
                        <a:pt x="207477" y="789817"/>
                        <a:pt x="256593" y="789186"/>
                      </a:cubicBezTo>
                      <a:cubicBezTo>
                        <a:pt x="257200" y="789178"/>
                        <a:pt x="257806" y="789175"/>
                        <a:pt x="258413" y="789176"/>
                      </a:cubicBezTo>
                      <a:cubicBezTo>
                        <a:pt x="308492" y="788860"/>
                        <a:pt x="351660" y="819021"/>
                        <a:pt x="370313" y="862291"/>
                      </a:cubicBezTo>
                      <a:lnTo>
                        <a:pt x="374644" y="882998"/>
                      </a:lnTo>
                      <a:lnTo>
                        <a:pt x="492195" y="882998"/>
                      </a:lnTo>
                      <a:lnTo>
                        <a:pt x="496660" y="873363"/>
                      </a:lnTo>
                      <a:cubicBezTo>
                        <a:pt x="507097" y="863753"/>
                        <a:pt x="521200" y="858125"/>
                        <a:pt x="536495" y="858756"/>
                      </a:cubicBezTo>
                      <a:cubicBezTo>
                        <a:pt x="567086" y="860019"/>
                        <a:pt x="590860" y="885840"/>
                        <a:pt x="589598" y="916430"/>
                      </a:cubicBezTo>
                      <a:cubicBezTo>
                        <a:pt x="588371" y="946151"/>
                        <a:pt x="563907" y="969606"/>
                        <a:pt x="534161" y="969580"/>
                      </a:cubicBezTo>
                      <a:cubicBezTo>
                        <a:pt x="518555" y="969241"/>
                        <a:pt x="504560" y="962614"/>
                        <a:pt x="494547" y="952170"/>
                      </a:cubicBezTo>
                      <a:lnTo>
                        <a:pt x="487293" y="933576"/>
                      </a:lnTo>
                      <a:lnTo>
                        <a:pt x="375128" y="933576"/>
                      </a:lnTo>
                      <a:lnTo>
                        <a:pt x="370358" y="956678"/>
                      </a:lnTo>
                      <a:cubicBezTo>
                        <a:pt x="351800" y="1000421"/>
                        <a:pt x="308811" y="1031308"/>
                        <a:pt x="258413" y="1032159"/>
                      </a:cubicBezTo>
                      <a:cubicBezTo>
                        <a:pt x="208377" y="1031259"/>
                        <a:pt x="165963" y="1000122"/>
                        <a:pt x="148308" y="956464"/>
                      </a:cubicBezTo>
                      <a:lnTo>
                        <a:pt x="144037" y="933481"/>
                      </a:lnTo>
                      <a:lnTo>
                        <a:pt x="88583" y="933481"/>
                      </a:lnTo>
                      <a:cubicBezTo>
                        <a:pt x="40616" y="934432"/>
                        <a:pt x="961" y="896318"/>
                        <a:pt x="10" y="848352"/>
                      </a:cubicBezTo>
                      <a:cubicBezTo>
                        <a:pt x="6" y="848153"/>
                        <a:pt x="3" y="847954"/>
                        <a:pt x="0" y="847756"/>
                      </a:cubicBezTo>
                      <a:lnTo>
                        <a:pt x="0" y="389222"/>
                      </a:lnTo>
                      <a:cubicBezTo>
                        <a:pt x="364" y="340466"/>
                        <a:pt x="39826" y="301046"/>
                        <a:pt x="88583" y="300735"/>
                      </a:cubicBezTo>
                      <a:lnTo>
                        <a:pt x="642366" y="300735"/>
                      </a:lnTo>
                      <a:lnTo>
                        <a:pt x="642366" y="254538"/>
                      </a:lnTo>
                      <a:cubicBezTo>
                        <a:pt x="643953" y="206694"/>
                        <a:pt x="684024" y="169195"/>
                        <a:pt x="731869" y="170782"/>
                      </a:cubicBezTo>
                      <a:close/>
                      <a:moveTo>
                        <a:pt x="880586" y="60722"/>
                      </a:moveTo>
                      <a:cubicBezTo>
                        <a:pt x="886659" y="60211"/>
                        <a:pt x="892927" y="62015"/>
                        <a:pt x="897951" y="66258"/>
                      </a:cubicBezTo>
                      <a:cubicBezTo>
                        <a:pt x="898971" y="67120"/>
                        <a:pt x="899917" y="68066"/>
                        <a:pt x="900779" y="69087"/>
                      </a:cubicBezTo>
                      <a:cubicBezTo>
                        <a:pt x="910090" y="76136"/>
                        <a:pt x="911924" y="89398"/>
                        <a:pt x="904875" y="98709"/>
                      </a:cubicBezTo>
                      <a:cubicBezTo>
                        <a:pt x="903704" y="100256"/>
                        <a:pt x="902326" y="101634"/>
                        <a:pt x="900779" y="102805"/>
                      </a:cubicBezTo>
                      <a:lnTo>
                        <a:pt x="853154" y="153288"/>
                      </a:lnTo>
                      <a:cubicBezTo>
                        <a:pt x="848065" y="156409"/>
                        <a:pt x="842332" y="158331"/>
                        <a:pt x="836390" y="158908"/>
                      </a:cubicBezTo>
                      <a:lnTo>
                        <a:pt x="836390" y="158812"/>
                      </a:lnTo>
                      <a:cubicBezTo>
                        <a:pt x="829538" y="158279"/>
                        <a:pt x="822864" y="156367"/>
                        <a:pt x="816769" y="153193"/>
                      </a:cubicBezTo>
                      <a:cubicBezTo>
                        <a:pt x="808358" y="142486"/>
                        <a:pt x="808358" y="127418"/>
                        <a:pt x="816769" y="116712"/>
                      </a:cubicBezTo>
                      <a:lnTo>
                        <a:pt x="864394" y="69087"/>
                      </a:lnTo>
                      <a:cubicBezTo>
                        <a:pt x="868636" y="64063"/>
                        <a:pt x="874513" y="61234"/>
                        <a:pt x="880586" y="60722"/>
                      </a:cubicBezTo>
                      <a:close/>
                      <a:moveTo>
                        <a:pt x="570642" y="60722"/>
                      </a:moveTo>
                      <a:cubicBezTo>
                        <a:pt x="576715" y="60211"/>
                        <a:pt x="582983" y="62015"/>
                        <a:pt x="588007" y="66258"/>
                      </a:cubicBezTo>
                      <a:cubicBezTo>
                        <a:pt x="589027" y="67120"/>
                        <a:pt x="589973" y="68066"/>
                        <a:pt x="590835" y="69087"/>
                      </a:cubicBezTo>
                      <a:lnTo>
                        <a:pt x="638460" y="116712"/>
                      </a:lnTo>
                      <a:cubicBezTo>
                        <a:pt x="648534" y="125329"/>
                        <a:pt x="649715" y="140481"/>
                        <a:pt x="641098" y="150555"/>
                      </a:cubicBezTo>
                      <a:cubicBezTo>
                        <a:pt x="640289" y="151501"/>
                        <a:pt x="639407" y="152383"/>
                        <a:pt x="638460" y="153193"/>
                      </a:cubicBezTo>
                      <a:cubicBezTo>
                        <a:pt x="633344" y="156330"/>
                        <a:pt x="627576" y="158253"/>
                        <a:pt x="621601" y="158812"/>
                      </a:cubicBezTo>
                      <a:cubicBezTo>
                        <a:pt x="614781" y="158266"/>
                        <a:pt x="608141" y="156355"/>
                        <a:pt x="602075" y="153193"/>
                      </a:cubicBezTo>
                      <a:lnTo>
                        <a:pt x="554450" y="105568"/>
                      </a:lnTo>
                      <a:cubicBezTo>
                        <a:pt x="546039" y="94861"/>
                        <a:pt x="546039" y="79793"/>
                        <a:pt x="554450" y="69087"/>
                      </a:cubicBezTo>
                      <a:cubicBezTo>
                        <a:pt x="558692" y="64063"/>
                        <a:pt x="564570" y="61234"/>
                        <a:pt x="570642" y="60722"/>
                      </a:cubicBezTo>
                      <a:close/>
                      <a:moveTo>
                        <a:pt x="726515" y="29"/>
                      </a:moveTo>
                      <a:cubicBezTo>
                        <a:pt x="726532" y="29"/>
                        <a:pt x="726549" y="30"/>
                        <a:pt x="726566" y="31"/>
                      </a:cubicBezTo>
                      <a:cubicBezTo>
                        <a:pt x="740489" y="-664"/>
                        <a:pt x="752340" y="10059"/>
                        <a:pt x="753035" y="23982"/>
                      </a:cubicBezTo>
                      <a:cubicBezTo>
                        <a:pt x="753039" y="24063"/>
                        <a:pt x="753043" y="24144"/>
                        <a:pt x="753046" y="24224"/>
                      </a:cubicBezTo>
                      <a:lnTo>
                        <a:pt x="753046" y="88899"/>
                      </a:lnTo>
                      <a:cubicBezTo>
                        <a:pt x="752485" y="102828"/>
                        <a:pt x="740738" y="113665"/>
                        <a:pt x="726809" y="113104"/>
                      </a:cubicBezTo>
                      <a:cubicBezTo>
                        <a:pt x="726728" y="113100"/>
                        <a:pt x="726647" y="113097"/>
                        <a:pt x="726566" y="113093"/>
                      </a:cubicBezTo>
                      <a:cubicBezTo>
                        <a:pt x="712588" y="113738"/>
                        <a:pt x="700734" y="102929"/>
                        <a:pt x="700089" y="88951"/>
                      </a:cubicBezTo>
                      <a:cubicBezTo>
                        <a:pt x="700089" y="88934"/>
                        <a:pt x="700088" y="88916"/>
                        <a:pt x="700087" y="88899"/>
                      </a:cubicBezTo>
                      <a:lnTo>
                        <a:pt x="700087" y="24224"/>
                      </a:lnTo>
                      <a:cubicBezTo>
                        <a:pt x="700703" y="10245"/>
                        <a:pt x="712536" y="-588"/>
                        <a:pt x="726515" y="29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034">
                    <a:defRPr/>
                  </a:pPr>
                  <a:endParaRPr lang="en-US" sz="1999" kern="0">
                    <a:solidFill>
                      <a:srgbClr val="666666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endParaRPr>
                </a:p>
              </p:txBody>
            </p:sp>
            <p:sp>
              <p:nvSpPr>
                <p:cNvPr id="290" name="椭圆 289">
                  <a:extLst>
                    <a:ext uri="{FF2B5EF4-FFF2-40B4-BE49-F238E27FC236}">
                      <a16:creationId xmlns:a16="http://schemas.microsoft.com/office/drawing/2014/main" id="{697313CB-D0C5-4229-A3EB-0E580E51D4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152080" y="1446332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462D4F1-C312-4CFA-BC05-3FD0C9207D28}"/>
                </a:ext>
              </a:extLst>
            </p:cNvPr>
            <p:cNvGrpSpPr/>
            <p:nvPr/>
          </p:nvGrpSpPr>
          <p:grpSpPr>
            <a:xfrm>
              <a:off x="730495" y="2706380"/>
              <a:ext cx="3908102" cy="731520"/>
              <a:chOff x="730495" y="2706380"/>
              <a:chExt cx="3908102" cy="731520"/>
            </a:xfrm>
          </p:grpSpPr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1055787C-6ED2-40F6-AA85-CEDCAA9ED65D}"/>
                  </a:ext>
                </a:extLst>
              </p:cNvPr>
              <p:cNvSpPr/>
              <p:nvPr/>
            </p:nvSpPr>
            <p:spPr>
              <a:xfrm>
                <a:off x="730495" y="2706380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食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：粮食供应影响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8.4</a:t>
                </a: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亿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人</a:t>
                </a:r>
                <a:endParaRPr lang="en-US" altLang="zh-CN" sz="1200" b="1" kern="0" spc="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  <a:sym typeface="Arial" panose="020B0604020202020204" pitchFamily="34" charset="0"/>
                </a:endParaRPr>
              </a:p>
              <a:p>
                <a:pPr algn="ctr" defTabSz="914112">
                  <a:spcAft>
                    <a:spcPts val="900"/>
                  </a:spcAft>
                </a:pP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用数据换产量，普惠绿色饮食</a:t>
                </a:r>
              </a:p>
            </p:txBody>
          </p:sp>
          <p:grpSp>
            <p:nvGrpSpPr>
              <p:cNvPr id="291" name="组合 290">
                <a:extLst>
                  <a:ext uri="{FF2B5EF4-FFF2-40B4-BE49-F238E27FC236}">
                    <a16:creationId xmlns:a16="http://schemas.microsoft.com/office/drawing/2014/main" id="{25885904-55FF-4937-80B4-67EC5E491F16}"/>
                  </a:ext>
                </a:extLst>
              </p:cNvPr>
              <p:cNvGrpSpPr/>
              <p:nvPr/>
            </p:nvGrpSpPr>
            <p:grpSpPr>
              <a:xfrm>
                <a:off x="4089957" y="2797820"/>
                <a:ext cx="548640" cy="548640"/>
                <a:chOff x="4562665" y="2685083"/>
                <a:chExt cx="548640" cy="548640"/>
              </a:xfrm>
            </p:grpSpPr>
            <p:sp>
              <p:nvSpPr>
                <p:cNvPr id="292" name="Freeform 31">
                  <a:extLst>
                    <a:ext uri="{FF2B5EF4-FFF2-40B4-BE49-F238E27FC236}">
                      <a16:creationId xmlns:a16="http://schemas.microsoft.com/office/drawing/2014/main" id="{0576CAB4-C2B6-4D7B-BDED-3DFE958F863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654105" y="2776523"/>
                  <a:ext cx="365760" cy="365760"/>
                </a:xfrm>
                <a:custGeom>
                  <a:avLst/>
                  <a:gdLst>
                    <a:gd name="T0" fmla="*/ 73 w 232"/>
                    <a:gd name="T1" fmla="*/ 114 h 232"/>
                    <a:gd name="T2" fmla="*/ 161 w 232"/>
                    <a:gd name="T3" fmla="*/ 114 h 232"/>
                    <a:gd name="T4" fmla="*/ 117 w 232"/>
                    <a:gd name="T5" fmla="*/ 142 h 232"/>
                    <a:gd name="T6" fmla="*/ 117 w 232"/>
                    <a:gd name="T7" fmla="*/ 85 h 232"/>
                    <a:gd name="T8" fmla="*/ 117 w 232"/>
                    <a:gd name="T9" fmla="*/ 142 h 232"/>
                    <a:gd name="T10" fmla="*/ 0 w 232"/>
                    <a:gd name="T11" fmla="*/ 116 h 232"/>
                    <a:gd name="T12" fmla="*/ 232 w 232"/>
                    <a:gd name="T13" fmla="*/ 116 h 232"/>
                    <a:gd name="T14" fmla="*/ 51 w 232"/>
                    <a:gd name="T15" fmla="*/ 99 h 232"/>
                    <a:gd name="T16" fmla="*/ 48 w 232"/>
                    <a:gd name="T17" fmla="*/ 168 h 232"/>
                    <a:gd name="T18" fmla="*/ 42 w 232"/>
                    <a:gd name="T19" fmla="*/ 162 h 232"/>
                    <a:gd name="T20" fmla="*/ 34 w 232"/>
                    <a:gd name="T21" fmla="*/ 85 h 232"/>
                    <a:gd name="T22" fmla="*/ 60 w 232"/>
                    <a:gd name="T23" fmla="*/ 85 h 232"/>
                    <a:gd name="T24" fmla="*/ 117 w 232"/>
                    <a:gd name="T25" fmla="*/ 163 h 232"/>
                    <a:gd name="T26" fmla="*/ 117 w 232"/>
                    <a:gd name="T27" fmla="*/ 64 h 232"/>
                    <a:gd name="T28" fmla="*/ 117 w 232"/>
                    <a:gd name="T29" fmla="*/ 163 h 232"/>
                    <a:gd name="T30" fmla="*/ 197 w 232"/>
                    <a:gd name="T31" fmla="*/ 89 h 232"/>
                    <a:gd name="T32" fmla="*/ 192 w 232"/>
                    <a:gd name="T33" fmla="*/ 162 h 232"/>
                    <a:gd name="T34" fmla="*/ 185 w 232"/>
                    <a:gd name="T35" fmla="*/ 168 h 232"/>
                    <a:gd name="T36" fmla="*/ 183 w 232"/>
                    <a:gd name="T37" fmla="*/ 97 h 232"/>
                    <a:gd name="T38" fmla="*/ 175 w 232"/>
                    <a:gd name="T39" fmla="*/ 87 h 232"/>
                    <a:gd name="T40" fmla="*/ 177 w 232"/>
                    <a:gd name="T41" fmla="*/ 66 h 232"/>
                    <a:gd name="T42" fmla="*/ 178 w 232"/>
                    <a:gd name="T43" fmla="*/ 87 h 232"/>
                    <a:gd name="T44" fmla="*/ 182 w 232"/>
                    <a:gd name="T45" fmla="*/ 91 h 232"/>
                    <a:gd name="T46" fmla="*/ 183 w 232"/>
                    <a:gd name="T47" fmla="*/ 66 h 232"/>
                    <a:gd name="T48" fmla="*/ 185 w 232"/>
                    <a:gd name="T49" fmla="*/ 91 h 232"/>
                    <a:gd name="T50" fmla="*/ 186 w 232"/>
                    <a:gd name="T51" fmla="*/ 93 h 232"/>
                    <a:gd name="T52" fmla="*/ 188 w 232"/>
                    <a:gd name="T53" fmla="*/ 91 h 232"/>
                    <a:gd name="T54" fmla="*/ 190 w 232"/>
                    <a:gd name="T55" fmla="*/ 66 h 232"/>
                    <a:gd name="T56" fmla="*/ 191 w 232"/>
                    <a:gd name="T57" fmla="*/ 91 h 232"/>
                    <a:gd name="T58" fmla="*/ 195 w 232"/>
                    <a:gd name="T59" fmla="*/ 87 h 232"/>
                    <a:gd name="T60" fmla="*/ 196 w 232"/>
                    <a:gd name="T61" fmla="*/ 66 h 232"/>
                    <a:gd name="T62" fmla="*/ 197 w 232"/>
                    <a:gd name="T63" fmla="*/ 87 h 232"/>
                    <a:gd name="T64" fmla="*/ 117 w 232"/>
                    <a:gd name="T65" fmla="*/ 140 h 232"/>
                    <a:gd name="T66" fmla="*/ 117 w 232"/>
                    <a:gd name="T67" fmla="*/ 87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32" h="232">
                      <a:moveTo>
                        <a:pt x="117" y="70"/>
                      </a:moveTo>
                      <a:cubicBezTo>
                        <a:pt x="93" y="70"/>
                        <a:pt x="73" y="89"/>
                        <a:pt x="73" y="114"/>
                      </a:cubicBezTo>
                      <a:cubicBezTo>
                        <a:pt x="73" y="138"/>
                        <a:pt x="93" y="158"/>
                        <a:pt x="117" y="158"/>
                      </a:cubicBezTo>
                      <a:cubicBezTo>
                        <a:pt x="141" y="158"/>
                        <a:pt x="161" y="138"/>
                        <a:pt x="161" y="114"/>
                      </a:cubicBezTo>
                      <a:cubicBezTo>
                        <a:pt x="161" y="89"/>
                        <a:pt x="141" y="70"/>
                        <a:pt x="117" y="70"/>
                      </a:cubicBezTo>
                      <a:close/>
                      <a:moveTo>
                        <a:pt x="117" y="142"/>
                      </a:moveTo>
                      <a:cubicBezTo>
                        <a:pt x="101" y="142"/>
                        <a:pt x="88" y="130"/>
                        <a:pt x="88" y="114"/>
                      </a:cubicBezTo>
                      <a:cubicBezTo>
                        <a:pt x="88" y="98"/>
                        <a:pt x="101" y="85"/>
                        <a:pt x="117" y="85"/>
                      </a:cubicBezTo>
                      <a:cubicBezTo>
                        <a:pt x="133" y="85"/>
                        <a:pt x="146" y="98"/>
                        <a:pt x="146" y="114"/>
                      </a:cubicBezTo>
                      <a:cubicBezTo>
                        <a:pt x="146" y="130"/>
                        <a:pt x="133" y="142"/>
                        <a:pt x="117" y="142"/>
                      </a:cubicBezTo>
                      <a:close/>
                      <a:moveTo>
                        <a:pt x="116" y="0"/>
                      </a:moveTo>
                      <a:cubicBezTo>
                        <a:pt x="52" y="0"/>
                        <a:pt x="0" y="52"/>
                        <a:pt x="0" y="116"/>
                      </a:cubicBezTo>
                      <a:cubicBezTo>
                        <a:pt x="0" y="180"/>
                        <a:pt x="52" y="232"/>
                        <a:pt x="116" y="232"/>
                      </a:cubicBezTo>
                      <a:cubicBezTo>
                        <a:pt x="180" y="232"/>
                        <a:pt x="232" y="180"/>
                        <a:pt x="232" y="116"/>
                      </a:cubicBezTo>
                      <a:cubicBezTo>
                        <a:pt x="232" y="52"/>
                        <a:pt x="180" y="0"/>
                        <a:pt x="116" y="0"/>
                      </a:cubicBezTo>
                      <a:close/>
                      <a:moveTo>
                        <a:pt x="51" y="99"/>
                      </a:moveTo>
                      <a:cubicBezTo>
                        <a:pt x="52" y="162"/>
                        <a:pt x="52" y="162"/>
                        <a:pt x="52" y="162"/>
                      </a:cubicBezTo>
                      <a:cubicBezTo>
                        <a:pt x="52" y="165"/>
                        <a:pt x="51" y="168"/>
                        <a:pt x="48" y="168"/>
                      </a:cubicBezTo>
                      <a:cubicBezTo>
                        <a:pt x="48" y="168"/>
                        <a:pt x="47" y="168"/>
                        <a:pt x="46" y="168"/>
                      </a:cubicBezTo>
                      <a:cubicBezTo>
                        <a:pt x="44" y="168"/>
                        <a:pt x="42" y="165"/>
                        <a:pt x="42" y="162"/>
                      </a:cubicBezTo>
                      <a:cubicBezTo>
                        <a:pt x="44" y="99"/>
                        <a:pt x="44" y="99"/>
                        <a:pt x="44" y="99"/>
                      </a:cubicBezTo>
                      <a:cubicBezTo>
                        <a:pt x="38" y="98"/>
                        <a:pt x="34" y="93"/>
                        <a:pt x="34" y="85"/>
                      </a:cubicBezTo>
                      <a:cubicBezTo>
                        <a:pt x="34" y="75"/>
                        <a:pt x="40" y="64"/>
                        <a:pt x="47" y="64"/>
                      </a:cubicBezTo>
                      <a:cubicBezTo>
                        <a:pt x="54" y="64"/>
                        <a:pt x="60" y="75"/>
                        <a:pt x="60" y="85"/>
                      </a:cubicBezTo>
                      <a:cubicBezTo>
                        <a:pt x="60" y="93"/>
                        <a:pt x="56" y="98"/>
                        <a:pt x="51" y="99"/>
                      </a:cubicBezTo>
                      <a:close/>
                      <a:moveTo>
                        <a:pt x="117" y="163"/>
                      </a:moveTo>
                      <a:cubicBezTo>
                        <a:pt x="90" y="163"/>
                        <a:pt x="68" y="141"/>
                        <a:pt x="68" y="114"/>
                      </a:cubicBezTo>
                      <a:cubicBezTo>
                        <a:pt x="68" y="87"/>
                        <a:pt x="90" y="64"/>
                        <a:pt x="117" y="64"/>
                      </a:cubicBezTo>
                      <a:cubicBezTo>
                        <a:pt x="144" y="64"/>
                        <a:pt x="166" y="87"/>
                        <a:pt x="166" y="114"/>
                      </a:cubicBezTo>
                      <a:cubicBezTo>
                        <a:pt x="166" y="141"/>
                        <a:pt x="144" y="163"/>
                        <a:pt x="117" y="163"/>
                      </a:cubicBezTo>
                      <a:close/>
                      <a:moveTo>
                        <a:pt x="197" y="87"/>
                      </a:moveTo>
                      <a:cubicBezTo>
                        <a:pt x="197" y="89"/>
                        <a:pt x="197" y="89"/>
                        <a:pt x="197" y="89"/>
                      </a:cubicBezTo>
                      <a:cubicBezTo>
                        <a:pt x="197" y="93"/>
                        <a:pt x="194" y="97"/>
                        <a:pt x="190" y="97"/>
                      </a:cubicBezTo>
                      <a:cubicBezTo>
                        <a:pt x="192" y="162"/>
                        <a:pt x="192" y="162"/>
                        <a:pt x="192" y="162"/>
                      </a:cubicBezTo>
                      <a:cubicBezTo>
                        <a:pt x="192" y="165"/>
                        <a:pt x="190" y="168"/>
                        <a:pt x="188" y="168"/>
                      </a:cubicBezTo>
                      <a:cubicBezTo>
                        <a:pt x="185" y="168"/>
                        <a:pt x="185" y="168"/>
                        <a:pt x="185" y="168"/>
                      </a:cubicBezTo>
                      <a:cubicBezTo>
                        <a:pt x="183" y="168"/>
                        <a:pt x="181" y="165"/>
                        <a:pt x="181" y="162"/>
                      </a:cubicBezTo>
                      <a:cubicBezTo>
                        <a:pt x="183" y="97"/>
                        <a:pt x="183" y="97"/>
                        <a:pt x="183" y="97"/>
                      </a:cubicBezTo>
                      <a:cubicBezTo>
                        <a:pt x="179" y="97"/>
                        <a:pt x="175" y="93"/>
                        <a:pt x="175" y="89"/>
                      </a:cubicBezTo>
                      <a:cubicBezTo>
                        <a:pt x="175" y="87"/>
                        <a:pt x="175" y="87"/>
                        <a:pt x="175" y="87"/>
                      </a:cubicBezTo>
                      <a:cubicBezTo>
                        <a:pt x="175" y="68"/>
                        <a:pt x="175" y="68"/>
                        <a:pt x="175" y="68"/>
                      </a:cubicBezTo>
                      <a:cubicBezTo>
                        <a:pt x="175" y="67"/>
                        <a:pt x="176" y="66"/>
                        <a:pt x="177" y="66"/>
                      </a:cubicBezTo>
                      <a:cubicBezTo>
                        <a:pt x="178" y="66"/>
                        <a:pt x="178" y="67"/>
                        <a:pt x="178" y="68"/>
                      </a:cubicBezTo>
                      <a:cubicBezTo>
                        <a:pt x="178" y="87"/>
                        <a:pt x="178" y="87"/>
                        <a:pt x="178" y="87"/>
                      </a:cubicBezTo>
                      <a:cubicBezTo>
                        <a:pt x="178" y="89"/>
                        <a:pt x="179" y="91"/>
                        <a:pt x="180" y="92"/>
                      </a:cubicBezTo>
                      <a:cubicBezTo>
                        <a:pt x="181" y="92"/>
                        <a:pt x="182" y="92"/>
                        <a:pt x="182" y="91"/>
                      </a:cubicBezTo>
                      <a:cubicBezTo>
                        <a:pt x="182" y="89"/>
                        <a:pt x="182" y="68"/>
                        <a:pt x="182" y="68"/>
                      </a:cubicBezTo>
                      <a:cubicBezTo>
                        <a:pt x="182" y="67"/>
                        <a:pt x="183" y="66"/>
                        <a:pt x="183" y="66"/>
                      </a:cubicBezTo>
                      <a:cubicBezTo>
                        <a:pt x="184" y="66"/>
                        <a:pt x="185" y="67"/>
                        <a:pt x="185" y="68"/>
                      </a:cubicBezTo>
                      <a:cubicBezTo>
                        <a:pt x="185" y="68"/>
                        <a:pt x="185" y="90"/>
                        <a:pt x="185" y="91"/>
                      </a:cubicBezTo>
                      <a:cubicBezTo>
                        <a:pt x="185" y="92"/>
                        <a:pt x="185" y="93"/>
                        <a:pt x="186" y="93"/>
                      </a:cubicBezTo>
                      <a:cubicBezTo>
                        <a:pt x="186" y="93"/>
                        <a:pt x="186" y="93"/>
                        <a:pt x="186" y="93"/>
                      </a:cubicBezTo>
                      <a:cubicBezTo>
                        <a:pt x="186" y="93"/>
                        <a:pt x="187" y="93"/>
                        <a:pt x="187" y="93"/>
                      </a:cubicBezTo>
                      <a:cubicBezTo>
                        <a:pt x="188" y="93"/>
                        <a:pt x="188" y="92"/>
                        <a:pt x="188" y="91"/>
                      </a:cubicBezTo>
                      <a:cubicBezTo>
                        <a:pt x="188" y="90"/>
                        <a:pt x="188" y="68"/>
                        <a:pt x="188" y="68"/>
                      </a:cubicBezTo>
                      <a:cubicBezTo>
                        <a:pt x="188" y="67"/>
                        <a:pt x="189" y="66"/>
                        <a:pt x="190" y="66"/>
                      </a:cubicBezTo>
                      <a:cubicBezTo>
                        <a:pt x="190" y="66"/>
                        <a:pt x="191" y="67"/>
                        <a:pt x="191" y="68"/>
                      </a:cubicBezTo>
                      <a:cubicBezTo>
                        <a:pt x="191" y="68"/>
                        <a:pt x="191" y="89"/>
                        <a:pt x="191" y="91"/>
                      </a:cubicBezTo>
                      <a:cubicBezTo>
                        <a:pt x="191" y="92"/>
                        <a:pt x="192" y="92"/>
                        <a:pt x="192" y="92"/>
                      </a:cubicBezTo>
                      <a:cubicBezTo>
                        <a:pt x="194" y="91"/>
                        <a:pt x="195" y="89"/>
                        <a:pt x="195" y="87"/>
                      </a:cubicBezTo>
                      <a:cubicBezTo>
                        <a:pt x="195" y="68"/>
                        <a:pt x="195" y="68"/>
                        <a:pt x="195" y="68"/>
                      </a:cubicBezTo>
                      <a:cubicBezTo>
                        <a:pt x="195" y="67"/>
                        <a:pt x="195" y="66"/>
                        <a:pt x="196" y="66"/>
                      </a:cubicBezTo>
                      <a:cubicBezTo>
                        <a:pt x="197" y="66"/>
                        <a:pt x="197" y="67"/>
                        <a:pt x="197" y="68"/>
                      </a:cubicBezTo>
                      <a:lnTo>
                        <a:pt x="197" y="87"/>
                      </a:lnTo>
                      <a:close/>
                      <a:moveTo>
                        <a:pt x="143" y="114"/>
                      </a:moveTo>
                      <a:cubicBezTo>
                        <a:pt x="143" y="128"/>
                        <a:pt x="131" y="140"/>
                        <a:pt x="117" y="140"/>
                      </a:cubicBezTo>
                      <a:cubicBezTo>
                        <a:pt x="102" y="140"/>
                        <a:pt x="91" y="128"/>
                        <a:pt x="91" y="114"/>
                      </a:cubicBezTo>
                      <a:cubicBezTo>
                        <a:pt x="91" y="99"/>
                        <a:pt x="102" y="87"/>
                        <a:pt x="117" y="87"/>
                      </a:cubicBezTo>
                      <a:cubicBezTo>
                        <a:pt x="131" y="87"/>
                        <a:pt x="143" y="99"/>
                        <a:pt x="143" y="11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034"/>
                  <a:endParaRPr lang="en-US" sz="1999" kern="0" dirty="0">
                    <a:solidFill>
                      <a:srgbClr val="666666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</a:endParaRPr>
                </a:p>
              </p:txBody>
            </p:sp>
            <p:sp>
              <p:nvSpPr>
                <p:cNvPr id="293" name="椭圆 292">
                  <a:extLst>
                    <a:ext uri="{FF2B5EF4-FFF2-40B4-BE49-F238E27FC236}">
                      <a16:creationId xmlns:a16="http://schemas.microsoft.com/office/drawing/2014/main" id="{C9F1CEB4-7C57-43BB-8A34-8AF363BBA0D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62665" y="2685083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C25C62EE-05F6-4769-A1F7-12BD17D2FA82}"/>
                </a:ext>
              </a:extLst>
            </p:cNvPr>
            <p:cNvGrpSpPr/>
            <p:nvPr/>
          </p:nvGrpSpPr>
          <p:grpSpPr>
            <a:xfrm>
              <a:off x="730495" y="5205182"/>
              <a:ext cx="3908102" cy="731520"/>
              <a:chOff x="730495" y="5205182"/>
              <a:chExt cx="3908102" cy="731520"/>
            </a:xfrm>
          </p:grpSpPr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3208799F-3A2E-4CB9-8008-FA5A7EFDB00C}"/>
                  </a:ext>
                </a:extLst>
              </p:cNvPr>
              <p:cNvSpPr/>
              <p:nvPr/>
            </p:nvSpPr>
            <p:spPr>
              <a:xfrm>
                <a:off x="730495" y="5205182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行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：出行需求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Wingdings" panose="05000000000000000000" pitchFamily="2" charset="2"/>
                  </a:rPr>
                  <a:t>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70%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，碳排放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Wingdings" panose="05000000000000000000" pitchFamily="2" charset="2"/>
                  </a:rPr>
                  <a:t>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75%</a:t>
                </a:r>
              </a:p>
              <a:p>
                <a:pPr algn="ctr" defTabSz="913623">
                  <a:spcAft>
                    <a:spcPts val="900"/>
                  </a:spcAft>
                </a:pP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智能低碳出行，开启移动第三空间</a:t>
                </a:r>
              </a:p>
            </p:txBody>
          </p:sp>
          <p:grpSp>
            <p:nvGrpSpPr>
              <p:cNvPr id="294" name="组合 293">
                <a:extLst>
                  <a:ext uri="{FF2B5EF4-FFF2-40B4-BE49-F238E27FC236}">
                    <a16:creationId xmlns:a16="http://schemas.microsoft.com/office/drawing/2014/main" id="{D4347135-E987-47EB-8581-C7B1615CE089}"/>
                  </a:ext>
                </a:extLst>
              </p:cNvPr>
              <p:cNvGrpSpPr/>
              <p:nvPr/>
            </p:nvGrpSpPr>
            <p:grpSpPr>
              <a:xfrm>
                <a:off x="4089957" y="5296622"/>
                <a:ext cx="548640" cy="548640"/>
                <a:chOff x="4694035" y="5465629"/>
                <a:chExt cx="548640" cy="548640"/>
              </a:xfrm>
            </p:grpSpPr>
            <p:grpSp>
              <p:nvGrpSpPr>
                <p:cNvPr id="295" name="组合 294">
                  <a:extLst>
                    <a:ext uri="{FF2B5EF4-FFF2-40B4-BE49-F238E27FC236}">
                      <a16:creationId xmlns:a16="http://schemas.microsoft.com/office/drawing/2014/main" id="{918FA617-DA96-4B9A-AE1F-E7DA1B527EE2}"/>
                    </a:ext>
                  </a:extLst>
                </p:cNvPr>
                <p:cNvGrpSpPr/>
                <p:nvPr/>
              </p:nvGrpSpPr>
              <p:grpSpPr>
                <a:xfrm>
                  <a:off x="4778475" y="5619682"/>
                  <a:ext cx="379761" cy="240535"/>
                  <a:chOff x="4396254" y="5652103"/>
                  <a:chExt cx="685967" cy="434482"/>
                </a:xfrm>
                <a:solidFill>
                  <a:srgbClr val="808080"/>
                </a:solidFill>
              </p:grpSpPr>
              <p:sp>
                <p:nvSpPr>
                  <p:cNvPr id="297" name="Freeform 48">
                    <a:extLst>
                      <a:ext uri="{FF2B5EF4-FFF2-40B4-BE49-F238E27FC236}">
                        <a16:creationId xmlns:a16="http://schemas.microsoft.com/office/drawing/2014/main" id="{C2D60215-5E06-4AF5-B2A6-A07A5532F6C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03352" y="6008415"/>
                    <a:ext cx="46306" cy="47720"/>
                  </a:xfrm>
                  <a:custGeom>
                    <a:avLst/>
                    <a:gdLst>
                      <a:gd name="T0" fmla="*/ 119 w 43"/>
                      <a:gd name="T1" fmla="*/ 0 h 44"/>
                      <a:gd name="T2" fmla="*/ 0 w 43"/>
                      <a:gd name="T3" fmla="*/ 126 h 44"/>
                      <a:gd name="T4" fmla="*/ 119 w 43"/>
                      <a:gd name="T5" fmla="*/ 251 h 44"/>
                      <a:gd name="T6" fmla="*/ 242 w 43"/>
                      <a:gd name="T7" fmla="*/ 126 h 44"/>
                      <a:gd name="T8" fmla="*/ 119 w 43"/>
                      <a:gd name="T9" fmla="*/ 0 h 44"/>
                      <a:gd name="T10" fmla="*/ 119 w 43"/>
                      <a:gd name="T11" fmla="*/ 210 h 44"/>
                      <a:gd name="T12" fmla="*/ 40 w 43"/>
                      <a:gd name="T13" fmla="*/ 126 h 44"/>
                      <a:gd name="T14" fmla="*/ 119 w 43"/>
                      <a:gd name="T15" fmla="*/ 41 h 44"/>
                      <a:gd name="T16" fmla="*/ 202 w 43"/>
                      <a:gd name="T17" fmla="*/ 126 h 44"/>
                      <a:gd name="T18" fmla="*/ 119 w 43"/>
                      <a:gd name="T19" fmla="*/ 210 h 4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3" h="44">
                        <a:moveTo>
                          <a:pt x="21" y="0"/>
                        </a:moveTo>
                        <a:cubicBezTo>
                          <a:pt x="9" y="0"/>
                          <a:pt x="0" y="10"/>
                          <a:pt x="0" y="22"/>
                        </a:cubicBezTo>
                        <a:cubicBezTo>
                          <a:pt x="0" y="34"/>
                          <a:pt x="9" y="44"/>
                          <a:pt x="21" y="44"/>
                        </a:cubicBezTo>
                        <a:cubicBezTo>
                          <a:pt x="33" y="44"/>
                          <a:pt x="43" y="34"/>
                          <a:pt x="43" y="22"/>
                        </a:cubicBezTo>
                        <a:cubicBezTo>
                          <a:pt x="43" y="10"/>
                          <a:pt x="33" y="0"/>
                          <a:pt x="21" y="0"/>
                        </a:cubicBezTo>
                        <a:close/>
                        <a:moveTo>
                          <a:pt x="21" y="37"/>
                        </a:moveTo>
                        <a:cubicBezTo>
                          <a:pt x="13" y="37"/>
                          <a:pt x="7" y="30"/>
                          <a:pt x="7" y="22"/>
                        </a:cubicBezTo>
                        <a:cubicBezTo>
                          <a:pt x="7" y="14"/>
                          <a:pt x="13" y="7"/>
                          <a:pt x="21" y="7"/>
                        </a:cubicBezTo>
                        <a:cubicBezTo>
                          <a:pt x="29" y="7"/>
                          <a:pt x="36" y="14"/>
                          <a:pt x="36" y="22"/>
                        </a:cubicBezTo>
                        <a:cubicBezTo>
                          <a:pt x="36" y="30"/>
                          <a:pt x="29" y="37"/>
                          <a:pt x="21" y="37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04" tIns="45702" rIns="91404" bIns="45702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112"/>
                    <a:endParaRPr lang="zh-CN" altLang="en-US" sz="1799">
                      <a:solidFill>
                        <a:srgbClr val="1D1D1A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98" name="Freeform 49">
                    <a:extLst>
                      <a:ext uri="{FF2B5EF4-FFF2-40B4-BE49-F238E27FC236}">
                        <a16:creationId xmlns:a16="http://schemas.microsoft.com/office/drawing/2014/main" id="{805E04B1-927D-4A70-883A-4412BD2193D4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509296" y="6008415"/>
                    <a:ext cx="46306" cy="47720"/>
                  </a:xfrm>
                  <a:custGeom>
                    <a:avLst/>
                    <a:gdLst>
                      <a:gd name="T0" fmla="*/ 123 w 43"/>
                      <a:gd name="T1" fmla="*/ 0 h 44"/>
                      <a:gd name="T2" fmla="*/ 0 w 43"/>
                      <a:gd name="T3" fmla="*/ 126 h 44"/>
                      <a:gd name="T4" fmla="*/ 123 w 43"/>
                      <a:gd name="T5" fmla="*/ 251 h 44"/>
                      <a:gd name="T6" fmla="*/ 242 w 43"/>
                      <a:gd name="T7" fmla="*/ 126 h 44"/>
                      <a:gd name="T8" fmla="*/ 123 w 43"/>
                      <a:gd name="T9" fmla="*/ 0 h 44"/>
                      <a:gd name="T10" fmla="*/ 123 w 43"/>
                      <a:gd name="T11" fmla="*/ 210 h 44"/>
                      <a:gd name="T12" fmla="*/ 40 w 43"/>
                      <a:gd name="T13" fmla="*/ 126 h 44"/>
                      <a:gd name="T14" fmla="*/ 123 w 43"/>
                      <a:gd name="T15" fmla="*/ 41 h 44"/>
                      <a:gd name="T16" fmla="*/ 202 w 43"/>
                      <a:gd name="T17" fmla="*/ 126 h 44"/>
                      <a:gd name="T18" fmla="*/ 123 w 43"/>
                      <a:gd name="T19" fmla="*/ 210 h 4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43" h="44">
                        <a:moveTo>
                          <a:pt x="22" y="0"/>
                        </a:moveTo>
                        <a:cubicBezTo>
                          <a:pt x="10" y="0"/>
                          <a:pt x="0" y="10"/>
                          <a:pt x="0" y="22"/>
                        </a:cubicBezTo>
                        <a:cubicBezTo>
                          <a:pt x="0" y="34"/>
                          <a:pt x="10" y="44"/>
                          <a:pt x="22" y="44"/>
                        </a:cubicBezTo>
                        <a:cubicBezTo>
                          <a:pt x="34" y="44"/>
                          <a:pt x="43" y="34"/>
                          <a:pt x="43" y="22"/>
                        </a:cubicBezTo>
                        <a:cubicBezTo>
                          <a:pt x="43" y="10"/>
                          <a:pt x="34" y="0"/>
                          <a:pt x="22" y="0"/>
                        </a:cubicBezTo>
                        <a:close/>
                        <a:moveTo>
                          <a:pt x="22" y="37"/>
                        </a:moveTo>
                        <a:cubicBezTo>
                          <a:pt x="14" y="37"/>
                          <a:pt x="7" y="30"/>
                          <a:pt x="7" y="22"/>
                        </a:cubicBezTo>
                        <a:cubicBezTo>
                          <a:pt x="7" y="14"/>
                          <a:pt x="14" y="7"/>
                          <a:pt x="22" y="7"/>
                        </a:cubicBezTo>
                        <a:cubicBezTo>
                          <a:pt x="30" y="7"/>
                          <a:pt x="36" y="14"/>
                          <a:pt x="36" y="22"/>
                        </a:cubicBezTo>
                        <a:cubicBezTo>
                          <a:pt x="36" y="30"/>
                          <a:pt x="30" y="37"/>
                          <a:pt x="22" y="37"/>
                        </a:cubicBez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04" tIns="45702" rIns="91404" bIns="45702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112"/>
                    <a:endParaRPr lang="zh-CN" altLang="en-US" sz="1799">
                      <a:solidFill>
                        <a:srgbClr val="1D1D1A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299" name="Freeform 50">
                    <a:extLst>
                      <a:ext uri="{FF2B5EF4-FFF2-40B4-BE49-F238E27FC236}">
                        <a16:creationId xmlns:a16="http://schemas.microsoft.com/office/drawing/2014/main" id="{C7F5777C-02DC-44A5-9825-B37B833AE59C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940125" y="5693915"/>
                    <a:ext cx="47214" cy="97259"/>
                  </a:xfrm>
                  <a:custGeom>
                    <a:avLst/>
                    <a:gdLst>
                      <a:gd name="T0" fmla="*/ 225 w 44"/>
                      <a:gd name="T1" fmla="*/ 147 h 90"/>
                      <a:gd name="T2" fmla="*/ 118 w 44"/>
                      <a:gd name="T3" fmla="*/ 176 h 90"/>
                      <a:gd name="T4" fmla="*/ 135 w 44"/>
                      <a:gd name="T5" fmla="*/ 17 h 90"/>
                      <a:gd name="T6" fmla="*/ 118 w 44"/>
                      <a:gd name="T7" fmla="*/ 0 h 90"/>
                      <a:gd name="T8" fmla="*/ 102 w 44"/>
                      <a:gd name="T9" fmla="*/ 12 h 90"/>
                      <a:gd name="T10" fmla="*/ 5 w 44"/>
                      <a:gd name="T11" fmla="*/ 259 h 90"/>
                      <a:gd name="T12" fmla="*/ 5 w 44"/>
                      <a:gd name="T13" fmla="*/ 278 h 90"/>
                      <a:gd name="T14" fmla="*/ 21 w 44"/>
                      <a:gd name="T15" fmla="*/ 278 h 90"/>
                      <a:gd name="T16" fmla="*/ 123 w 44"/>
                      <a:gd name="T17" fmla="*/ 254 h 90"/>
                      <a:gd name="T18" fmla="*/ 66 w 44"/>
                      <a:gd name="T19" fmla="*/ 492 h 90"/>
                      <a:gd name="T20" fmla="*/ 78 w 44"/>
                      <a:gd name="T21" fmla="*/ 509 h 90"/>
                      <a:gd name="T22" fmla="*/ 83 w 44"/>
                      <a:gd name="T23" fmla="*/ 509 h 90"/>
                      <a:gd name="T24" fmla="*/ 95 w 44"/>
                      <a:gd name="T25" fmla="*/ 497 h 90"/>
                      <a:gd name="T26" fmla="*/ 246 w 44"/>
                      <a:gd name="T27" fmla="*/ 169 h 90"/>
                      <a:gd name="T28" fmla="*/ 241 w 44"/>
                      <a:gd name="T29" fmla="*/ 152 h 90"/>
                      <a:gd name="T30" fmla="*/ 225 w 44"/>
                      <a:gd name="T31" fmla="*/ 147 h 90"/>
                      <a:gd name="T32" fmla="*/ 144 w 44"/>
                      <a:gd name="T33" fmla="*/ 316 h 90"/>
                      <a:gd name="T34" fmla="*/ 163 w 44"/>
                      <a:gd name="T35" fmla="*/ 238 h 90"/>
                      <a:gd name="T36" fmla="*/ 156 w 44"/>
                      <a:gd name="T37" fmla="*/ 221 h 90"/>
                      <a:gd name="T38" fmla="*/ 144 w 44"/>
                      <a:gd name="T39" fmla="*/ 214 h 90"/>
                      <a:gd name="T40" fmla="*/ 144 w 44"/>
                      <a:gd name="T41" fmla="*/ 214 h 90"/>
                      <a:gd name="T42" fmla="*/ 45 w 44"/>
                      <a:gd name="T43" fmla="*/ 238 h 90"/>
                      <a:gd name="T44" fmla="*/ 90 w 44"/>
                      <a:gd name="T45" fmla="*/ 131 h 90"/>
                      <a:gd name="T46" fmla="*/ 83 w 44"/>
                      <a:gd name="T47" fmla="*/ 197 h 90"/>
                      <a:gd name="T48" fmla="*/ 90 w 44"/>
                      <a:gd name="T49" fmla="*/ 209 h 90"/>
                      <a:gd name="T50" fmla="*/ 102 w 44"/>
                      <a:gd name="T51" fmla="*/ 214 h 90"/>
                      <a:gd name="T52" fmla="*/ 201 w 44"/>
                      <a:gd name="T53" fmla="*/ 193 h 90"/>
                      <a:gd name="T54" fmla="*/ 144 w 44"/>
                      <a:gd name="T55" fmla="*/ 316 h 90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44" h="90">
                        <a:moveTo>
                          <a:pt x="40" y="26"/>
                        </a:moveTo>
                        <a:cubicBezTo>
                          <a:pt x="21" y="31"/>
                          <a:pt x="21" y="31"/>
                          <a:pt x="21" y="31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24" y="2"/>
                          <a:pt x="23" y="1"/>
                          <a:pt x="21" y="0"/>
                        </a:cubicBezTo>
                        <a:cubicBezTo>
                          <a:pt x="20" y="0"/>
                          <a:pt x="18" y="1"/>
                          <a:pt x="18" y="2"/>
                        </a:cubicBezTo>
                        <a:cubicBezTo>
                          <a:pt x="1" y="46"/>
                          <a:pt x="1" y="46"/>
                          <a:pt x="1" y="46"/>
                        </a:cubicBezTo>
                        <a:cubicBezTo>
                          <a:pt x="0" y="47"/>
                          <a:pt x="0" y="48"/>
                          <a:pt x="1" y="49"/>
                        </a:cubicBezTo>
                        <a:cubicBezTo>
                          <a:pt x="2" y="49"/>
                          <a:pt x="3" y="50"/>
                          <a:pt x="4" y="49"/>
                        </a:cubicBezTo>
                        <a:cubicBezTo>
                          <a:pt x="22" y="45"/>
                          <a:pt x="22" y="45"/>
                          <a:pt x="22" y="45"/>
                        </a:cubicBezTo>
                        <a:cubicBezTo>
                          <a:pt x="12" y="87"/>
                          <a:pt x="12" y="87"/>
                          <a:pt x="12" y="87"/>
                        </a:cubicBezTo>
                        <a:cubicBezTo>
                          <a:pt x="12" y="88"/>
                          <a:pt x="12" y="90"/>
                          <a:pt x="14" y="90"/>
                        </a:cubicBezTo>
                        <a:cubicBezTo>
                          <a:pt x="14" y="90"/>
                          <a:pt x="15" y="90"/>
                          <a:pt x="15" y="90"/>
                        </a:cubicBezTo>
                        <a:cubicBezTo>
                          <a:pt x="16" y="90"/>
                          <a:pt x="17" y="90"/>
                          <a:pt x="17" y="88"/>
                        </a:cubicBezTo>
                        <a:cubicBezTo>
                          <a:pt x="44" y="30"/>
                          <a:pt x="44" y="30"/>
                          <a:pt x="44" y="30"/>
                        </a:cubicBezTo>
                        <a:cubicBezTo>
                          <a:pt x="44" y="29"/>
                          <a:pt x="44" y="28"/>
                          <a:pt x="43" y="27"/>
                        </a:cubicBezTo>
                        <a:cubicBezTo>
                          <a:pt x="42" y="27"/>
                          <a:pt x="41" y="26"/>
                          <a:pt x="40" y="26"/>
                        </a:cubicBezTo>
                        <a:close/>
                        <a:moveTo>
                          <a:pt x="26" y="56"/>
                        </a:moveTo>
                        <a:cubicBezTo>
                          <a:pt x="29" y="42"/>
                          <a:pt x="29" y="42"/>
                          <a:pt x="29" y="42"/>
                        </a:cubicBezTo>
                        <a:cubicBezTo>
                          <a:pt x="29" y="41"/>
                          <a:pt x="29" y="40"/>
                          <a:pt x="28" y="39"/>
                        </a:cubicBezTo>
                        <a:cubicBezTo>
                          <a:pt x="28" y="38"/>
                          <a:pt x="27" y="38"/>
                          <a:pt x="26" y="38"/>
                        </a:cubicBezTo>
                        <a:cubicBezTo>
                          <a:pt x="26" y="38"/>
                          <a:pt x="26" y="38"/>
                          <a:pt x="26" y="38"/>
                        </a:cubicBezTo>
                        <a:cubicBezTo>
                          <a:pt x="8" y="42"/>
                          <a:pt x="8" y="42"/>
                          <a:pt x="8" y="42"/>
                        </a:cubicBezTo>
                        <a:cubicBezTo>
                          <a:pt x="16" y="23"/>
                          <a:pt x="16" y="23"/>
                          <a:pt x="16" y="23"/>
                        </a:cubicBezTo>
                        <a:cubicBezTo>
                          <a:pt x="15" y="35"/>
                          <a:pt x="15" y="35"/>
                          <a:pt x="15" y="35"/>
                        </a:cubicBezTo>
                        <a:cubicBezTo>
                          <a:pt x="15" y="36"/>
                          <a:pt x="15" y="37"/>
                          <a:pt x="16" y="37"/>
                        </a:cubicBezTo>
                        <a:cubicBezTo>
                          <a:pt x="17" y="38"/>
                          <a:pt x="18" y="38"/>
                          <a:pt x="18" y="38"/>
                        </a:cubicBezTo>
                        <a:cubicBezTo>
                          <a:pt x="36" y="34"/>
                          <a:pt x="36" y="34"/>
                          <a:pt x="36" y="34"/>
                        </a:cubicBezTo>
                        <a:lnTo>
                          <a:pt x="26" y="56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04" tIns="45702" rIns="91404" bIns="45702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112"/>
                    <a:endParaRPr lang="zh-CN" altLang="en-US" sz="1799">
                      <a:solidFill>
                        <a:srgbClr val="1D1D1A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300" name="Freeform 51">
                    <a:extLst>
                      <a:ext uri="{FF2B5EF4-FFF2-40B4-BE49-F238E27FC236}">
                        <a16:creationId xmlns:a16="http://schemas.microsoft.com/office/drawing/2014/main" id="{2C572AA3-94DD-4956-BF78-81959BF154F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396254" y="5652103"/>
                    <a:ext cx="685967" cy="434482"/>
                  </a:xfrm>
                  <a:custGeom>
                    <a:avLst/>
                    <a:gdLst>
                      <a:gd name="T0" fmla="*/ 3207 w 637"/>
                      <a:gd name="T1" fmla="*/ 521 h 402"/>
                      <a:gd name="T2" fmla="*/ 2695 w 637"/>
                      <a:gd name="T3" fmla="*/ 57 h 402"/>
                      <a:gd name="T4" fmla="*/ 2735 w 637"/>
                      <a:gd name="T5" fmla="*/ 1006 h 402"/>
                      <a:gd name="T6" fmla="*/ 3207 w 637"/>
                      <a:gd name="T7" fmla="*/ 887 h 402"/>
                      <a:gd name="T8" fmla="*/ 3539 w 637"/>
                      <a:gd name="T9" fmla="*/ 1222 h 402"/>
                      <a:gd name="T10" fmla="*/ 3421 w 637"/>
                      <a:gd name="T11" fmla="*/ 1346 h 402"/>
                      <a:gd name="T12" fmla="*/ 1722 w 637"/>
                      <a:gd name="T13" fmla="*/ 899 h 402"/>
                      <a:gd name="T14" fmla="*/ 95 w 637"/>
                      <a:gd name="T15" fmla="*/ 1551 h 402"/>
                      <a:gd name="T16" fmla="*/ 17 w 637"/>
                      <a:gd name="T17" fmla="*/ 2048 h 402"/>
                      <a:gd name="T18" fmla="*/ 434 w 637"/>
                      <a:gd name="T19" fmla="*/ 2059 h 402"/>
                      <a:gd name="T20" fmla="*/ 980 w 637"/>
                      <a:gd name="T21" fmla="*/ 2014 h 402"/>
                      <a:gd name="T22" fmla="*/ 1558 w 637"/>
                      <a:gd name="T23" fmla="*/ 2105 h 402"/>
                      <a:gd name="T24" fmla="*/ 1558 w 637"/>
                      <a:gd name="T25" fmla="*/ 2014 h 402"/>
                      <a:gd name="T26" fmla="*/ 2227 w 637"/>
                      <a:gd name="T27" fmla="*/ 2014 h 402"/>
                      <a:gd name="T28" fmla="*/ 1957 w 637"/>
                      <a:gd name="T29" fmla="*/ 2159 h 402"/>
                      <a:gd name="T30" fmla="*/ 2486 w 637"/>
                      <a:gd name="T31" fmla="*/ 2014 h 402"/>
                      <a:gd name="T32" fmla="*/ 3050 w 637"/>
                      <a:gd name="T33" fmla="*/ 2014 h 402"/>
                      <a:gd name="T34" fmla="*/ 3399 w 637"/>
                      <a:gd name="T35" fmla="*/ 2069 h 402"/>
                      <a:gd name="T36" fmla="*/ 3584 w 637"/>
                      <a:gd name="T37" fmla="*/ 1341 h 402"/>
                      <a:gd name="T38" fmla="*/ 3141 w 637"/>
                      <a:gd name="T39" fmla="*/ 870 h 402"/>
                      <a:gd name="T40" fmla="*/ 3167 w 637"/>
                      <a:gd name="T41" fmla="*/ 961 h 402"/>
                      <a:gd name="T42" fmla="*/ 2735 w 637"/>
                      <a:gd name="T43" fmla="*/ 916 h 402"/>
                      <a:gd name="T44" fmla="*/ 164 w 637"/>
                      <a:gd name="T45" fmla="*/ 1605 h 402"/>
                      <a:gd name="T46" fmla="*/ 157 w 637"/>
                      <a:gd name="T47" fmla="*/ 1629 h 402"/>
                      <a:gd name="T48" fmla="*/ 176 w 637"/>
                      <a:gd name="T49" fmla="*/ 1834 h 402"/>
                      <a:gd name="T50" fmla="*/ 344 w 637"/>
                      <a:gd name="T51" fmla="*/ 2014 h 402"/>
                      <a:gd name="T52" fmla="*/ 344 w 637"/>
                      <a:gd name="T53" fmla="*/ 1990 h 402"/>
                      <a:gd name="T54" fmla="*/ 906 w 637"/>
                      <a:gd name="T55" fmla="*/ 1990 h 402"/>
                      <a:gd name="T56" fmla="*/ 444 w 637"/>
                      <a:gd name="T57" fmla="*/ 1969 h 402"/>
                      <a:gd name="T58" fmla="*/ 980 w 637"/>
                      <a:gd name="T59" fmla="*/ 1969 h 402"/>
                      <a:gd name="T60" fmla="*/ 1079 w 637"/>
                      <a:gd name="T61" fmla="*/ 1945 h 402"/>
                      <a:gd name="T62" fmla="*/ 1075 w 637"/>
                      <a:gd name="T63" fmla="*/ 1900 h 402"/>
                      <a:gd name="T64" fmla="*/ 95 w 637"/>
                      <a:gd name="T65" fmla="*/ 1879 h 402"/>
                      <a:gd name="T66" fmla="*/ 102 w 637"/>
                      <a:gd name="T67" fmla="*/ 1765 h 402"/>
                      <a:gd name="T68" fmla="*/ 389 w 637"/>
                      <a:gd name="T69" fmla="*/ 1560 h 402"/>
                      <a:gd name="T70" fmla="*/ 1350 w 637"/>
                      <a:gd name="T71" fmla="*/ 1420 h 402"/>
                      <a:gd name="T72" fmla="*/ 1350 w 637"/>
                      <a:gd name="T73" fmla="*/ 1334 h 402"/>
                      <a:gd name="T74" fmla="*/ 1385 w 637"/>
                      <a:gd name="T75" fmla="*/ 1334 h 402"/>
                      <a:gd name="T76" fmla="*/ 2227 w 637"/>
                      <a:gd name="T77" fmla="*/ 1420 h 402"/>
                      <a:gd name="T78" fmla="*/ 1644 w 637"/>
                      <a:gd name="T79" fmla="*/ 1068 h 402"/>
                      <a:gd name="T80" fmla="*/ 2396 w 637"/>
                      <a:gd name="T81" fmla="*/ 2014 h 402"/>
                      <a:gd name="T82" fmla="*/ 2396 w 637"/>
                      <a:gd name="T83" fmla="*/ 1990 h 402"/>
                      <a:gd name="T84" fmla="*/ 2960 w 637"/>
                      <a:gd name="T85" fmla="*/ 1990 h 402"/>
                      <a:gd name="T86" fmla="*/ 2505 w 637"/>
                      <a:gd name="T87" fmla="*/ 1969 h 402"/>
                      <a:gd name="T88" fmla="*/ 3039 w 637"/>
                      <a:gd name="T89" fmla="*/ 1969 h 402"/>
                      <a:gd name="T90" fmla="*/ 3141 w 637"/>
                      <a:gd name="T91" fmla="*/ 1945 h 402"/>
                      <a:gd name="T92" fmla="*/ 3240 w 637"/>
                      <a:gd name="T93" fmla="*/ 1596 h 402"/>
                      <a:gd name="T94" fmla="*/ 3347 w 637"/>
                      <a:gd name="T95" fmla="*/ 1436 h 402"/>
                      <a:gd name="T96" fmla="*/ 2932 w 637"/>
                      <a:gd name="T97" fmla="*/ 1527 h 402"/>
                      <a:gd name="T98" fmla="*/ 3347 w 637"/>
                      <a:gd name="T99" fmla="*/ 1510 h 402"/>
                      <a:gd name="T100" fmla="*/ 3347 w 637"/>
                      <a:gd name="T101" fmla="*/ 1634 h 402"/>
                      <a:gd name="T102" fmla="*/ 2408 w 637"/>
                      <a:gd name="T103" fmla="*/ 1900 h 402"/>
                      <a:gd name="T104" fmla="*/ 2645 w 637"/>
                      <a:gd name="T105" fmla="*/ 1403 h 402"/>
                      <a:gd name="T106" fmla="*/ 3084 w 637"/>
                      <a:gd name="T107" fmla="*/ 1351 h 402"/>
                      <a:gd name="T108" fmla="*/ 2268 w 637"/>
                      <a:gd name="T109" fmla="*/ 1334 h 402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637" h="402">
                        <a:moveTo>
                          <a:pt x="636" y="216"/>
                        </a:moveTo>
                        <a:cubicBezTo>
                          <a:pt x="636" y="199"/>
                          <a:pt x="636" y="173"/>
                          <a:pt x="636" y="141"/>
                        </a:cubicBezTo>
                        <a:cubicBezTo>
                          <a:pt x="636" y="107"/>
                          <a:pt x="615" y="92"/>
                          <a:pt x="594" y="92"/>
                        </a:cubicBezTo>
                        <a:cubicBezTo>
                          <a:pt x="570" y="92"/>
                          <a:pt x="570" y="92"/>
                          <a:pt x="570" y="92"/>
                        </a:cubicBezTo>
                        <a:cubicBezTo>
                          <a:pt x="570" y="10"/>
                          <a:pt x="570" y="10"/>
                          <a:pt x="570" y="10"/>
                        </a:cubicBezTo>
                        <a:cubicBezTo>
                          <a:pt x="570" y="4"/>
                          <a:pt x="566" y="0"/>
                          <a:pt x="561" y="0"/>
                        </a:cubicBezTo>
                        <a:cubicBezTo>
                          <a:pt x="488" y="0"/>
                          <a:pt x="488" y="0"/>
                          <a:pt x="488" y="0"/>
                        </a:cubicBezTo>
                        <a:cubicBezTo>
                          <a:pt x="483" y="0"/>
                          <a:pt x="479" y="4"/>
                          <a:pt x="479" y="10"/>
                        </a:cubicBezTo>
                        <a:cubicBezTo>
                          <a:pt x="479" y="157"/>
                          <a:pt x="479" y="157"/>
                          <a:pt x="479" y="157"/>
                        </a:cubicBezTo>
                        <a:cubicBezTo>
                          <a:pt x="476" y="159"/>
                          <a:pt x="475" y="162"/>
                          <a:pt x="475" y="166"/>
                        </a:cubicBezTo>
                        <a:cubicBezTo>
                          <a:pt x="475" y="167"/>
                          <a:pt x="475" y="167"/>
                          <a:pt x="475" y="167"/>
                        </a:cubicBezTo>
                        <a:cubicBezTo>
                          <a:pt x="475" y="173"/>
                          <a:pt x="480" y="178"/>
                          <a:pt x="486" y="178"/>
                        </a:cubicBezTo>
                        <a:cubicBezTo>
                          <a:pt x="563" y="178"/>
                          <a:pt x="563" y="178"/>
                          <a:pt x="563" y="178"/>
                        </a:cubicBezTo>
                        <a:cubicBezTo>
                          <a:pt x="569" y="178"/>
                          <a:pt x="574" y="173"/>
                          <a:pt x="574" y="167"/>
                        </a:cubicBezTo>
                        <a:cubicBezTo>
                          <a:pt x="574" y="166"/>
                          <a:pt x="574" y="166"/>
                          <a:pt x="574" y="166"/>
                        </a:cubicBezTo>
                        <a:cubicBezTo>
                          <a:pt x="574" y="162"/>
                          <a:pt x="573" y="159"/>
                          <a:pt x="570" y="157"/>
                        </a:cubicBezTo>
                        <a:cubicBezTo>
                          <a:pt x="570" y="100"/>
                          <a:pt x="570" y="100"/>
                          <a:pt x="570" y="100"/>
                        </a:cubicBezTo>
                        <a:cubicBezTo>
                          <a:pt x="594" y="100"/>
                          <a:pt x="594" y="100"/>
                          <a:pt x="594" y="100"/>
                        </a:cubicBezTo>
                        <a:cubicBezTo>
                          <a:pt x="610" y="100"/>
                          <a:pt x="628" y="110"/>
                          <a:pt x="628" y="141"/>
                        </a:cubicBezTo>
                        <a:cubicBezTo>
                          <a:pt x="628" y="173"/>
                          <a:pt x="629" y="199"/>
                          <a:pt x="629" y="216"/>
                        </a:cubicBezTo>
                        <a:cubicBezTo>
                          <a:pt x="629" y="225"/>
                          <a:pt x="629" y="232"/>
                          <a:pt x="629" y="237"/>
                        </a:cubicBezTo>
                        <a:cubicBezTo>
                          <a:pt x="629" y="247"/>
                          <a:pt x="618" y="254"/>
                          <a:pt x="610" y="254"/>
                        </a:cubicBezTo>
                        <a:cubicBezTo>
                          <a:pt x="610" y="243"/>
                          <a:pt x="610" y="243"/>
                          <a:pt x="610" y="243"/>
                        </a:cubicBezTo>
                        <a:cubicBezTo>
                          <a:pt x="610" y="241"/>
                          <a:pt x="610" y="239"/>
                          <a:pt x="608" y="238"/>
                        </a:cubicBezTo>
                        <a:cubicBezTo>
                          <a:pt x="597" y="226"/>
                          <a:pt x="597" y="226"/>
                          <a:pt x="597" y="226"/>
                        </a:cubicBezTo>
                        <a:cubicBezTo>
                          <a:pt x="595" y="224"/>
                          <a:pt x="593" y="223"/>
                          <a:pt x="591" y="223"/>
                        </a:cubicBezTo>
                        <a:cubicBezTo>
                          <a:pt x="550" y="223"/>
                          <a:pt x="550" y="223"/>
                          <a:pt x="550" y="223"/>
                        </a:cubicBezTo>
                        <a:cubicBezTo>
                          <a:pt x="445" y="169"/>
                          <a:pt x="393" y="152"/>
                          <a:pt x="306" y="159"/>
                        </a:cubicBezTo>
                        <a:cubicBezTo>
                          <a:pt x="253" y="164"/>
                          <a:pt x="202" y="202"/>
                          <a:pt x="175" y="223"/>
                        </a:cubicBezTo>
                        <a:cubicBezTo>
                          <a:pt x="174" y="223"/>
                          <a:pt x="174" y="223"/>
                          <a:pt x="174" y="223"/>
                        </a:cubicBezTo>
                        <a:cubicBezTo>
                          <a:pt x="156" y="223"/>
                          <a:pt x="156" y="223"/>
                          <a:pt x="156" y="223"/>
                        </a:cubicBezTo>
                        <a:cubicBezTo>
                          <a:pt x="85" y="223"/>
                          <a:pt x="41" y="251"/>
                          <a:pt x="17" y="274"/>
                        </a:cubicBezTo>
                        <a:cubicBezTo>
                          <a:pt x="16" y="274"/>
                          <a:pt x="15" y="275"/>
                          <a:pt x="15" y="277"/>
                        </a:cubicBezTo>
                        <a:cubicBezTo>
                          <a:pt x="0" y="313"/>
                          <a:pt x="0" y="313"/>
                          <a:pt x="0" y="313"/>
                        </a:cubicBezTo>
                        <a:cubicBezTo>
                          <a:pt x="0" y="314"/>
                          <a:pt x="0" y="315"/>
                          <a:pt x="0" y="316"/>
                        </a:cubicBezTo>
                        <a:cubicBezTo>
                          <a:pt x="3" y="362"/>
                          <a:pt x="3" y="362"/>
                          <a:pt x="3" y="362"/>
                        </a:cubicBezTo>
                        <a:cubicBezTo>
                          <a:pt x="3" y="364"/>
                          <a:pt x="3" y="364"/>
                          <a:pt x="3" y="364"/>
                        </a:cubicBezTo>
                        <a:cubicBezTo>
                          <a:pt x="3" y="369"/>
                          <a:pt x="6" y="372"/>
                          <a:pt x="11" y="372"/>
                        </a:cubicBezTo>
                        <a:cubicBezTo>
                          <a:pt x="69" y="372"/>
                          <a:pt x="69" y="372"/>
                          <a:pt x="69" y="372"/>
                        </a:cubicBezTo>
                        <a:cubicBezTo>
                          <a:pt x="73" y="372"/>
                          <a:pt x="77" y="369"/>
                          <a:pt x="77" y="364"/>
                        </a:cubicBezTo>
                        <a:cubicBezTo>
                          <a:pt x="77" y="356"/>
                          <a:pt x="77" y="356"/>
                          <a:pt x="77" y="356"/>
                        </a:cubicBezTo>
                        <a:cubicBezTo>
                          <a:pt x="79" y="356"/>
                          <a:pt x="79" y="356"/>
                          <a:pt x="79" y="356"/>
                        </a:cubicBezTo>
                        <a:cubicBezTo>
                          <a:pt x="81" y="381"/>
                          <a:pt x="102" y="402"/>
                          <a:pt x="127" y="402"/>
                        </a:cubicBezTo>
                        <a:cubicBezTo>
                          <a:pt x="152" y="402"/>
                          <a:pt x="173" y="381"/>
                          <a:pt x="174" y="356"/>
                        </a:cubicBezTo>
                        <a:cubicBezTo>
                          <a:pt x="177" y="356"/>
                          <a:pt x="177" y="356"/>
                          <a:pt x="177" y="356"/>
                        </a:cubicBezTo>
                        <a:cubicBezTo>
                          <a:pt x="177" y="364"/>
                          <a:pt x="177" y="364"/>
                          <a:pt x="177" y="364"/>
                        </a:cubicBezTo>
                        <a:cubicBezTo>
                          <a:pt x="177" y="369"/>
                          <a:pt x="180" y="372"/>
                          <a:pt x="185" y="372"/>
                        </a:cubicBezTo>
                        <a:cubicBezTo>
                          <a:pt x="277" y="372"/>
                          <a:pt x="277" y="372"/>
                          <a:pt x="277" y="372"/>
                        </a:cubicBezTo>
                        <a:cubicBezTo>
                          <a:pt x="280" y="378"/>
                          <a:pt x="286" y="382"/>
                          <a:pt x="293" y="382"/>
                        </a:cubicBezTo>
                        <a:cubicBezTo>
                          <a:pt x="303" y="382"/>
                          <a:pt x="311" y="374"/>
                          <a:pt x="311" y="364"/>
                        </a:cubicBezTo>
                        <a:cubicBezTo>
                          <a:pt x="311" y="354"/>
                          <a:pt x="303" y="346"/>
                          <a:pt x="293" y="346"/>
                        </a:cubicBezTo>
                        <a:cubicBezTo>
                          <a:pt x="286" y="346"/>
                          <a:pt x="280" y="350"/>
                          <a:pt x="277" y="356"/>
                        </a:cubicBezTo>
                        <a:cubicBezTo>
                          <a:pt x="252" y="356"/>
                          <a:pt x="252" y="356"/>
                          <a:pt x="252" y="356"/>
                        </a:cubicBezTo>
                        <a:cubicBezTo>
                          <a:pt x="252" y="344"/>
                          <a:pt x="252" y="344"/>
                          <a:pt x="252" y="344"/>
                        </a:cubicBezTo>
                        <a:cubicBezTo>
                          <a:pt x="396" y="344"/>
                          <a:pt x="396" y="344"/>
                          <a:pt x="396" y="344"/>
                        </a:cubicBezTo>
                        <a:cubicBezTo>
                          <a:pt x="396" y="356"/>
                          <a:pt x="396" y="356"/>
                          <a:pt x="396" y="356"/>
                        </a:cubicBezTo>
                        <a:cubicBezTo>
                          <a:pt x="363" y="356"/>
                          <a:pt x="363" y="356"/>
                          <a:pt x="363" y="356"/>
                        </a:cubicBezTo>
                        <a:cubicBezTo>
                          <a:pt x="360" y="350"/>
                          <a:pt x="354" y="346"/>
                          <a:pt x="348" y="346"/>
                        </a:cubicBezTo>
                        <a:cubicBezTo>
                          <a:pt x="338" y="346"/>
                          <a:pt x="329" y="354"/>
                          <a:pt x="329" y="364"/>
                        </a:cubicBezTo>
                        <a:cubicBezTo>
                          <a:pt x="329" y="374"/>
                          <a:pt x="338" y="382"/>
                          <a:pt x="348" y="382"/>
                        </a:cubicBezTo>
                        <a:cubicBezTo>
                          <a:pt x="355" y="382"/>
                          <a:pt x="361" y="378"/>
                          <a:pt x="364" y="372"/>
                        </a:cubicBezTo>
                        <a:cubicBezTo>
                          <a:pt x="434" y="372"/>
                          <a:pt x="434" y="372"/>
                          <a:pt x="434" y="372"/>
                        </a:cubicBezTo>
                        <a:cubicBezTo>
                          <a:pt x="439" y="372"/>
                          <a:pt x="442" y="369"/>
                          <a:pt x="442" y="364"/>
                        </a:cubicBezTo>
                        <a:cubicBezTo>
                          <a:pt x="442" y="356"/>
                          <a:pt x="442" y="356"/>
                          <a:pt x="442" y="356"/>
                        </a:cubicBezTo>
                        <a:cubicBezTo>
                          <a:pt x="445" y="356"/>
                          <a:pt x="445" y="356"/>
                          <a:pt x="445" y="356"/>
                        </a:cubicBezTo>
                        <a:cubicBezTo>
                          <a:pt x="446" y="381"/>
                          <a:pt x="467" y="402"/>
                          <a:pt x="492" y="402"/>
                        </a:cubicBezTo>
                        <a:cubicBezTo>
                          <a:pt x="517" y="402"/>
                          <a:pt x="538" y="381"/>
                          <a:pt x="540" y="356"/>
                        </a:cubicBezTo>
                        <a:cubicBezTo>
                          <a:pt x="542" y="356"/>
                          <a:pt x="542" y="356"/>
                          <a:pt x="542" y="356"/>
                        </a:cubicBezTo>
                        <a:cubicBezTo>
                          <a:pt x="542" y="364"/>
                          <a:pt x="542" y="364"/>
                          <a:pt x="542" y="364"/>
                        </a:cubicBezTo>
                        <a:cubicBezTo>
                          <a:pt x="542" y="369"/>
                          <a:pt x="546" y="372"/>
                          <a:pt x="550" y="372"/>
                        </a:cubicBezTo>
                        <a:cubicBezTo>
                          <a:pt x="597" y="372"/>
                          <a:pt x="597" y="372"/>
                          <a:pt x="597" y="372"/>
                        </a:cubicBezTo>
                        <a:cubicBezTo>
                          <a:pt x="600" y="372"/>
                          <a:pt x="604" y="370"/>
                          <a:pt x="604" y="366"/>
                        </a:cubicBezTo>
                        <a:cubicBezTo>
                          <a:pt x="610" y="342"/>
                          <a:pt x="610" y="342"/>
                          <a:pt x="610" y="342"/>
                        </a:cubicBezTo>
                        <a:cubicBezTo>
                          <a:pt x="610" y="341"/>
                          <a:pt x="610" y="341"/>
                          <a:pt x="610" y="340"/>
                        </a:cubicBezTo>
                        <a:cubicBezTo>
                          <a:pt x="610" y="262"/>
                          <a:pt x="610" y="262"/>
                          <a:pt x="610" y="262"/>
                        </a:cubicBezTo>
                        <a:cubicBezTo>
                          <a:pt x="621" y="261"/>
                          <a:pt x="637" y="251"/>
                          <a:pt x="637" y="237"/>
                        </a:cubicBezTo>
                        <a:cubicBezTo>
                          <a:pt x="637" y="232"/>
                          <a:pt x="637" y="225"/>
                          <a:pt x="636" y="216"/>
                        </a:cubicBezTo>
                        <a:close/>
                        <a:moveTo>
                          <a:pt x="490" y="12"/>
                        </a:moveTo>
                        <a:cubicBezTo>
                          <a:pt x="558" y="12"/>
                          <a:pt x="558" y="12"/>
                          <a:pt x="558" y="12"/>
                        </a:cubicBezTo>
                        <a:cubicBezTo>
                          <a:pt x="558" y="154"/>
                          <a:pt x="558" y="154"/>
                          <a:pt x="558" y="154"/>
                        </a:cubicBezTo>
                        <a:cubicBezTo>
                          <a:pt x="490" y="154"/>
                          <a:pt x="490" y="154"/>
                          <a:pt x="490" y="154"/>
                        </a:cubicBezTo>
                        <a:lnTo>
                          <a:pt x="490" y="12"/>
                        </a:lnTo>
                        <a:close/>
                        <a:moveTo>
                          <a:pt x="567" y="167"/>
                        </a:moveTo>
                        <a:cubicBezTo>
                          <a:pt x="567" y="169"/>
                          <a:pt x="565" y="170"/>
                          <a:pt x="563" y="170"/>
                        </a:cubicBezTo>
                        <a:cubicBezTo>
                          <a:pt x="486" y="170"/>
                          <a:pt x="486" y="170"/>
                          <a:pt x="486" y="170"/>
                        </a:cubicBezTo>
                        <a:cubicBezTo>
                          <a:pt x="484" y="170"/>
                          <a:pt x="482" y="169"/>
                          <a:pt x="482" y="167"/>
                        </a:cubicBezTo>
                        <a:cubicBezTo>
                          <a:pt x="482" y="166"/>
                          <a:pt x="482" y="166"/>
                          <a:pt x="482" y="166"/>
                        </a:cubicBezTo>
                        <a:cubicBezTo>
                          <a:pt x="482" y="163"/>
                          <a:pt x="484" y="162"/>
                          <a:pt x="486" y="162"/>
                        </a:cubicBezTo>
                        <a:cubicBezTo>
                          <a:pt x="563" y="162"/>
                          <a:pt x="563" y="162"/>
                          <a:pt x="563" y="162"/>
                        </a:cubicBezTo>
                        <a:cubicBezTo>
                          <a:pt x="565" y="162"/>
                          <a:pt x="567" y="163"/>
                          <a:pt x="567" y="166"/>
                        </a:cubicBezTo>
                        <a:lnTo>
                          <a:pt x="567" y="167"/>
                        </a:lnTo>
                        <a:close/>
                        <a:moveTo>
                          <a:pt x="29" y="284"/>
                        </a:moveTo>
                        <a:cubicBezTo>
                          <a:pt x="29" y="284"/>
                          <a:pt x="30" y="284"/>
                          <a:pt x="30" y="283"/>
                        </a:cubicBezTo>
                        <a:cubicBezTo>
                          <a:pt x="64" y="283"/>
                          <a:pt x="64" y="283"/>
                          <a:pt x="64" y="283"/>
                        </a:cubicBezTo>
                        <a:cubicBezTo>
                          <a:pt x="63" y="286"/>
                          <a:pt x="60" y="288"/>
                          <a:pt x="57" y="288"/>
                        </a:cubicBezTo>
                        <a:cubicBezTo>
                          <a:pt x="28" y="288"/>
                          <a:pt x="28" y="288"/>
                          <a:pt x="28" y="288"/>
                        </a:cubicBezTo>
                        <a:lnTo>
                          <a:pt x="29" y="284"/>
                        </a:lnTo>
                        <a:close/>
                        <a:moveTo>
                          <a:pt x="16" y="320"/>
                        </a:moveTo>
                        <a:cubicBezTo>
                          <a:pt x="25" y="320"/>
                          <a:pt x="25" y="320"/>
                          <a:pt x="25" y="320"/>
                        </a:cubicBezTo>
                        <a:cubicBezTo>
                          <a:pt x="27" y="320"/>
                          <a:pt x="29" y="321"/>
                          <a:pt x="31" y="324"/>
                        </a:cubicBezTo>
                        <a:cubicBezTo>
                          <a:pt x="16" y="324"/>
                          <a:pt x="16" y="324"/>
                          <a:pt x="16" y="324"/>
                        </a:cubicBezTo>
                        <a:lnTo>
                          <a:pt x="16" y="320"/>
                        </a:lnTo>
                        <a:close/>
                        <a:moveTo>
                          <a:pt x="61" y="352"/>
                        </a:moveTo>
                        <a:cubicBezTo>
                          <a:pt x="61" y="356"/>
                          <a:pt x="61" y="356"/>
                          <a:pt x="61" y="356"/>
                        </a:cubicBezTo>
                        <a:cubicBezTo>
                          <a:pt x="18" y="356"/>
                          <a:pt x="18" y="356"/>
                          <a:pt x="18" y="356"/>
                        </a:cubicBezTo>
                        <a:cubicBezTo>
                          <a:pt x="18" y="344"/>
                          <a:pt x="18" y="344"/>
                          <a:pt x="18" y="344"/>
                        </a:cubicBezTo>
                        <a:cubicBezTo>
                          <a:pt x="61" y="344"/>
                          <a:pt x="61" y="344"/>
                          <a:pt x="61" y="344"/>
                        </a:cubicBezTo>
                        <a:cubicBezTo>
                          <a:pt x="61" y="346"/>
                          <a:pt x="61" y="349"/>
                          <a:pt x="61" y="352"/>
                        </a:cubicBezTo>
                        <a:close/>
                        <a:moveTo>
                          <a:pt x="127" y="388"/>
                        </a:moveTo>
                        <a:cubicBezTo>
                          <a:pt x="108" y="388"/>
                          <a:pt x="93" y="372"/>
                          <a:pt x="93" y="352"/>
                        </a:cubicBezTo>
                        <a:cubicBezTo>
                          <a:pt x="93" y="332"/>
                          <a:pt x="108" y="316"/>
                          <a:pt x="127" y="316"/>
                        </a:cubicBezTo>
                        <a:cubicBezTo>
                          <a:pt x="146" y="316"/>
                          <a:pt x="161" y="332"/>
                          <a:pt x="161" y="352"/>
                        </a:cubicBezTo>
                        <a:cubicBezTo>
                          <a:pt x="161" y="372"/>
                          <a:pt x="146" y="388"/>
                          <a:pt x="127" y="388"/>
                        </a:cubicBezTo>
                        <a:close/>
                        <a:moveTo>
                          <a:pt x="174" y="348"/>
                        </a:moveTo>
                        <a:cubicBezTo>
                          <a:pt x="173" y="323"/>
                          <a:pt x="152" y="302"/>
                          <a:pt x="127" y="302"/>
                        </a:cubicBezTo>
                        <a:cubicBezTo>
                          <a:pt x="102" y="302"/>
                          <a:pt x="81" y="323"/>
                          <a:pt x="79" y="348"/>
                        </a:cubicBezTo>
                        <a:cubicBezTo>
                          <a:pt x="77" y="348"/>
                          <a:pt x="77" y="348"/>
                          <a:pt x="77" y="348"/>
                        </a:cubicBezTo>
                        <a:cubicBezTo>
                          <a:pt x="79" y="321"/>
                          <a:pt x="100" y="300"/>
                          <a:pt x="127" y="300"/>
                        </a:cubicBezTo>
                        <a:cubicBezTo>
                          <a:pt x="153" y="300"/>
                          <a:pt x="175" y="321"/>
                          <a:pt x="177" y="348"/>
                        </a:cubicBezTo>
                        <a:lnTo>
                          <a:pt x="174" y="348"/>
                        </a:lnTo>
                        <a:close/>
                        <a:moveTo>
                          <a:pt x="245" y="356"/>
                        </a:moveTo>
                        <a:cubicBezTo>
                          <a:pt x="193" y="356"/>
                          <a:pt x="193" y="356"/>
                          <a:pt x="193" y="356"/>
                        </a:cubicBezTo>
                        <a:cubicBezTo>
                          <a:pt x="193" y="352"/>
                          <a:pt x="193" y="352"/>
                          <a:pt x="193" y="352"/>
                        </a:cubicBezTo>
                        <a:cubicBezTo>
                          <a:pt x="193" y="349"/>
                          <a:pt x="193" y="346"/>
                          <a:pt x="192" y="344"/>
                        </a:cubicBezTo>
                        <a:cubicBezTo>
                          <a:pt x="245" y="344"/>
                          <a:pt x="245" y="344"/>
                          <a:pt x="245" y="344"/>
                        </a:cubicBezTo>
                        <a:lnTo>
                          <a:pt x="245" y="356"/>
                        </a:lnTo>
                        <a:close/>
                        <a:moveTo>
                          <a:pt x="245" y="336"/>
                        </a:moveTo>
                        <a:cubicBezTo>
                          <a:pt x="191" y="336"/>
                          <a:pt x="191" y="336"/>
                          <a:pt x="191" y="336"/>
                        </a:cubicBezTo>
                        <a:cubicBezTo>
                          <a:pt x="184" y="306"/>
                          <a:pt x="158" y="284"/>
                          <a:pt x="127" y="284"/>
                        </a:cubicBezTo>
                        <a:cubicBezTo>
                          <a:pt x="96" y="284"/>
                          <a:pt x="69" y="306"/>
                          <a:pt x="63" y="336"/>
                        </a:cubicBezTo>
                        <a:cubicBezTo>
                          <a:pt x="17" y="336"/>
                          <a:pt x="17" y="336"/>
                          <a:pt x="17" y="336"/>
                        </a:cubicBezTo>
                        <a:cubicBezTo>
                          <a:pt x="17" y="332"/>
                          <a:pt x="17" y="332"/>
                          <a:pt x="17" y="332"/>
                        </a:cubicBezTo>
                        <a:cubicBezTo>
                          <a:pt x="34" y="332"/>
                          <a:pt x="34" y="332"/>
                          <a:pt x="34" y="332"/>
                        </a:cubicBezTo>
                        <a:cubicBezTo>
                          <a:pt x="36" y="332"/>
                          <a:pt x="38" y="330"/>
                          <a:pt x="38" y="328"/>
                        </a:cubicBezTo>
                        <a:cubicBezTo>
                          <a:pt x="38" y="319"/>
                          <a:pt x="32" y="312"/>
                          <a:pt x="25" y="312"/>
                        </a:cubicBezTo>
                        <a:cubicBezTo>
                          <a:pt x="18" y="312"/>
                          <a:pt x="18" y="312"/>
                          <a:pt x="18" y="312"/>
                        </a:cubicBezTo>
                        <a:cubicBezTo>
                          <a:pt x="25" y="295"/>
                          <a:pt x="25" y="295"/>
                          <a:pt x="25" y="295"/>
                        </a:cubicBezTo>
                        <a:cubicBezTo>
                          <a:pt x="57" y="295"/>
                          <a:pt x="57" y="295"/>
                          <a:pt x="57" y="295"/>
                        </a:cubicBezTo>
                        <a:cubicBezTo>
                          <a:pt x="66" y="295"/>
                          <a:pt x="72" y="288"/>
                          <a:pt x="72" y="280"/>
                        </a:cubicBezTo>
                        <a:cubicBezTo>
                          <a:pt x="72" y="278"/>
                          <a:pt x="71" y="276"/>
                          <a:pt x="69" y="276"/>
                        </a:cubicBezTo>
                        <a:cubicBezTo>
                          <a:pt x="39" y="276"/>
                          <a:pt x="39" y="276"/>
                          <a:pt x="39" y="276"/>
                        </a:cubicBezTo>
                        <a:cubicBezTo>
                          <a:pt x="63" y="258"/>
                          <a:pt x="101" y="239"/>
                          <a:pt x="156" y="239"/>
                        </a:cubicBezTo>
                        <a:cubicBezTo>
                          <a:pt x="167" y="239"/>
                          <a:pt x="167" y="239"/>
                          <a:pt x="167" y="239"/>
                        </a:cubicBezTo>
                        <a:cubicBezTo>
                          <a:pt x="175" y="247"/>
                          <a:pt x="200" y="251"/>
                          <a:pt x="240" y="251"/>
                        </a:cubicBezTo>
                        <a:cubicBezTo>
                          <a:pt x="245" y="251"/>
                          <a:pt x="245" y="251"/>
                          <a:pt x="245" y="251"/>
                        </a:cubicBezTo>
                        <a:lnTo>
                          <a:pt x="245" y="336"/>
                        </a:lnTo>
                        <a:close/>
                        <a:moveTo>
                          <a:pt x="246" y="236"/>
                        </a:moveTo>
                        <a:cubicBezTo>
                          <a:pt x="240" y="236"/>
                          <a:pt x="240" y="236"/>
                          <a:pt x="240" y="236"/>
                        </a:cubicBezTo>
                        <a:cubicBezTo>
                          <a:pt x="215" y="236"/>
                          <a:pt x="199" y="234"/>
                          <a:pt x="189" y="232"/>
                        </a:cubicBezTo>
                        <a:cubicBezTo>
                          <a:pt x="205" y="220"/>
                          <a:pt x="227" y="205"/>
                          <a:pt x="251" y="193"/>
                        </a:cubicBezTo>
                        <a:cubicBezTo>
                          <a:pt x="259" y="192"/>
                          <a:pt x="267" y="191"/>
                          <a:pt x="274" y="190"/>
                        </a:cubicBezTo>
                        <a:cubicBezTo>
                          <a:pt x="259" y="201"/>
                          <a:pt x="249" y="217"/>
                          <a:pt x="246" y="236"/>
                        </a:cubicBezTo>
                        <a:close/>
                        <a:moveTo>
                          <a:pt x="396" y="336"/>
                        </a:moveTo>
                        <a:cubicBezTo>
                          <a:pt x="252" y="336"/>
                          <a:pt x="252" y="336"/>
                          <a:pt x="252" y="336"/>
                        </a:cubicBezTo>
                        <a:cubicBezTo>
                          <a:pt x="252" y="251"/>
                          <a:pt x="252" y="251"/>
                          <a:pt x="252" y="251"/>
                        </a:cubicBezTo>
                        <a:cubicBezTo>
                          <a:pt x="396" y="251"/>
                          <a:pt x="396" y="251"/>
                          <a:pt x="396" y="251"/>
                        </a:cubicBezTo>
                        <a:lnTo>
                          <a:pt x="396" y="336"/>
                        </a:lnTo>
                        <a:close/>
                        <a:moveTo>
                          <a:pt x="396" y="236"/>
                        </a:moveTo>
                        <a:cubicBezTo>
                          <a:pt x="253" y="236"/>
                          <a:pt x="253" y="236"/>
                          <a:pt x="253" y="236"/>
                        </a:cubicBezTo>
                        <a:cubicBezTo>
                          <a:pt x="257" y="214"/>
                          <a:pt x="272" y="197"/>
                          <a:pt x="292" y="189"/>
                        </a:cubicBezTo>
                        <a:cubicBezTo>
                          <a:pt x="334" y="186"/>
                          <a:pt x="369" y="189"/>
                          <a:pt x="396" y="199"/>
                        </a:cubicBezTo>
                        <a:lnTo>
                          <a:pt x="396" y="236"/>
                        </a:lnTo>
                        <a:close/>
                        <a:moveTo>
                          <a:pt x="426" y="352"/>
                        </a:moveTo>
                        <a:cubicBezTo>
                          <a:pt x="426" y="356"/>
                          <a:pt x="426" y="356"/>
                          <a:pt x="426" y="356"/>
                        </a:cubicBezTo>
                        <a:cubicBezTo>
                          <a:pt x="403" y="356"/>
                          <a:pt x="403" y="356"/>
                          <a:pt x="403" y="356"/>
                        </a:cubicBezTo>
                        <a:cubicBezTo>
                          <a:pt x="403" y="344"/>
                          <a:pt x="403" y="344"/>
                          <a:pt x="403" y="344"/>
                        </a:cubicBezTo>
                        <a:cubicBezTo>
                          <a:pt x="427" y="344"/>
                          <a:pt x="427" y="344"/>
                          <a:pt x="427" y="344"/>
                        </a:cubicBezTo>
                        <a:cubicBezTo>
                          <a:pt x="426" y="346"/>
                          <a:pt x="426" y="349"/>
                          <a:pt x="426" y="352"/>
                        </a:cubicBezTo>
                        <a:close/>
                        <a:moveTo>
                          <a:pt x="492" y="388"/>
                        </a:moveTo>
                        <a:cubicBezTo>
                          <a:pt x="474" y="388"/>
                          <a:pt x="458" y="372"/>
                          <a:pt x="458" y="352"/>
                        </a:cubicBezTo>
                        <a:cubicBezTo>
                          <a:pt x="458" y="332"/>
                          <a:pt x="474" y="316"/>
                          <a:pt x="492" y="316"/>
                        </a:cubicBezTo>
                        <a:cubicBezTo>
                          <a:pt x="511" y="316"/>
                          <a:pt x="526" y="332"/>
                          <a:pt x="526" y="352"/>
                        </a:cubicBezTo>
                        <a:cubicBezTo>
                          <a:pt x="526" y="372"/>
                          <a:pt x="511" y="388"/>
                          <a:pt x="492" y="388"/>
                        </a:cubicBezTo>
                        <a:close/>
                        <a:moveTo>
                          <a:pt x="540" y="348"/>
                        </a:moveTo>
                        <a:cubicBezTo>
                          <a:pt x="538" y="323"/>
                          <a:pt x="517" y="302"/>
                          <a:pt x="492" y="302"/>
                        </a:cubicBezTo>
                        <a:cubicBezTo>
                          <a:pt x="467" y="302"/>
                          <a:pt x="446" y="323"/>
                          <a:pt x="445" y="348"/>
                        </a:cubicBezTo>
                        <a:cubicBezTo>
                          <a:pt x="442" y="348"/>
                          <a:pt x="442" y="348"/>
                          <a:pt x="442" y="348"/>
                        </a:cubicBezTo>
                        <a:cubicBezTo>
                          <a:pt x="444" y="321"/>
                          <a:pt x="466" y="300"/>
                          <a:pt x="492" y="300"/>
                        </a:cubicBezTo>
                        <a:cubicBezTo>
                          <a:pt x="519" y="300"/>
                          <a:pt x="540" y="321"/>
                          <a:pt x="542" y="348"/>
                        </a:cubicBezTo>
                        <a:lnTo>
                          <a:pt x="540" y="348"/>
                        </a:lnTo>
                        <a:close/>
                        <a:moveTo>
                          <a:pt x="590" y="356"/>
                        </a:moveTo>
                        <a:cubicBezTo>
                          <a:pt x="558" y="356"/>
                          <a:pt x="558" y="356"/>
                          <a:pt x="558" y="356"/>
                        </a:cubicBezTo>
                        <a:cubicBezTo>
                          <a:pt x="558" y="352"/>
                          <a:pt x="558" y="352"/>
                          <a:pt x="558" y="352"/>
                        </a:cubicBezTo>
                        <a:cubicBezTo>
                          <a:pt x="558" y="349"/>
                          <a:pt x="558" y="346"/>
                          <a:pt x="558" y="344"/>
                        </a:cubicBezTo>
                        <a:cubicBezTo>
                          <a:pt x="593" y="344"/>
                          <a:pt x="593" y="344"/>
                          <a:pt x="593" y="344"/>
                        </a:cubicBezTo>
                        <a:lnTo>
                          <a:pt x="590" y="356"/>
                        </a:lnTo>
                        <a:close/>
                        <a:moveTo>
                          <a:pt x="595" y="282"/>
                        </a:moveTo>
                        <a:cubicBezTo>
                          <a:pt x="576" y="282"/>
                          <a:pt x="576" y="282"/>
                          <a:pt x="576" y="282"/>
                        </a:cubicBezTo>
                        <a:cubicBezTo>
                          <a:pt x="573" y="282"/>
                          <a:pt x="571" y="277"/>
                          <a:pt x="569" y="274"/>
                        </a:cubicBezTo>
                        <a:cubicBezTo>
                          <a:pt x="595" y="274"/>
                          <a:pt x="595" y="274"/>
                          <a:pt x="595" y="274"/>
                        </a:cubicBezTo>
                        <a:lnTo>
                          <a:pt x="595" y="282"/>
                        </a:lnTo>
                        <a:close/>
                        <a:moveTo>
                          <a:pt x="595" y="254"/>
                        </a:moveTo>
                        <a:cubicBezTo>
                          <a:pt x="547" y="254"/>
                          <a:pt x="547" y="254"/>
                          <a:pt x="547" y="254"/>
                        </a:cubicBezTo>
                        <a:cubicBezTo>
                          <a:pt x="547" y="250"/>
                          <a:pt x="547" y="250"/>
                          <a:pt x="547" y="250"/>
                        </a:cubicBezTo>
                        <a:cubicBezTo>
                          <a:pt x="521" y="250"/>
                          <a:pt x="521" y="250"/>
                          <a:pt x="521" y="250"/>
                        </a:cubicBezTo>
                        <a:cubicBezTo>
                          <a:pt x="521" y="270"/>
                          <a:pt x="521" y="270"/>
                          <a:pt x="521" y="270"/>
                        </a:cubicBezTo>
                        <a:cubicBezTo>
                          <a:pt x="547" y="270"/>
                          <a:pt x="547" y="270"/>
                          <a:pt x="547" y="270"/>
                        </a:cubicBezTo>
                        <a:cubicBezTo>
                          <a:pt x="547" y="262"/>
                          <a:pt x="547" y="262"/>
                          <a:pt x="547" y="262"/>
                        </a:cubicBezTo>
                        <a:cubicBezTo>
                          <a:pt x="595" y="262"/>
                          <a:pt x="595" y="262"/>
                          <a:pt x="595" y="262"/>
                        </a:cubicBezTo>
                        <a:cubicBezTo>
                          <a:pt x="595" y="267"/>
                          <a:pt x="595" y="267"/>
                          <a:pt x="595" y="267"/>
                        </a:cubicBezTo>
                        <a:cubicBezTo>
                          <a:pt x="561" y="267"/>
                          <a:pt x="561" y="267"/>
                          <a:pt x="561" y="267"/>
                        </a:cubicBezTo>
                        <a:cubicBezTo>
                          <a:pt x="561" y="271"/>
                          <a:pt x="561" y="271"/>
                          <a:pt x="561" y="271"/>
                        </a:cubicBezTo>
                        <a:cubicBezTo>
                          <a:pt x="562" y="272"/>
                          <a:pt x="565" y="289"/>
                          <a:pt x="576" y="289"/>
                        </a:cubicBezTo>
                        <a:cubicBezTo>
                          <a:pt x="595" y="289"/>
                          <a:pt x="595" y="289"/>
                          <a:pt x="595" y="289"/>
                        </a:cubicBezTo>
                        <a:cubicBezTo>
                          <a:pt x="595" y="336"/>
                          <a:pt x="595" y="336"/>
                          <a:pt x="595" y="336"/>
                        </a:cubicBezTo>
                        <a:cubicBezTo>
                          <a:pt x="556" y="336"/>
                          <a:pt x="556" y="336"/>
                          <a:pt x="556" y="336"/>
                        </a:cubicBezTo>
                        <a:cubicBezTo>
                          <a:pt x="550" y="306"/>
                          <a:pt x="523" y="284"/>
                          <a:pt x="492" y="284"/>
                        </a:cubicBezTo>
                        <a:cubicBezTo>
                          <a:pt x="461" y="284"/>
                          <a:pt x="435" y="306"/>
                          <a:pt x="428" y="336"/>
                        </a:cubicBezTo>
                        <a:cubicBezTo>
                          <a:pt x="403" y="336"/>
                          <a:pt x="403" y="336"/>
                          <a:pt x="403" y="336"/>
                        </a:cubicBezTo>
                        <a:cubicBezTo>
                          <a:pt x="403" y="251"/>
                          <a:pt x="403" y="251"/>
                          <a:pt x="403" y="251"/>
                        </a:cubicBezTo>
                        <a:cubicBezTo>
                          <a:pt x="463" y="251"/>
                          <a:pt x="463" y="251"/>
                          <a:pt x="463" y="251"/>
                        </a:cubicBezTo>
                        <a:cubicBezTo>
                          <a:pt x="466" y="251"/>
                          <a:pt x="469" y="250"/>
                          <a:pt x="470" y="248"/>
                        </a:cubicBezTo>
                        <a:cubicBezTo>
                          <a:pt x="472" y="245"/>
                          <a:pt x="472" y="242"/>
                          <a:pt x="470" y="240"/>
                        </a:cubicBezTo>
                        <a:cubicBezTo>
                          <a:pt x="452" y="202"/>
                          <a:pt x="414" y="180"/>
                          <a:pt x="357" y="174"/>
                        </a:cubicBezTo>
                        <a:cubicBezTo>
                          <a:pt x="415" y="177"/>
                          <a:pt x="462" y="196"/>
                          <a:pt x="544" y="239"/>
                        </a:cubicBezTo>
                        <a:cubicBezTo>
                          <a:pt x="546" y="239"/>
                          <a:pt x="547" y="239"/>
                          <a:pt x="548" y="239"/>
                        </a:cubicBezTo>
                        <a:cubicBezTo>
                          <a:pt x="588" y="239"/>
                          <a:pt x="588" y="239"/>
                          <a:pt x="588" y="239"/>
                        </a:cubicBezTo>
                        <a:cubicBezTo>
                          <a:pt x="595" y="247"/>
                          <a:pt x="595" y="247"/>
                          <a:pt x="595" y="247"/>
                        </a:cubicBezTo>
                        <a:lnTo>
                          <a:pt x="595" y="254"/>
                        </a:lnTo>
                        <a:close/>
                        <a:moveTo>
                          <a:pt x="403" y="236"/>
                        </a:moveTo>
                        <a:cubicBezTo>
                          <a:pt x="403" y="201"/>
                          <a:pt x="403" y="201"/>
                          <a:pt x="403" y="201"/>
                        </a:cubicBezTo>
                        <a:cubicBezTo>
                          <a:pt x="423" y="209"/>
                          <a:pt x="438" y="220"/>
                          <a:pt x="449" y="236"/>
                        </a:cubicBezTo>
                        <a:lnTo>
                          <a:pt x="403" y="236"/>
                        </a:lnTo>
                        <a:close/>
                      </a:path>
                    </a:pathLst>
                  </a:custGeom>
                  <a:grpFill/>
                  <a:ln w="9525">
                    <a:noFill/>
                    <a:round/>
                    <a:headEnd/>
                    <a:tailEnd/>
                  </a:ln>
                </p:spPr>
                <p:txBody>
                  <a:bodyPr vert="horz" wrap="square" lIns="91404" tIns="45702" rIns="91404" bIns="45702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defTabSz="914112"/>
                    <a:endParaRPr lang="zh-CN" altLang="en-US" sz="1799" dirty="0">
                      <a:solidFill>
                        <a:srgbClr val="1D1D1A"/>
                      </a:solidFill>
                      <a:latin typeface="等线" panose="02010600030101010101" pitchFamily="2" charset="-122"/>
                      <a:ea typeface="等线" panose="02010600030101010101" pitchFamily="2" charset="-122"/>
                    </a:endParaRPr>
                  </a:p>
                </p:txBody>
              </p:sp>
            </p:grpSp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A89814AE-14D2-4032-AAF0-DE89CE7A7EB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694035" y="5465629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9B74E047-71BB-4F0B-8362-311330F50AC6}"/>
                </a:ext>
              </a:extLst>
            </p:cNvPr>
            <p:cNvGrpSpPr/>
            <p:nvPr/>
          </p:nvGrpSpPr>
          <p:grpSpPr>
            <a:xfrm>
              <a:off x="730495" y="3955781"/>
              <a:ext cx="3908102" cy="731520"/>
              <a:chOff x="730495" y="3955781"/>
              <a:chExt cx="3908102" cy="731520"/>
            </a:xfrm>
          </p:grpSpPr>
          <p:sp>
            <p:nvSpPr>
              <p:cNvPr id="121" name="矩形 120">
                <a:extLst>
                  <a:ext uri="{FF2B5EF4-FFF2-40B4-BE49-F238E27FC236}">
                    <a16:creationId xmlns:a16="http://schemas.microsoft.com/office/drawing/2014/main" id="{284EF498-8270-43D8-8FDC-09EC96698AB1}"/>
                  </a:ext>
                </a:extLst>
              </p:cNvPr>
              <p:cNvSpPr/>
              <p:nvPr/>
            </p:nvSpPr>
            <p:spPr>
              <a:xfrm>
                <a:off x="730495" y="3955781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住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：建筑每年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Wingdings" panose="05000000000000000000" pitchFamily="2" charset="2"/>
                  </a:rPr>
                  <a:t>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55</a:t>
                </a: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亿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m</a:t>
                </a:r>
                <a:r>
                  <a:rPr lang="en-US" altLang="zh-CN" sz="1200" b="1" kern="0" spc="50" baseline="3000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2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，</a:t>
                </a:r>
                <a:r>
                  <a:rPr lang="en-US" altLang="zh-CN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34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天新增一个纽约</a:t>
                </a:r>
                <a:endParaRPr lang="en-US" altLang="zh-CN" sz="1200" b="1" kern="0" spc="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  <a:sym typeface="Arial" panose="020B0604020202020204" pitchFamily="34" charset="0"/>
                </a:endParaRPr>
              </a:p>
              <a:p>
                <a:pPr algn="ctr" defTabSz="913623">
                  <a:spcAft>
                    <a:spcPts val="900"/>
                  </a:spcAft>
                </a:pP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新交互体验，让空间人性化</a:t>
                </a:r>
              </a:p>
            </p:txBody>
          </p:sp>
          <p:grpSp>
            <p:nvGrpSpPr>
              <p:cNvPr id="301" name="组合 300">
                <a:extLst>
                  <a:ext uri="{FF2B5EF4-FFF2-40B4-BE49-F238E27FC236}">
                    <a16:creationId xmlns:a16="http://schemas.microsoft.com/office/drawing/2014/main" id="{AE3A84D4-405D-4A46-AD83-B2B703026734}"/>
                  </a:ext>
                </a:extLst>
              </p:cNvPr>
              <p:cNvGrpSpPr/>
              <p:nvPr/>
            </p:nvGrpSpPr>
            <p:grpSpPr>
              <a:xfrm>
                <a:off x="4089957" y="4047221"/>
                <a:ext cx="548640" cy="548640"/>
                <a:chOff x="5047860" y="4567268"/>
                <a:chExt cx="548640" cy="548640"/>
              </a:xfrm>
            </p:grpSpPr>
            <p:sp>
              <p:nvSpPr>
                <p:cNvPr id="302" name="椭圆 301">
                  <a:extLst>
                    <a:ext uri="{FF2B5EF4-FFF2-40B4-BE49-F238E27FC236}">
                      <a16:creationId xmlns:a16="http://schemas.microsoft.com/office/drawing/2014/main" id="{CB878360-AF63-448D-AD11-C6CE6E28F9C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047860" y="4567268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  <p:pic>
              <p:nvPicPr>
                <p:cNvPr id="303" name="图形 302">
                  <a:extLst>
                    <a:ext uri="{FF2B5EF4-FFF2-40B4-BE49-F238E27FC236}">
                      <a16:creationId xmlns:a16="http://schemas.microsoft.com/office/drawing/2014/main" id="{4F2CE6D1-5CED-4550-92E9-B0FC451146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 cstate="screen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73970" y="4700950"/>
                  <a:ext cx="296421" cy="281276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09" name="组合 308">
              <a:extLst>
                <a:ext uri="{FF2B5EF4-FFF2-40B4-BE49-F238E27FC236}">
                  <a16:creationId xmlns:a16="http://schemas.microsoft.com/office/drawing/2014/main" id="{56477CF0-13C0-4CCD-BF21-2B4FC80A1816}"/>
                </a:ext>
              </a:extLst>
            </p:cNvPr>
            <p:cNvGrpSpPr/>
            <p:nvPr/>
          </p:nvGrpSpPr>
          <p:grpSpPr>
            <a:xfrm>
              <a:off x="7563779" y="5205182"/>
              <a:ext cx="3915189" cy="731520"/>
              <a:chOff x="7563779" y="3955781"/>
              <a:chExt cx="3915189" cy="731520"/>
            </a:xfrm>
          </p:grpSpPr>
          <p:sp>
            <p:nvSpPr>
              <p:cNvPr id="310" name="矩形 309">
                <a:extLst>
                  <a:ext uri="{FF2B5EF4-FFF2-40B4-BE49-F238E27FC236}">
                    <a16:creationId xmlns:a16="http://schemas.microsoft.com/office/drawing/2014/main" id="{5748F760-3227-4429-91EC-73E956EC2763}"/>
                  </a:ext>
                </a:extLst>
              </p:cNvPr>
              <p:cNvSpPr/>
              <p:nvPr/>
            </p:nvSpPr>
            <p:spPr>
              <a:xfrm>
                <a:off x="8187128" y="3955781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数字可信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：数字技术与规则塑造可信未来</a:t>
                </a:r>
                <a:endParaRPr lang="en-US" altLang="zh-CN" sz="1200" b="1" kern="0" spc="5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itchFamily="34" charset="0"/>
                  <a:sym typeface="Arial" panose="020B0604020202020204" pitchFamily="34" charset="0"/>
                </a:endParaRPr>
              </a:p>
              <a:p>
                <a:pPr algn="ctr" defTabSz="913623">
                  <a:spcAft>
                    <a:spcPts val="900"/>
                  </a:spcAft>
                </a:pPr>
                <a:r>
                  <a:rPr kumimoji="1" lang="en-US" altLang="zh-CN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Wingdings" panose="05000000000000000000" pitchFamily="2" charset="2"/>
                  </a:rPr>
                  <a:t>ICT</a:t>
                </a: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Wingdings" panose="05000000000000000000" pitchFamily="2" charset="2"/>
                  </a:rPr>
                  <a:t>使能，规则塑造可信</a:t>
                </a:r>
                <a:endParaRPr kumimoji="1" lang="zh-CN" altLang="en-US" sz="900" dirty="0">
                  <a:solidFill>
                    <a:srgbClr val="6666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grpSp>
            <p:nvGrpSpPr>
              <p:cNvPr id="311" name="组合 310">
                <a:extLst>
                  <a:ext uri="{FF2B5EF4-FFF2-40B4-BE49-F238E27FC236}">
                    <a16:creationId xmlns:a16="http://schemas.microsoft.com/office/drawing/2014/main" id="{80AE2A95-B118-4BAC-AD89-23BBDFD4E797}"/>
                  </a:ext>
                </a:extLst>
              </p:cNvPr>
              <p:cNvGrpSpPr/>
              <p:nvPr/>
            </p:nvGrpSpPr>
            <p:grpSpPr>
              <a:xfrm>
                <a:off x="7563779" y="4047221"/>
                <a:ext cx="548640" cy="548640"/>
                <a:chOff x="7293063" y="3899732"/>
                <a:chExt cx="548640" cy="548640"/>
              </a:xfrm>
            </p:grpSpPr>
            <p:grpSp>
              <p:nvGrpSpPr>
                <p:cNvPr id="312" name="组合 311">
                  <a:extLst>
                    <a:ext uri="{FF2B5EF4-FFF2-40B4-BE49-F238E27FC236}">
                      <a16:creationId xmlns:a16="http://schemas.microsoft.com/office/drawing/2014/main" id="{49B53D01-40D0-4E8F-9CE8-123223F0EDDA}"/>
                    </a:ext>
                  </a:extLst>
                </p:cNvPr>
                <p:cNvGrpSpPr/>
                <p:nvPr/>
              </p:nvGrpSpPr>
              <p:grpSpPr>
                <a:xfrm>
                  <a:off x="7403597" y="4046066"/>
                  <a:ext cx="327573" cy="255973"/>
                  <a:chOff x="7674313" y="4102115"/>
                  <a:chExt cx="327573" cy="255973"/>
                </a:xfrm>
              </p:grpSpPr>
              <p:sp>
                <p:nvSpPr>
                  <p:cNvPr id="314" name="Freeform 46">
                    <a:extLst>
                      <a:ext uri="{FF2B5EF4-FFF2-40B4-BE49-F238E27FC236}">
                        <a16:creationId xmlns:a16="http://schemas.microsoft.com/office/drawing/2014/main" id="{230ABF4E-566B-48FF-B65B-426CED6307CD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674313" y="4284697"/>
                    <a:ext cx="179002" cy="73391"/>
                  </a:xfrm>
                  <a:custGeom>
                    <a:avLst/>
                    <a:gdLst/>
                    <a:ahLst/>
                    <a:cxnLst>
                      <a:cxn ang="0">
                        <a:pos x="192" y="60"/>
                      </a:cxn>
                      <a:cxn ang="0">
                        <a:pos x="192" y="0"/>
                      </a:cxn>
                      <a:cxn ang="0">
                        <a:pos x="38" y="0"/>
                      </a:cxn>
                      <a:cxn ang="0">
                        <a:pos x="38" y="0"/>
                      </a:cxn>
                      <a:cxn ang="0">
                        <a:pos x="30" y="0"/>
                      </a:cxn>
                      <a:cxn ang="0">
                        <a:pos x="24" y="2"/>
                      </a:cxn>
                      <a:cxn ang="0">
                        <a:pos x="16" y="6"/>
                      </a:cxn>
                      <a:cxn ang="0">
                        <a:pos x="10" y="10"/>
                      </a:cxn>
                      <a:cxn ang="0">
                        <a:pos x="6" y="14"/>
                      </a:cxn>
                      <a:cxn ang="0">
                        <a:pos x="2" y="20"/>
                      </a:cxn>
                      <a:cxn ang="0">
                        <a:pos x="0" y="28"/>
                      </a:cxn>
                      <a:cxn ang="0">
                        <a:pos x="0" y="34"/>
                      </a:cxn>
                      <a:cxn ang="0">
                        <a:pos x="0" y="48"/>
                      </a:cxn>
                      <a:cxn ang="0">
                        <a:pos x="0" y="48"/>
                      </a:cxn>
                      <a:cxn ang="0">
                        <a:pos x="0" y="54"/>
                      </a:cxn>
                      <a:cxn ang="0">
                        <a:pos x="2" y="62"/>
                      </a:cxn>
                      <a:cxn ang="0">
                        <a:pos x="6" y="68"/>
                      </a:cxn>
                      <a:cxn ang="0">
                        <a:pos x="10" y="72"/>
                      </a:cxn>
                      <a:cxn ang="0">
                        <a:pos x="16" y="76"/>
                      </a:cxn>
                      <a:cxn ang="0">
                        <a:pos x="24" y="80"/>
                      </a:cxn>
                      <a:cxn ang="0">
                        <a:pos x="30" y="82"/>
                      </a:cxn>
                      <a:cxn ang="0">
                        <a:pos x="38" y="82"/>
                      </a:cxn>
                      <a:cxn ang="0">
                        <a:pos x="200" y="82"/>
                      </a:cxn>
                      <a:cxn ang="0">
                        <a:pos x="200" y="82"/>
                      </a:cxn>
                      <a:cxn ang="0">
                        <a:pos x="194" y="72"/>
                      </a:cxn>
                      <a:cxn ang="0">
                        <a:pos x="192" y="60"/>
                      </a:cxn>
                      <a:cxn ang="0">
                        <a:pos x="192" y="60"/>
                      </a:cxn>
                      <a:cxn ang="0">
                        <a:pos x="48" y="54"/>
                      </a:cxn>
                      <a:cxn ang="0">
                        <a:pos x="48" y="54"/>
                      </a:cxn>
                      <a:cxn ang="0">
                        <a:pos x="44" y="54"/>
                      </a:cxn>
                      <a:cxn ang="0">
                        <a:pos x="38" y="50"/>
                      </a:cxn>
                      <a:cxn ang="0">
                        <a:pos x="36" y="46"/>
                      </a:cxn>
                      <a:cxn ang="0">
                        <a:pos x="34" y="40"/>
                      </a:cxn>
                      <a:cxn ang="0">
                        <a:pos x="34" y="40"/>
                      </a:cxn>
                      <a:cxn ang="0">
                        <a:pos x="36" y="36"/>
                      </a:cxn>
                      <a:cxn ang="0">
                        <a:pos x="38" y="32"/>
                      </a:cxn>
                      <a:cxn ang="0">
                        <a:pos x="44" y="28"/>
                      </a:cxn>
                      <a:cxn ang="0">
                        <a:pos x="48" y="28"/>
                      </a:cxn>
                      <a:cxn ang="0">
                        <a:pos x="48" y="28"/>
                      </a:cxn>
                      <a:cxn ang="0">
                        <a:pos x="54" y="28"/>
                      </a:cxn>
                      <a:cxn ang="0">
                        <a:pos x="58" y="32"/>
                      </a:cxn>
                      <a:cxn ang="0">
                        <a:pos x="60" y="36"/>
                      </a:cxn>
                      <a:cxn ang="0">
                        <a:pos x="62" y="40"/>
                      </a:cxn>
                      <a:cxn ang="0">
                        <a:pos x="62" y="40"/>
                      </a:cxn>
                      <a:cxn ang="0">
                        <a:pos x="60" y="46"/>
                      </a:cxn>
                      <a:cxn ang="0">
                        <a:pos x="58" y="50"/>
                      </a:cxn>
                      <a:cxn ang="0">
                        <a:pos x="54" y="54"/>
                      </a:cxn>
                      <a:cxn ang="0">
                        <a:pos x="48" y="54"/>
                      </a:cxn>
                      <a:cxn ang="0">
                        <a:pos x="48" y="54"/>
                      </a:cxn>
                    </a:cxnLst>
                    <a:rect l="0" t="0" r="r" b="b"/>
                    <a:pathLst>
                      <a:path w="200" h="82">
                        <a:moveTo>
                          <a:pt x="192" y="60"/>
                        </a:moveTo>
                        <a:lnTo>
                          <a:pt x="192" y="0"/>
                        </a:lnTo>
                        <a:lnTo>
                          <a:pt x="38" y="0"/>
                        </a:lnTo>
                        <a:lnTo>
                          <a:pt x="38" y="0"/>
                        </a:lnTo>
                        <a:lnTo>
                          <a:pt x="30" y="0"/>
                        </a:lnTo>
                        <a:lnTo>
                          <a:pt x="24" y="2"/>
                        </a:lnTo>
                        <a:lnTo>
                          <a:pt x="16" y="6"/>
                        </a:lnTo>
                        <a:lnTo>
                          <a:pt x="10" y="10"/>
                        </a:lnTo>
                        <a:lnTo>
                          <a:pt x="6" y="14"/>
                        </a:lnTo>
                        <a:lnTo>
                          <a:pt x="2" y="20"/>
                        </a:lnTo>
                        <a:lnTo>
                          <a:pt x="0" y="28"/>
                        </a:lnTo>
                        <a:lnTo>
                          <a:pt x="0" y="34"/>
                        </a:lnTo>
                        <a:lnTo>
                          <a:pt x="0" y="48"/>
                        </a:lnTo>
                        <a:lnTo>
                          <a:pt x="0" y="48"/>
                        </a:lnTo>
                        <a:lnTo>
                          <a:pt x="0" y="54"/>
                        </a:lnTo>
                        <a:lnTo>
                          <a:pt x="2" y="62"/>
                        </a:lnTo>
                        <a:lnTo>
                          <a:pt x="6" y="68"/>
                        </a:lnTo>
                        <a:lnTo>
                          <a:pt x="10" y="72"/>
                        </a:lnTo>
                        <a:lnTo>
                          <a:pt x="16" y="76"/>
                        </a:lnTo>
                        <a:lnTo>
                          <a:pt x="24" y="80"/>
                        </a:lnTo>
                        <a:lnTo>
                          <a:pt x="30" y="82"/>
                        </a:lnTo>
                        <a:lnTo>
                          <a:pt x="38" y="82"/>
                        </a:lnTo>
                        <a:lnTo>
                          <a:pt x="200" y="82"/>
                        </a:lnTo>
                        <a:lnTo>
                          <a:pt x="200" y="82"/>
                        </a:lnTo>
                        <a:lnTo>
                          <a:pt x="194" y="72"/>
                        </a:lnTo>
                        <a:lnTo>
                          <a:pt x="192" y="60"/>
                        </a:lnTo>
                        <a:lnTo>
                          <a:pt x="192" y="60"/>
                        </a:lnTo>
                        <a:close/>
                        <a:moveTo>
                          <a:pt x="48" y="54"/>
                        </a:moveTo>
                        <a:lnTo>
                          <a:pt x="48" y="54"/>
                        </a:lnTo>
                        <a:lnTo>
                          <a:pt x="44" y="54"/>
                        </a:lnTo>
                        <a:lnTo>
                          <a:pt x="38" y="50"/>
                        </a:lnTo>
                        <a:lnTo>
                          <a:pt x="36" y="46"/>
                        </a:lnTo>
                        <a:lnTo>
                          <a:pt x="34" y="40"/>
                        </a:lnTo>
                        <a:lnTo>
                          <a:pt x="34" y="40"/>
                        </a:lnTo>
                        <a:lnTo>
                          <a:pt x="36" y="36"/>
                        </a:lnTo>
                        <a:lnTo>
                          <a:pt x="38" y="32"/>
                        </a:lnTo>
                        <a:lnTo>
                          <a:pt x="44" y="28"/>
                        </a:lnTo>
                        <a:lnTo>
                          <a:pt x="48" y="28"/>
                        </a:lnTo>
                        <a:lnTo>
                          <a:pt x="48" y="28"/>
                        </a:lnTo>
                        <a:lnTo>
                          <a:pt x="54" y="28"/>
                        </a:lnTo>
                        <a:lnTo>
                          <a:pt x="58" y="32"/>
                        </a:lnTo>
                        <a:lnTo>
                          <a:pt x="60" y="36"/>
                        </a:lnTo>
                        <a:lnTo>
                          <a:pt x="62" y="40"/>
                        </a:lnTo>
                        <a:lnTo>
                          <a:pt x="62" y="40"/>
                        </a:lnTo>
                        <a:lnTo>
                          <a:pt x="60" y="46"/>
                        </a:lnTo>
                        <a:lnTo>
                          <a:pt x="58" y="50"/>
                        </a:lnTo>
                        <a:lnTo>
                          <a:pt x="54" y="54"/>
                        </a:lnTo>
                        <a:lnTo>
                          <a:pt x="48" y="54"/>
                        </a:lnTo>
                        <a:lnTo>
                          <a:pt x="48" y="54"/>
                        </a:lnTo>
                        <a:close/>
                      </a:path>
                    </a:pathLst>
                  </a:custGeom>
                  <a:grpFill/>
                  <a:ln w="9525">
                    <a:solidFill>
                      <a:srgbClr val="7F7F7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315" name="Freeform 47">
                    <a:extLst>
                      <a:ext uri="{FF2B5EF4-FFF2-40B4-BE49-F238E27FC236}">
                        <a16:creationId xmlns:a16="http://schemas.microsoft.com/office/drawing/2014/main" id="{1A327D55-F524-481F-B767-566D0CEAE389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674313" y="4195196"/>
                    <a:ext cx="270293" cy="75181"/>
                  </a:xfrm>
                  <a:custGeom>
                    <a:avLst/>
                    <a:gdLst/>
                    <a:ahLst/>
                    <a:cxnLst>
                      <a:cxn ang="0">
                        <a:pos x="286" y="16"/>
                      </a:cxn>
                      <a:cxn ang="0">
                        <a:pos x="272" y="20"/>
                      </a:cxn>
                      <a:cxn ang="0">
                        <a:pos x="268" y="32"/>
                      </a:cxn>
                      <a:cxn ang="0">
                        <a:pos x="302" y="52"/>
                      </a:cxn>
                      <a:cxn ang="0">
                        <a:pos x="302" y="32"/>
                      </a:cxn>
                      <a:cxn ang="0">
                        <a:pos x="298" y="20"/>
                      </a:cxn>
                      <a:cxn ang="0">
                        <a:pos x="286" y="16"/>
                      </a:cxn>
                      <a:cxn ang="0">
                        <a:pos x="0" y="36"/>
                      </a:cxn>
                      <a:cxn ang="0">
                        <a:pos x="0" y="48"/>
                      </a:cxn>
                      <a:cxn ang="0">
                        <a:pos x="2" y="62"/>
                      </a:cxn>
                      <a:cxn ang="0">
                        <a:pos x="10" y="74"/>
                      </a:cxn>
                      <a:cxn ang="0">
                        <a:pos x="24" y="80"/>
                      </a:cxn>
                      <a:cxn ang="0">
                        <a:pos x="38" y="84"/>
                      </a:cxn>
                      <a:cxn ang="0">
                        <a:pos x="192" y="84"/>
                      </a:cxn>
                      <a:cxn ang="0">
                        <a:pos x="200" y="66"/>
                      </a:cxn>
                      <a:cxn ang="0">
                        <a:pos x="214" y="56"/>
                      </a:cxn>
                      <a:cxn ang="0">
                        <a:pos x="214" y="32"/>
                      </a:cxn>
                      <a:cxn ang="0">
                        <a:pos x="222" y="0"/>
                      </a:cxn>
                      <a:cxn ang="0">
                        <a:pos x="38" y="0"/>
                      </a:cxn>
                      <a:cxn ang="0">
                        <a:pos x="24" y="2"/>
                      </a:cxn>
                      <a:cxn ang="0">
                        <a:pos x="10" y="10"/>
                      </a:cxn>
                      <a:cxn ang="0">
                        <a:pos x="2" y="22"/>
                      </a:cxn>
                      <a:cxn ang="0">
                        <a:pos x="0" y="36"/>
                      </a:cxn>
                      <a:cxn ang="0">
                        <a:pos x="48" y="28"/>
                      </a:cxn>
                      <a:cxn ang="0">
                        <a:pos x="54" y="30"/>
                      </a:cxn>
                      <a:cxn ang="0">
                        <a:pos x="60" y="36"/>
                      </a:cxn>
                      <a:cxn ang="0">
                        <a:pos x="62" y="42"/>
                      </a:cxn>
                      <a:cxn ang="0">
                        <a:pos x="58" y="52"/>
                      </a:cxn>
                      <a:cxn ang="0">
                        <a:pos x="48" y="56"/>
                      </a:cxn>
                      <a:cxn ang="0">
                        <a:pos x="44" y="54"/>
                      </a:cxn>
                      <a:cxn ang="0">
                        <a:pos x="36" y="48"/>
                      </a:cxn>
                      <a:cxn ang="0">
                        <a:pos x="34" y="42"/>
                      </a:cxn>
                      <a:cxn ang="0">
                        <a:pos x="38" y="32"/>
                      </a:cxn>
                      <a:cxn ang="0">
                        <a:pos x="48" y="28"/>
                      </a:cxn>
                    </a:cxnLst>
                    <a:rect l="0" t="0" r="r" b="b"/>
                    <a:pathLst>
                      <a:path w="302" h="84">
                        <a:moveTo>
                          <a:pt x="286" y="16"/>
                        </a:moveTo>
                        <a:lnTo>
                          <a:pt x="286" y="16"/>
                        </a:lnTo>
                        <a:lnTo>
                          <a:pt x="278" y="16"/>
                        </a:lnTo>
                        <a:lnTo>
                          <a:pt x="272" y="20"/>
                        </a:lnTo>
                        <a:lnTo>
                          <a:pt x="270" y="26"/>
                        </a:lnTo>
                        <a:lnTo>
                          <a:pt x="268" y="32"/>
                        </a:lnTo>
                        <a:lnTo>
                          <a:pt x="268" y="52"/>
                        </a:lnTo>
                        <a:lnTo>
                          <a:pt x="302" y="52"/>
                        </a:lnTo>
                        <a:lnTo>
                          <a:pt x="302" y="32"/>
                        </a:lnTo>
                        <a:lnTo>
                          <a:pt x="302" y="32"/>
                        </a:lnTo>
                        <a:lnTo>
                          <a:pt x="302" y="26"/>
                        </a:lnTo>
                        <a:lnTo>
                          <a:pt x="298" y="20"/>
                        </a:lnTo>
                        <a:lnTo>
                          <a:pt x="292" y="16"/>
                        </a:lnTo>
                        <a:lnTo>
                          <a:pt x="286" y="16"/>
                        </a:lnTo>
                        <a:lnTo>
                          <a:pt x="286" y="16"/>
                        </a:lnTo>
                        <a:close/>
                        <a:moveTo>
                          <a:pt x="0" y="36"/>
                        </a:moveTo>
                        <a:lnTo>
                          <a:pt x="0" y="48"/>
                        </a:lnTo>
                        <a:lnTo>
                          <a:pt x="0" y="48"/>
                        </a:lnTo>
                        <a:lnTo>
                          <a:pt x="0" y="56"/>
                        </a:lnTo>
                        <a:lnTo>
                          <a:pt x="2" y="62"/>
                        </a:lnTo>
                        <a:lnTo>
                          <a:pt x="6" y="68"/>
                        </a:lnTo>
                        <a:lnTo>
                          <a:pt x="10" y="74"/>
                        </a:lnTo>
                        <a:lnTo>
                          <a:pt x="16" y="78"/>
                        </a:lnTo>
                        <a:lnTo>
                          <a:pt x="24" y="80"/>
                        </a:lnTo>
                        <a:lnTo>
                          <a:pt x="30" y="82"/>
                        </a:lnTo>
                        <a:lnTo>
                          <a:pt x="38" y="84"/>
                        </a:lnTo>
                        <a:lnTo>
                          <a:pt x="192" y="84"/>
                        </a:lnTo>
                        <a:lnTo>
                          <a:pt x="192" y="84"/>
                        </a:lnTo>
                        <a:lnTo>
                          <a:pt x="194" y="74"/>
                        </a:lnTo>
                        <a:lnTo>
                          <a:pt x="200" y="66"/>
                        </a:lnTo>
                        <a:lnTo>
                          <a:pt x="206" y="60"/>
                        </a:lnTo>
                        <a:lnTo>
                          <a:pt x="214" y="56"/>
                        </a:lnTo>
                        <a:lnTo>
                          <a:pt x="214" y="32"/>
                        </a:lnTo>
                        <a:lnTo>
                          <a:pt x="214" y="32"/>
                        </a:lnTo>
                        <a:lnTo>
                          <a:pt x="216" y="16"/>
                        </a:lnTo>
                        <a:lnTo>
                          <a:pt x="222" y="0"/>
                        </a:lnTo>
                        <a:lnTo>
                          <a:pt x="38" y="0"/>
                        </a:lnTo>
                        <a:lnTo>
                          <a:pt x="38" y="0"/>
                        </a:lnTo>
                        <a:lnTo>
                          <a:pt x="30" y="0"/>
                        </a:lnTo>
                        <a:lnTo>
                          <a:pt x="24" y="2"/>
                        </a:lnTo>
                        <a:lnTo>
                          <a:pt x="16" y="6"/>
                        </a:lnTo>
                        <a:lnTo>
                          <a:pt x="10" y="10"/>
                        </a:lnTo>
                        <a:lnTo>
                          <a:pt x="6" y="16"/>
                        </a:lnTo>
                        <a:lnTo>
                          <a:pt x="2" y="22"/>
                        </a:lnTo>
                        <a:lnTo>
                          <a:pt x="0" y="28"/>
                        </a:lnTo>
                        <a:lnTo>
                          <a:pt x="0" y="36"/>
                        </a:lnTo>
                        <a:lnTo>
                          <a:pt x="0" y="36"/>
                        </a:lnTo>
                        <a:close/>
                        <a:moveTo>
                          <a:pt x="48" y="28"/>
                        </a:moveTo>
                        <a:lnTo>
                          <a:pt x="48" y="28"/>
                        </a:lnTo>
                        <a:lnTo>
                          <a:pt x="54" y="30"/>
                        </a:lnTo>
                        <a:lnTo>
                          <a:pt x="58" y="32"/>
                        </a:lnTo>
                        <a:lnTo>
                          <a:pt x="60" y="36"/>
                        </a:lnTo>
                        <a:lnTo>
                          <a:pt x="62" y="42"/>
                        </a:lnTo>
                        <a:lnTo>
                          <a:pt x="62" y="42"/>
                        </a:lnTo>
                        <a:lnTo>
                          <a:pt x="60" y="48"/>
                        </a:lnTo>
                        <a:lnTo>
                          <a:pt x="58" y="52"/>
                        </a:lnTo>
                        <a:lnTo>
                          <a:pt x="54" y="54"/>
                        </a:lnTo>
                        <a:lnTo>
                          <a:pt x="48" y="56"/>
                        </a:lnTo>
                        <a:lnTo>
                          <a:pt x="48" y="56"/>
                        </a:lnTo>
                        <a:lnTo>
                          <a:pt x="44" y="54"/>
                        </a:lnTo>
                        <a:lnTo>
                          <a:pt x="38" y="52"/>
                        </a:lnTo>
                        <a:lnTo>
                          <a:pt x="36" y="48"/>
                        </a:lnTo>
                        <a:lnTo>
                          <a:pt x="34" y="42"/>
                        </a:lnTo>
                        <a:lnTo>
                          <a:pt x="34" y="42"/>
                        </a:lnTo>
                        <a:lnTo>
                          <a:pt x="36" y="36"/>
                        </a:lnTo>
                        <a:lnTo>
                          <a:pt x="38" y="32"/>
                        </a:lnTo>
                        <a:lnTo>
                          <a:pt x="44" y="30"/>
                        </a:lnTo>
                        <a:lnTo>
                          <a:pt x="48" y="28"/>
                        </a:lnTo>
                        <a:lnTo>
                          <a:pt x="48" y="28"/>
                        </a:lnTo>
                        <a:close/>
                      </a:path>
                    </a:pathLst>
                  </a:custGeom>
                  <a:grpFill/>
                  <a:ln w="9525">
                    <a:solidFill>
                      <a:srgbClr val="7F7F7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defTabSz="914034"/>
                    <a:endParaRPr lang="zh-CN" altLang="en-US" sz="1799" kern="0" dirty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316" name="Freeform 48">
                    <a:extLst>
                      <a:ext uri="{FF2B5EF4-FFF2-40B4-BE49-F238E27FC236}">
                        <a16:creationId xmlns:a16="http://schemas.microsoft.com/office/drawing/2014/main" id="{D690DC01-09E0-4195-8706-91B9E9EE19E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674313" y="4102115"/>
                    <a:ext cx="286403" cy="75181"/>
                  </a:xfrm>
                  <a:custGeom>
                    <a:avLst/>
                    <a:gdLst/>
                    <a:ahLst/>
                    <a:cxnLst>
                      <a:cxn ang="0">
                        <a:pos x="286" y="62"/>
                      </a:cxn>
                      <a:cxn ang="0">
                        <a:pos x="314" y="68"/>
                      </a:cxn>
                      <a:cxn ang="0">
                        <a:pos x="318" y="60"/>
                      </a:cxn>
                      <a:cxn ang="0">
                        <a:pos x="320" y="36"/>
                      </a:cxn>
                      <a:cxn ang="0">
                        <a:pos x="320" y="28"/>
                      </a:cxn>
                      <a:cxn ang="0">
                        <a:pos x="314" y="16"/>
                      </a:cxn>
                      <a:cxn ang="0">
                        <a:pos x="304" y="6"/>
                      </a:cxn>
                      <a:cxn ang="0">
                        <a:pos x="290" y="2"/>
                      </a:cxn>
                      <a:cxn ang="0">
                        <a:pos x="38" y="0"/>
                      </a:cxn>
                      <a:cxn ang="0">
                        <a:pos x="30" y="2"/>
                      </a:cxn>
                      <a:cxn ang="0">
                        <a:pos x="16" y="6"/>
                      </a:cxn>
                      <a:cxn ang="0">
                        <a:pos x="6" y="16"/>
                      </a:cxn>
                      <a:cxn ang="0">
                        <a:pos x="0" y="28"/>
                      </a:cxn>
                      <a:cxn ang="0">
                        <a:pos x="0" y="48"/>
                      </a:cxn>
                      <a:cxn ang="0">
                        <a:pos x="0" y="56"/>
                      </a:cxn>
                      <a:cxn ang="0">
                        <a:pos x="6" y="68"/>
                      </a:cxn>
                      <a:cxn ang="0">
                        <a:pos x="16" y="78"/>
                      </a:cxn>
                      <a:cxn ang="0">
                        <a:pos x="30" y="84"/>
                      </a:cxn>
                      <a:cxn ang="0">
                        <a:pos x="234" y="84"/>
                      </a:cxn>
                      <a:cxn ang="0">
                        <a:pos x="244" y="74"/>
                      </a:cxn>
                      <a:cxn ang="0">
                        <a:pos x="270" y="64"/>
                      </a:cxn>
                      <a:cxn ang="0">
                        <a:pos x="286" y="62"/>
                      </a:cxn>
                      <a:cxn ang="0">
                        <a:pos x="48" y="56"/>
                      </a:cxn>
                      <a:cxn ang="0">
                        <a:pos x="38" y="52"/>
                      </a:cxn>
                      <a:cxn ang="0">
                        <a:pos x="34" y="42"/>
                      </a:cxn>
                      <a:cxn ang="0">
                        <a:pos x="36" y="36"/>
                      </a:cxn>
                      <a:cxn ang="0">
                        <a:pos x="44" y="30"/>
                      </a:cxn>
                      <a:cxn ang="0">
                        <a:pos x="48" y="28"/>
                      </a:cxn>
                      <a:cxn ang="0">
                        <a:pos x="58" y="32"/>
                      </a:cxn>
                      <a:cxn ang="0">
                        <a:pos x="62" y="42"/>
                      </a:cxn>
                      <a:cxn ang="0">
                        <a:pos x="60" y="48"/>
                      </a:cxn>
                      <a:cxn ang="0">
                        <a:pos x="54" y="54"/>
                      </a:cxn>
                      <a:cxn ang="0">
                        <a:pos x="48" y="56"/>
                      </a:cxn>
                    </a:cxnLst>
                    <a:rect l="0" t="0" r="r" b="b"/>
                    <a:pathLst>
                      <a:path w="320" h="84">
                        <a:moveTo>
                          <a:pt x="286" y="62"/>
                        </a:moveTo>
                        <a:lnTo>
                          <a:pt x="286" y="62"/>
                        </a:lnTo>
                        <a:lnTo>
                          <a:pt x="300" y="64"/>
                        </a:lnTo>
                        <a:lnTo>
                          <a:pt x="314" y="68"/>
                        </a:lnTo>
                        <a:lnTo>
                          <a:pt x="314" y="68"/>
                        </a:lnTo>
                        <a:lnTo>
                          <a:pt x="318" y="60"/>
                        </a:lnTo>
                        <a:lnTo>
                          <a:pt x="320" y="48"/>
                        </a:lnTo>
                        <a:lnTo>
                          <a:pt x="320" y="36"/>
                        </a:lnTo>
                        <a:lnTo>
                          <a:pt x="320" y="36"/>
                        </a:lnTo>
                        <a:lnTo>
                          <a:pt x="320" y="28"/>
                        </a:lnTo>
                        <a:lnTo>
                          <a:pt x="318" y="22"/>
                        </a:lnTo>
                        <a:lnTo>
                          <a:pt x="314" y="16"/>
                        </a:lnTo>
                        <a:lnTo>
                          <a:pt x="308" y="10"/>
                        </a:lnTo>
                        <a:lnTo>
                          <a:pt x="304" y="6"/>
                        </a:lnTo>
                        <a:lnTo>
                          <a:pt x="296" y="4"/>
                        </a:lnTo>
                        <a:lnTo>
                          <a:pt x="290" y="2"/>
                        </a:lnTo>
                        <a:lnTo>
                          <a:pt x="282" y="0"/>
                        </a:lnTo>
                        <a:lnTo>
                          <a:pt x="38" y="0"/>
                        </a:lnTo>
                        <a:lnTo>
                          <a:pt x="38" y="0"/>
                        </a:lnTo>
                        <a:lnTo>
                          <a:pt x="30" y="2"/>
                        </a:lnTo>
                        <a:lnTo>
                          <a:pt x="24" y="4"/>
                        </a:lnTo>
                        <a:lnTo>
                          <a:pt x="16" y="6"/>
                        </a:lnTo>
                        <a:lnTo>
                          <a:pt x="10" y="10"/>
                        </a:lnTo>
                        <a:lnTo>
                          <a:pt x="6" y="16"/>
                        </a:lnTo>
                        <a:lnTo>
                          <a:pt x="2" y="22"/>
                        </a:lnTo>
                        <a:lnTo>
                          <a:pt x="0" y="28"/>
                        </a:lnTo>
                        <a:lnTo>
                          <a:pt x="0" y="36"/>
                        </a:lnTo>
                        <a:lnTo>
                          <a:pt x="0" y="48"/>
                        </a:lnTo>
                        <a:lnTo>
                          <a:pt x="0" y="48"/>
                        </a:lnTo>
                        <a:lnTo>
                          <a:pt x="0" y="56"/>
                        </a:lnTo>
                        <a:lnTo>
                          <a:pt x="2" y="62"/>
                        </a:lnTo>
                        <a:lnTo>
                          <a:pt x="6" y="68"/>
                        </a:lnTo>
                        <a:lnTo>
                          <a:pt x="10" y="74"/>
                        </a:lnTo>
                        <a:lnTo>
                          <a:pt x="16" y="78"/>
                        </a:lnTo>
                        <a:lnTo>
                          <a:pt x="24" y="82"/>
                        </a:lnTo>
                        <a:lnTo>
                          <a:pt x="30" y="84"/>
                        </a:lnTo>
                        <a:lnTo>
                          <a:pt x="38" y="84"/>
                        </a:lnTo>
                        <a:lnTo>
                          <a:pt x="234" y="84"/>
                        </a:lnTo>
                        <a:lnTo>
                          <a:pt x="234" y="84"/>
                        </a:lnTo>
                        <a:lnTo>
                          <a:pt x="244" y="74"/>
                        </a:lnTo>
                        <a:lnTo>
                          <a:pt x="256" y="68"/>
                        </a:lnTo>
                        <a:lnTo>
                          <a:pt x="270" y="64"/>
                        </a:lnTo>
                        <a:lnTo>
                          <a:pt x="286" y="62"/>
                        </a:lnTo>
                        <a:lnTo>
                          <a:pt x="286" y="62"/>
                        </a:lnTo>
                        <a:close/>
                        <a:moveTo>
                          <a:pt x="48" y="56"/>
                        </a:moveTo>
                        <a:lnTo>
                          <a:pt x="48" y="56"/>
                        </a:lnTo>
                        <a:lnTo>
                          <a:pt x="44" y="54"/>
                        </a:lnTo>
                        <a:lnTo>
                          <a:pt x="38" y="52"/>
                        </a:lnTo>
                        <a:lnTo>
                          <a:pt x="36" y="48"/>
                        </a:lnTo>
                        <a:lnTo>
                          <a:pt x="34" y="42"/>
                        </a:lnTo>
                        <a:lnTo>
                          <a:pt x="34" y="42"/>
                        </a:lnTo>
                        <a:lnTo>
                          <a:pt x="36" y="36"/>
                        </a:lnTo>
                        <a:lnTo>
                          <a:pt x="38" y="32"/>
                        </a:lnTo>
                        <a:lnTo>
                          <a:pt x="44" y="30"/>
                        </a:lnTo>
                        <a:lnTo>
                          <a:pt x="48" y="28"/>
                        </a:lnTo>
                        <a:lnTo>
                          <a:pt x="48" y="28"/>
                        </a:lnTo>
                        <a:lnTo>
                          <a:pt x="54" y="30"/>
                        </a:lnTo>
                        <a:lnTo>
                          <a:pt x="58" y="32"/>
                        </a:lnTo>
                        <a:lnTo>
                          <a:pt x="60" y="36"/>
                        </a:lnTo>
                        <a:lnTo>
                          <a:pt x="62" y="42"/>
                        </a:lnTo>
                        <a:lnTo>
                          <a:pt x="62" y="42"/>
                        </a:lnTo>
                        <a:lnTo>
                          <a:pt x="60" y="48"/>
                        </a:lnTo>
                        <a:lnTo>
                          <a:pt x="58" y="52"/>
                        </a:lnTo>
                        <a:lnTo>
                          <a:pt x="54" y="54"/>
                        </a:lnTo>
                        <a:lnTo>
                          <a:pt x="48" y="56"/>
                        </a:lnTo>
                        <a:lnTo>
                          <a:pt x="48" y="56"/>
                        </a:lnTo>
                        <a:close/>
                      </a:path>
                    </a:pathLst>
                  </a:custGeom>
                  <a:grpFill/>
                  <a:ln w="9525">
                    <a:solidFill>
                      <a:srgbClr val="7F7F7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317" name="Freeform 49">
                    <a:extLst>
                      <a:ext uri="{FF2B5EF4-FFF2-40B4-BE49-F238E27FC236}">
                        <a16:creationId xmlns:a16="http://schemas.microsoft.com/office/drawing/2014/main" id="{8280E6AA-AEFF-4BA7-85B4-81D37E2879F2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7858685" y="4254267"/>
                    <a:ext cx="143201" cy="103821"/>
                  </a:xfrm>
                  <a:custGeom>
                    <a:avLst/>
                    <a:gdLst/>
                    <a:ahLst/>
                    <a:cxnLst>
                      <a:cxn ang="0">
                        <a:pos x="22" y="0"/>
                      </a:cxn>
                      <a:cxn ang="0">
                        <a:pos x="14" y="2"/>
                      </a:cxn>
                      <a:cxn ang="0">
                        <a:pos x="2" y="14"/>
                      </a:cxn>
                      <a:cxn ang="0">
                        <a:pos x="0" y="94"/>
                      </a:cxn>
                      <a:cxn ang="0">
                        <a:pos x="2" y="102"/>
                      </a:cxn>
                      <a:cxn ang="0">
                        <a:pos x="14" y="114"/>
                      </a:cxn>
                      <a:cxn ang="0">
                        <a:pos x="136" y="116"/>
                      </a:cxn>
                      <a:cxn ang="0">
                        <a:pos x="146" y="114"/>
                      </a:cxn>
                      <a:cxn ang="0">
                        <a:pos x="158" y="102"/>
                      </a:cxn>
                      <a:cxn ang="0">
                        <a:pos x="160" y="22"/>
                      </a:cxn>
                      <a:cxn ang="0">
                        <a:pos x="158" y="14"/>
                      </a:cxn>
                      <a:cxn ang="0">
                        <a:pos x="146" y="2"/>
                      </a:cxn>
                      <a:cxn ang="0">
                        <a:pos x="136" y="0"/>
                      </a:cxn>
                      <a:cxn ang="0">
                        <a:pos x="28" y="26"/>
                      </a:cxn>
                      <a:cxn ang="0">
                        <a:pos x="26" y="92"/>
                      </a:cxn>
                      <a:cxn ang="0">
                        <a:pos x="24" y="96"/>
                      </a:cxn>
                      <a:cxn ang="0">
                        <a:pos x="20" y="96"/>
                      </a:cxn>
                      <a:cxn ang="0">
                        <a:pos x="14" y="92"/>
                      </a:cxn>
                      <a:cxn ang="0">
                        <a:pos x="14" y="28"/>
                      </a:cxn>
                      <a:cxn ang="0">
                        <a:pos x="18" y="18"/>
                      </a:cxn>
                      <a:cxn ang="0">
                        <a:pos x="28" y="16"/>
                      </a:cxn>
                      <a:cxn ang="0">
                        <a:pos x="30" y="16"/>
                      </a:cxn>
                      <a:cxn ang="0">
                        <a:pos x="32" y="20"/>
                      </a:cxn>
                      <a:cxn ang="0">
                        <a:pos x="28" y="26"/>
                      </a:cxn>
                      <a:cxn ang="0">
                        <a:pos x="88" y="58"/>
                      </a:cxn>
                      <a:cxn ang="0">
                        <a:pos x="88" y="78"/>
                      </a:cxn>
                      <a:cxn ang="0">
                        <a:pos x="86" y="84"/>
                      </a:cxn>
                      <a:cxn ang="0">
                        <a:pos x="80" y="88"/>
                      </a:cxn>
                      <a:cxn ang="0">
                        <a:pos x="76" y="86"/>
                      </a:cxn>
                      <a:cxn ang="0">
                        <a:pos x="70" y="82"/>
                      </a:cxn>
                      <a:cxn ang="0">
                        <a:pos x="70" y="58"/>
                      </a:cxn>
                      <a:cxn ang="0">
                        <a:pos x="66" y="54"/>
                      </a:cxn>
                      <a:cxn ang="0">
                        <a:pos x="64" y="46"/>
                      </a:cxn>
                      <a:cxn ang="0">
                        <a:pos x="68" y="34"/>
                      </a:cxn>
                      <a:cxn ang="0">
                        <a:pos x="80" y="30"/>
                      </a:cxn>
                      <a:cxn ang="0">
                        <a:pos x="86" y="32"/>
                      </a:cxn>
                      <a:cxn ang="0">
                        <a:pos x="94" y="40"/>
                      </a:cxn>
                      <a:cxn ang="0">
                        <a:pos x="96" y="46"/>
                      </a:cxn>
                      <a:cxn ang="0">
                        <a:pos x="88" y="58"/>
                      </a:cxn>
                    </a:cxnLst>
                    <a:rect l="0" t="0" r="r" b="b"/>
                    <a:pathLst>
                      <a:path w="160" h="116">
                        <a:moveTo>
                          <a:pt x="136" y="0"/>
                        </a:moveTo>
                        <a:lnTo>
                          <a:pt x="22" y="0"/>
                        </a:lnTo>
                        <a:lnTo>
                          <a:pt x="22" y="0"/>
                        </a:lnTo>
                        <a:lnTo>
                          <a:pt x="14" y="2"/>
                        </a:lnTo>
                        <a:lnTo>
                          <a:pt x="6" y="8"/>
                        </a:lnTo>
                        <a:lnTo>
                          <a:pt x="2" y="14"/>
                        </a:lnTo>
                        <a:lnTo>
                          <a:pt x="0" y="22"/>
                        </a:lnTo>
                        <a:lnTo>
                          <a:pt x="0" y="94"/>
                        </a:lnTo>
                        <a:lnTo>
                          <a:pt x="0" y="94"/>
                        </a:lnTo>
                        <a:lnTo>
                          <a:pt x="2" y="102"/>
                        </a:lnTo>
                        <a:lnTo>
                          <a:pt x="6" y="110"/>
                        </a:lnTo>
                        <a:lnTo>
                          <a:pt x="14" y="114"/>
                        </a:lnTo>
                        <a:lnTo>
                          <a:pt x="22" y="116"/>
                        </a:lnTo>
                        <a:lnTo>
                          <a:pt x="136" y="116"/>
                        </a:lnTo>
                        <a:lnTo>
                          <a:pt x="136" y="116"/>
                        </a:lnTo>
                        <a:lnTo>
                          <a:pt x="146" y="114"/>
                        </a:lnTo>
                        <a:lnTo>
                          <a:pt x="152" y="110"/>
                        </a:lnTo>
                        <a:lnTo>
                          <a:pt x="158" y="102"/>
                        </a:lnTo>
                        <a:lnTo>
                          <a:pt x="160" y="94"/>
                        </a:lnTo>
                        <a:lnTo>
                          <a:pt x="160" y="22"/>
                        </a:lnTo>
                        <a:lnTo>
                          <a:pt x="160" y="22"/>
                        </a:lnTo>
                        <a:lnTo>
                          <a:pt x="158" y="14"/>
                        </a:lnTo>
                        <a:lnTo>
                          <a:pt x="152" y="8"/>
                        </a:lnTo>
                        <a:lnTo>
                          <a:pt x="146" y="2"/>
                        </a:lnTo>
                        <a:lnTo>
                          <a:pt x="136" y="0"/>
                        </a:lnTo>
                        <a:lnTo>
                          <a:pt x="136" y="0"/>
                        </a:lnTo>
                        <a:close/>
                        <a:moveTo>
                          <a:pt x="28" y="26"/>
                        </a:moveTo>
                        <a:lnTo>
                          <a:pt x="28" y="26"/>
                        </a:lnTo>
                        <a:lnTo>
                          <a:pt x="26" y="28"/>
                        </a:lnTo>
                        <a:lnTo>
                          <a:pt x="26" y="92"/>
                        </a:lnTo>
                        <a:lnTo>
                          <a:pt x="26" y="92"/>
                        </a:lnTo>
                        <a:lnTo>
                          <a:pt x="24" y="96"/>
                        </a:lnTo>
                        <a:lnTo>
                          <a:pt x="20" y="96"/>
                        </a:lnTo>
                        <a:lnTo>
                          <a:pt x="20" y="96"/>
                        </a:lnTo>
                        <a:lnTo>
                          <a:pt x="16" y="96"/>
                        </a:lnTo>
                        <a:lnTo>
                          <a:pt x="14" y="92"/>
                        </a:lnTo>
                        <a:lnTo>
                          <a:pt x="14" y="28"/>
                        </a:lnTo>
                        <a:lnTo>
                          <a:pt x="14" y="28"/>
                        </a:lnTo>
                        <a:lnTo>
                          <a:pt x="16" y="22"/>
                        </a:lnTo>
                        <a:lnTo>
                          <a:pt x="18" y="18"/>
                        </a:lnTo>
                        <a:lnTo>
                          <a:pt x="22" y="16"/>
                        </a:lnTo>
                        <a:lnTo>
                          <a:pt x="28" y="16"/>
                        </a:lnTo>
                        <a:lnTo>
                          <a:pt x="28" y="16"/>
                        </a:lnTo>
                        <a:lnTo>
                          <a:pt x="30" y="16"/>
                        </a:lnTo>
                        <a:lnTo>
                          <a:pt x="32" y="20"/>
                        </a:lnTo>
                        <a:lnTo>
                          <a:pt x="32" y="20"/>
                        </a:lnTo>
                        <a:lnTo>
                          <a:pt x="30" y="24"/>
                        </a:lnTo>
                        <a:lnTo>
                          <a:pt x="28" y="26"/>
                        </a:lnTo>
                        <a:lnTo>
                          <a:pt x="28" y="26"/>
                        </a:lnTo>
                        <a:close/>
                        <a:moveTo>
                          <a:pt x="88" y="58"/>
                        </a:moveTo>
                        <a:lnTo>
                          <a:pt x="88" y="78"/>
                        </a:lnTo>
                        <a:lnTo>
                          <a:pt x="88" y="78"/>
                        </a:lnTo>
                        <a:lnTo>
                          <a:pt x="88" y="82"/>
                        </a:lnTo>
                        <a:lnTo>
                          <a:pt x="86" y="84"/>
                        </a:lnTo>
                        <a:lnTo>
                          <a:pt x="84" y="86"/>
                        </a:lnTo>
                        <a:lnTo>
                          <a:pt x="80" y="88"/>
                        </a:lnTo>
                        <a:lnTo>
                          <a:pt x="80" y="88"/>
                        </a:lnTo>
                        <a:lnTo>
                          <a:pt x="76" y="86"/>
                        </a:lnTo>
                        <a:lnTo>
                          <a:pt x="72" y="84"/>
                        </a:lnTo>
                        <a:lnTo>
                          <a:pt x="70" y="82"/>
                        </a:lnTo>
                        <a:lnTo>
                          <a:pt x="70" y="78"/>
                        </a:lnTo>
                        <a:lnTo>
                          <a:pt x="70" y="58"/>
                        </a:lnTo>
                        <a:lnTo>
                          <a:pt x="70" y="58"/>
                        </a:lnTo>
                        <a:lnTo>
                          <a:pt x="66" y="54"/>
                        </a:lnTo>
                        <a:lnTo>
                          <a:pt x="64" y="46"/>
                        </a:lnTo>
                        <a:lnTo>
                          <a:pt x="64" y="46"/>
                        </a:lnTo>
                        <a:lnTo>
                          <a:pt x="64" y="40"/>
                        </a:lnTo>
                        <a:lnTo>
                          <a:pt x="68" y="34"/>
                        </a:lnTo>
                        <a:lnTo>
                          <a:pt x="74" y="32"/>
                        </a:lnTo>
                        <a:lnTo>
                          <a:pt x="80" y="30"/>
                        </a:lnTo>
                        <a:lnTo>
                          <a:pt x="80" y="30"/>
                        </a:lnTo>
                        <a:lnTo>
                          <a:pt x="86" y="32"/>
                        </a:lnTo>
                        <a:lnTo>
                          <a:pt x="90" y="34"/>
                        </a:lnTo>
                        <a:lnTo>
                          <a:pt x="94" y="40"/>
                        </a:lnTo>
                        <a:lnTo>
                          <a:pt x="96" y="46"/>
                        </a:lnTo>
                        <a:lnTo>
                          <a:pt x="96" y="46"/>
                        </a:lnTo>
                        <a:lnTo>
                          <a:pt x="94" y="54"/>
                        </a:lnTo>
                        <a:lnTo>
                          <a:pt x="88" y="58"/>
                        </a:lnTo>
                        <a:lnTo>
                          <a:pt x="88" y="58"/>
                        </a:lnTo>
                        <a:close/>
                      </a:path>
                    </a:pathLst>
                  </a:custGeom>
                  <a:grpFill/>
                  <a:ln w="9525">
                    <a:solidFill>
                      <a:srgbClr val="7F7F7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  <p:sp>
                <p:nvSpPr>
                  <p:cNvPr id="318" name="Freeform 50">
                    <a:extLst>
                      <a:ext uri="{FF2B5EF4-FFF2-40B4-BE49-F238E27FC236}">
                        <a16:creationId xmlns:a16="http://schemas.microsoft.com/office/drawing/2014/main" id="{84B6D6F4-9939-490C-8BA2-4A142476EE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878375" y="4173716"/>
                    <a:ext cx="102031" cy="73391"/>
                  </a:xfrm>
                  <a:custGeom>
                    <a:avLst/>
                    <a:gdLst/>
                    <a:ahLst/>
                    <a:cxnLst>
                      <a:cxn ang="0">
                        <a:pos x="26" y="56"/>
                      </a:cxn>
                      <a:cxn ang="0">
                        <a:pos x="26" y="56"/>
                      </a:cxn>
                      <a:cxn ang="0">
                        <a:pos x="26" y="50"/>
                      </a:cxn>
                      <a:cxn ang="0">
                        <a:pos x="28" y="44"/>
                      </a:cxn>
                      <a:cxn ang="0">
                        <a:pos x="36" y="34"/>
                      </a:cxn>
                      <a:cxn ang="0">
                        <a:pos x="46" y="28"/>
                      </a:cxn>
                      <a:cxn ang="0">
                        <a:pos x="52" y="26"/>
                      </a:cxn>
                      <a:cxn ang="0">
                        <a:pos x="58" y="26"/>
                      </a:cxn>
                      <a:cxn ang="0">
                        <a:pos x="58" y="26"/>
                      </a:cxn>
                      <a:cxn ang="0">
                        <a:pos x="64" y="26"/>
                      </a:cxn>
                      <a:cxn ang="0">
                        <a:pos x="70" y="28"/>
                      </a:cxn>
                      <a:cxn ang="0">
                        <a:pos x="80" y="34"/>
                      </a:cxn>
                      <a:cxn ang="0">
                        <a:pos x="86" y="44"/>
                      </a:cxn>
                      <a:cxn ang="0">
                        <a:pos x="88" y="50"/>
                      </a:cxn>
                      <a:cxn ang="0">
                        <a:pos x="88" y="56"/>
                      </a:cxn>
                      <a:cxn ang="0">
                        <a:pos x="88" y="82"/>
                      </a:cxn>
                      <a:cxn ang="0">
                        <a:pos x="114" y="82"/>
                      </a:cxn>
                      <a:cxn ang="0">
                        <a:pos x="114" y="56"/>
                      </a:cxn>
                      <a:cxn ang="0">
                        <a:pos x="114" y="56"/>
                      </a:cxn>
                      <a:cxn ang="0">
                        <a:pos x="112" y="46"/>
                      </a:cxn>
                      <a:cxn ang="0">
                        <a:pos x="110" y="34"/>
                      </a:cxn>
                      <a:cxn ang="0">
                        <a:pos x="104" y="26"/>
                      </a:cxn>
                      <a:cxn ang="0">
                        <a:pos x="98" y="16"/>
                      </a:cxn>
                      <a:cxn ang="0">
                        <a:pos x="90" y="10"/>
                      </a:cxn>
                      <a:cxn ang="0">
                        <a:pos x="80" y="4"/>
                      </a:cxn>
                      <a:cxn ang="0">
                        <a:pos x="68" y="2"/>
                      </a:cxn>
                      <a:cxn ang="0">
                        <a:pos x="58" y="0"/>
                      </a:cxn>
                      <a:cxn ang="0">
                        <a:pos x="58" y="0"/>
                      </a:cxn>
                      <a:cxn ang="0">
                        <a:pos x="46" y="2"/>
                      </a:cxn>
                      <a:cxn ang="0">
                        <a:pos x="36" y="4"/>
                      </a:cxn>
                      <a:cxn ang="0">
                        <a:pos x="26" y="10"/>
                      </a:cxn>
                      <a:cxn ang="0">
                        <a:pos x="18" y="16"/>
                      </a:cxn>
                      <a:cxn ang="0">
                        <a:pos x="10" y="26"/>
                      </a:cxn>
                      <a:cxn ang="0">
                        <a:pos x="6" y="34"/>
                      </a:cxn>
                      <a:cxn ang="0">
                        <a:pos x="2" y="46"/>
                      </a:cxn>
                      <a:cxn ang="0">
                        <a:pos x="0" y="56"/>
                      </a:cxn>
                      <a:cxn ang="0">
                        <a:pos x="0" y="82"/>
                      </a:cxn>
                      <a:cxn ang="0">
                        <a:pos x="26" y="82"/>
                      </a:cxn>
                      <a:cxn ang="0">
                        <a:pos x="26" y="56"/>
                      </a:cxn>
                    </a:cxnLst>
                    <a:rect l="0" t="0" r="r" b="b"/>
                    <a:pathLst>
                      <a:path w="114" h="82">
                        <a:moveTo>
                          <a:pt x="26" y="56"/>
                        </a:moveTo>
                        <a:lnTo>
                          <a:pt x="26" y="56"/>
                        </a:lnTo>
                        <a:lnTo>
                          <a:pt x="26" y="50"/>
                        </a:lnTo>
                        <a:lnTo>
                          <a:pt x="28" y="44"/>
                        </a:lnTo>
                        <a:lnTo>
                          <a:pt x="36" y="34"/>
                        </a:lnTo>
                        <a:lnTo>
                          <a:pt x="46" y="28"/>
                        </a:lnTo>
                        <a:lnTo>
                          <a:pt x="52" y="26"/>
                        </a:lnTo>
                        <a:lnTo>
                          <a:pt x="58" y="26"/>
                        </a:lnTo>
                        <a:lnTo>
                          <a:pt x="58" y="26"/>
                        </a:lnTo>
                        <a:lnTo>
                          <a:pt x="64" y="26"/>
                        </a:lnTo>
                        <a:lnTo>
                          <a:pt x="70" y="28"/>
                        </a:lnTo>
                        <a:lnTo>
                          <a:pt x="80" y="34"/>
                        </a:lnTo>
                        <a:lnTo>
                          <a:pt x="86" y="44"/>
                        </a:lnTo>
                        <a:lnTo>
                          <a:pt x="88" y="50"/>
                        </a:lnTo>
                        <a:lnTo>
                          <a:pt x="88" y="56"/>
                        </a:lnTo>
                        <a:lnTo>
                          <a:pt x="88" y="82"/>
                        </a:lnTo>
                        <a:lnTo>
                          <a:pt x="114" y="82"/>
                        </a:lnTo>
                        <a:lnTo>
                          <a:pt x="114" y="56"/>
                        </a:lnTo>
                        <a:lnTo>
                          <a:pt x="114" y="56"/>
                        </a:lnTo>
                        <a:lnTo>
                          <a:pt x="112" y="46"/>
                        </a:lnTo>
                        <a:lnTo>
                          <a:pt x="110" y="34"/>
                        </a:lnTo>
                        <a:lnTo>
                          <a:pt x="104" y="26"/>
                        </a:lnTo>
                        <a:lnTo>
                          <a:pt x="98" y="16"/>
                        </a:lnTo>
                        <a:lnTo>
                          <a:pt x="90" y="10"/>
                        </a:lnTo>
                        <a:lnTo>
                          <a:pt x="80" y="4"/>
                        </a:lnTo>
                        <a:lnTo>
                          <a:pt x="68" y="2"/>
                        </a:lnTo>
                        <a:lnTo>
                          <a:pt x="58" y="0"/>
                        </a:lnTo>
                        <a:lnTo>
                          <a:pt x="58" y="0"/>
                        </a:lnTo>
                        <a:lnTo>
                          <a:pt x="46" y="2"/>
                        </a:lnTo>
                        <a:lnTo>
                          <a:pt x="36" y="4"/>
                        </a:lnTo>
                        <a:lnTo>
                          <a:pt x="26" y="10"/>
                        </a:lnTo>
                        <a:lnTo>
                          <a:pt x="18" y="16"/>
                        </a:lnTo>
                        <a:lnTo>
                          <a:pt x="10" y="26"/>
                        </a:lnTo>
                        <a:lnTo>
                          <a:pt x="6" y="34"/>
                        </a:lnTo>
                        <a:lnTo>
                          <a:pt x="2" y="46"/>
                        </a:lnTo>
                        <a:lnTo>
                          <a:pt x="0" y="56"/>
                        </a:lnTo>
                        <a:lnTo>
                          <a:pt x="0" y="82"/>
                        </a:lnTo>
                        <a:lnTo>
                          <a:pt x="26" y="82"/>
                        </a:lnTo>
                        <a:lnTo>
                          <a:pt x="26" y="56"/>
                        </a:lnTo>
                        <a:close/>
                      </a:path>
                    </a:pathLst>
                  </a:custGeom>
                  <a:grpFill/>
                  <a:ln w="9525">
                    <a:solidFill>
                      <a:srgbClr val="7F7F7F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defTabSz="914034"/>
                    <a:endParaRPr lang="zh-CN" altLang="en-US" sz="1799" kern="0">
                      <a:solidFill>
                        <a:srgbClr val="1D1D1A"/>
                      </a:solidFill>
                      <a:latin typeface="Calibri" panose="020F0502020204030204"/>
                      <a:ea typeface="等线" panose="02010600030101010101" pitchFamily="2" charset="-122"/>
                    </a:endParaRPr>
                  </a:p>
                </p:txBody>
              </p:sp>
            </p:grpSp>
            <p:sp>
              <p:nvSpPr>
                <p:cNvPr id="313" name="椭圆 312">
                  <a:extLst>
                    <a:ext uri="{FF2B5EF4-FFF2-40B4-BE49-F238E27FC236}">
                      <a16:creationId xmlns:a16="http://schemas.microsoft.com/office/drawing/2014/main" id="{B3FA6EAA-DD45-4E2A-8A1E-C491889805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293063" y="3899732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319" name="组合 318">
              <a:extLst>
                <a:ext uri="{FF2B5EF4-FFF2-40B4-BE49-F238E27FC236}">
                  <a16:creationId xmlns:a16="http://schemas.microsoft.com/office/drawing/2014/main" id="{94DD2249-E8A2-460B-A85D-958D8E8ECA51}"/>
                </a:ext>
              </a:extLst>
            </p:cNvPr>
            <p:cNvGrpSpPr/>
            <p:nvPr/>
          </p:nvGrpSpPr>
          <p:grpSpPr>
            <a:xfrm>
              <a:off x="7563779" y="3955781"/>
              <a:ext cx="3915189" cy="731520"/>
              <a:chOff x="7563779" y="5205182"/>
              <a:chExt cx="3915189" cy="731520"/>
            </a:xfrm>
          </p:grpSpPr>
          <p:sp>
            <p:nvSpPr>
              <p:cNvPr id="320" name="矩形 319">
                <a:extLst>
                  <a:ext uri="{FF2B5EF4-FFF2-40B4-BE49-F238E27FC236}">
                    <a16:creationId xmlns:a16="http://schemas.microsoft.com/office/drawing/2014/main" id="{DF11576A-DEED-47C5-B5E8-219E466B7C72}"/>
                  </a:ext>
                </a:extLst>
              </p:cNvPr>
              <p:cNvSpPr/>
              <p:nvPr/>
            </p:nvSpPr>
            <p:spPr>
              <a:xfrm>
                <a:off x="8187128" y="5205182"/>
                <a:ext cx="3291840" cy="731520"/>
              </a:xfrm>
              <a:prstGeom prst="rect">
                <a:avLst/>
              </a:prstGeom>
              <a:gradFill flip="none" rotWithShape="1">
                <a:gsLst>
                  <a:gs pos="38000">
                    <a:srgbClr val="666666">
                      <a:lumMod val="60000"/>
                      <a:lumOff val="40000"/>
                      <a:alpha val="2000"/>
                    </a:srgbClr>
                  </a:gs>
                  <a:gs pos="100000">
                    <a:srgbClr val="666666">
                      <a:lumMod val="60000"/>
                      <a:lumOff val="40000"/>
                      <a:alpha val="15000"/>
                    </a:srgbClr>
                  </a:gs>
                </a:gsLst>
                <a:path path="shape">
                  <a:fillToRect l="50000" t="50000" r="50000" b="50000"/>
                </a:path>
                <a:tileRect/>
              </a:gradFill>
              <a:ln w="6350" cap="flat" cmpd="sng" algn="ctr">
                <a:gradFill flip="none" rotWithShape="1">
                  <a:gsLst>
                    <a:gs pos="0">
                      <a:srgbClr val="666666">
                        <a:lumMod val="60000"/>
                        <a:lumOff val="40000"/>
                        <a:alpha val="80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40000"/>
                      </a:srgbClr>
                    </a:gs>
                  </a:gsLst>
                  <a:lin ang="0" scaled="0"/>
                  <a:tileRect/>
                </a:gra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square" lIns="0" tIns="0" rIns="0" bIns="0" anchor="ctr" anchorCtr="1"/>
              <a:lstStyle/>
              <a:p>
                <a:pPr algn="ctr" defTabSz="913623">
                  <a:spcAft>
                    <a:spcPts val="900"/>
                  </a:spcAft>
                </a:pPr>
                <a:r>
                  <a:rPr lang="zh-CN" altLang="en-US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能源</a:t>
                </a:r>
                <a:r>
                  <a:rPr lang="zh-CN" altLang="en-US" sz="1200" b="1" kern="0" spc="5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：可再生能源发电占</a:t>
                </a:r>
                <a:r>
                  <a:rPr lang="en-US" altLang="zh-CN" sz="1200" b="1" kern="0" spc="50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Arial" pitchFamily="34" charset="0"/>
                    <a:sym typeface="Arial" panose="020B0604020202020204" pitchFamily="34" charset="0"/>
                  </a:rPr>
                  <a:t>42%</a:t>
                </a:r>
              </a:p>
              <a:p>
                <a:pPr algn="ctr" defTabSz="913623">
                  <a:spcAft>
                    <a:spcPts val="900"/>
                  </a:spcAft>
                </a:pPr>
                <a:r>
                  <a:rPr kumimoji="1" lang="zh-CN" altLang="en-US" sz="900" dirty="0">
                    <a:solidFill>
                      <a:srgbClr val="666666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Wingdings" panose="05000000000000000000" pitchFamily="2" charset="2"/>
                  </a:rPr>
                  <a:t>绿色能源更智能，呵护蓝色星球</a:t>
                </a:r>
                <a:endParaRPr kumimoji="1" lang="zh-CN" altLang="en-US" sz="900" dirty="0">
                  <a:solidFill>
                    <a:srgbClr val="666666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  <p:grpSp>
            <p:nvGrpSpPr>
              <p:cNvPr id="321" name="组合 320">
                <a:extLst>
                  <a:ext uri="{FF2B5EF4-FFF2-40B4-BE49-F238E27FC236}">
                    <a16:creationId xmlns:a16="http://schemas.microsoft.com/office/drawing/2014/main" id="{B8E0D467-CB88-4ABE-B552-D45A167CA2BE}"/>
                  </a:ext>
                </a:extLst>
              </p:cNvPr>
              <p:cNvGrpSpPr/>
              <p:nvPr/>
            </p:nvGrpSpPr>
            <p:grpSpPr>
              <a:xfrm>
                <a:off x="7563779" y="5296622"/>
                <a:ext cx="548640" cy="548640"/>
                <a:chOff x="7095397" y="5100652"/>
                <a:chExt cx="548640" cy="548640"/>
              </a:xfrm>
            </p:grpSpPr>
            <p:grpSp>
              <p:nvGrpSpPr>
                <p:cNvPr id="322" name="Group 34">
                  <a:extLst>
                    <a:ext uri="{FF2B5EF4-FFF2-40B4-BE49-F238E27FC236}">
                      <a16:creationId xmlns:a16="http://schemas.microsoft.com/office/drawing/2014/main" id="{C4E2DD7F-46E2-41C6-A9FA-BF01D6383A9D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7179648" y="5212011"/>
                  <a:ext cx="380139" cy="325923"/>
                  <a:chOff x="4178" y="1209"/>
                  <a:chExt cx="1396" cy="1198"/>
                </a:xfrm>
                <a:solidFill>
                  <a:srgbClr val="808080"/>
                </a:solidFill>
              </p:grpSpPr>
              <p:sp>
                <p:nvSpPr>
                  <p:cNvPr id="324" name="Freeform 35">
                    <a:extLst>
                      <a:ext uri="{FF2B5EF4-FFF2-40B4-BE49-F238E27FC236}">
                        <a16:creationId xmlns:a16="http://schemas.microsoft.com/office/drawing/2014/main" id="{FE9D8D8C-86D3-4E8B-95F1-D7033F4BE9D0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4178" y="1596"/>
                    <a:ext cx="1396" cy="811"/>
                  </a:xfrm>
                  <a:custGeom>
                    <a:avLst/>
                    <a:gdLst>
                      <a:gd name="T0" fmla="*/ 2711 w 588"/>
                      <a:gd name="T1" fmla="*/ 29 h 341"/>
                      <a:gd name="T2" fmla="*/ 643 w 588"/>
                      <a:gd name="T3" fmla="*/ 0 h 341"/>
                      <a:gd name="T4" fmla="*/ 5 w 588"/>
                      <a:gd name="T5" fmla="*/ 1115 h 341"/>
                      <a:gd name="T6" fmla="*/ 45 w 588"/>
                      <a:gd name="T7" fmla="*/ 1182 h 341"/>
                      <a:gd name="T8" fmla="*/ 1612 w 588"/>
                      <a:gd name="T9" fmla="*/ 1838 h 341"/>
                      <a:gd name="T10" fmla="*/ 1132 w 588"/>
                      <a:gd name="T11" fmla="*/ 1884 h 341"/>
                      <a:gd name="T12" fmla="*/ 2137 w 588"/>
                      <a:gd name="T13" fmla="*/ 1929 h 341"/>
                      <a:gd name="T14" fmla="*/ 2137 w 588"/>
                      <a:gd name="T15" fmla="*/ 1838 h 341"/>
                      <a:gd name="T16" fmla="*/ 1702 w 588"/>
                      <a:gd name="T17" fmla="*/ 1182 h 341"/>
                      <a:gd name="T18" fmla="*/ 2654 w 588"/>
                      <a:gd name="T19" fmla="*/ 1239 h 341"/>
                      <a:gd name="T20" fmla="*/ 2654 w 588"/>
                      <a:gd name="T21" fmla="*/ 1035 h 341"/>
                      <a:gd name="T22" fmla="*/ 2457 w 588"/>
                      <a:gd name="T23" fmla="*/ 1092 h 341"/>
                      <a:gd name="T24" fmla="*/ 2965 w 588"/>
                      <a:gd name="T25" fmla="*/ 685 h 341"/>
                      <a:gd name="T26" fmla="*/ 3056 w 588"/>
                      <a:gd name="T27" fmla="*/ 1092 h 341"/>
                      <a:gd name="T28" fmla="*/ 2858 w 588"/>
                      <a:gd name="T29" fmla="*/ 1137 h 341"/>
                      <a:gd name="T30" fmla="*/ 3056 w 588"/>
                      <a:gd name="T31" fmla="*/ 1182 h 341"/>
                      <a:gd name="T32" fmla="*/ 3310 w 588"/>
                      <a:gd name="T33" fmla="*/ 1161 h 341"/>
                      <a:gd name="T34" fmla="*/ 2733 w 588"/>
                      <a:gd name="T35" fmla="*/ 259 h 341"/>
                      <a:gd name="T36" fmla="*/ 2198 w 588"/>
                      <a:gd name="T37" fmla="*/ 90 h 341"/>
                      <a:gd name="T38" fmla="*/ 2733 w 588"/>
                      <a:gd name="T39" fmla="*/ 259 h 341"/>
                      <a:gd name="T40" fmla="*/ 1038 w 588"/>
                      <a:gd name="T41" fmla="*/ 350 h 341"/>
                      <a:gd name="T42" fmla="*/ 394 w 588"/>
                      <a:gd name="T43" fmla="*/ 595 h 341"/>
                      <a:gd name="T44" fmla="*/ 1132 w 588"/>
                      <a:gd name="T45" fmla="*/ 350 h 341"/>
                      <a:gd name="T46" fmla="*/ 1612 w 588"/>
                      <a:gd name="T47" fmla="*/ 595 h 341"/>
                      <a:gd name="T48" fmla="*/ 1132 w 588"/>
                      <a:gd name="T49" fmla="*/ 350 h 341"/>
                      <a:gd name="T50" fmla="*/ 1612 w 588"/>
                      <a:gd name="T51" fmla="*/ 259 h 341"/>
                      <a:gd name="T52" fmla="*/ 1201 w 588"/>
                      <a:gd name="T53" fmla="*/ 90 h 341"/>
                      <a:gd name="T54" fmla="*/ 1702 w 588"/>
                      <a:gd name="T55" fmla="*/ 350 h 341"/>
                      <a:gd name="T56" fmla="*/ 2232 w 588"/>
                      <a:gd name="T57" fmla="*/ 595 h 341"/>
                      <a:gd name="T58" fmla="*/ 1702 w 588"/>
                      <a:gd name="T59" fmla="*/ 350 h 341"/>
                      <a:gd name="T60" fmla="*/ 1702 w 588"/>
                      <a:gd name="T61" fmla="*/ 90 h 341"/>
                      <a:gd name="T62" fmla="*/ 2149 w 588"/>
                      <a:gd name="T63" fmla="*/ 259 h 341"/>
                      <a:gd name="T64" fmla="*/ 672 w 588"/>
                      <a:gd name="T65" fmla="*/ 90 h 341"/>
                      <a:gd name="T66" fmla="*/ 1059 w 588"/>
                      <a:gd name="T67" fmla="*/ 259 h 341"/>
                      <a:gd name="T68" fmla="*/ 672 w 588"/>
                      <a:gd name="T69" fmla="*/ 90 h 341"/>
                      <a:gd name="T70" fmla="*/ 952 w 588"/>
                      <a:gd name="T71" fmla="*/ 685 h 341"/>
                      <a:gd name="T72" fmla="*/ 123 w 588"/>
                      <a:gd name="T73" fmla="*/ 1092 h 341"/>
                      <a:gd name="T74" fmla="*/ 935 w 588"/>
                      <a:gd name="T75" fmla="*/ 1092 h 341"/>
                      <a:gd name="T76" fmla="*/ 1612 w 588"/>
                      <a:gd name="T77" fmla="*/ 685 h 341"/>
                      <a:gd name="T78" fmla="*/ 935 w 588"/>
                      <a:gd name="T79" fmla="*/ 1092 h 341"/>
                      <a:gd name="T80" fmla="*/ 1702 w 588"/>
                      <a:gd name="T81" fmla="*/ 1092 h 341"/>
                      <a:gd name="T82" fmla="*/ 2260 w 588"/>
                      <a:gd name="T83" fmla="*/ 685 h 341"/>
                      <a:gd name="T84" fmla="*/ 2329 w 588"/>
                      <a:gd name="T85" fmla="*/ 595 h 341"/>
                      <a:gd name="T86" fmla="*/ 2785 w 588"/>
                      <a:gd name="T87" fmla="*/ 350 h 341"/>
                      <a:gd name="T88" fmla="*/ 2329 w 588"/>
                      <a:gd name="T89" fmla="*/ 595 h 341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588" h="341">
                        <a:moveTo>
                          <a:pt x="587" y="197"/>
                        </a:moveTo>
                        <a:cubicBezTo>
                          <a:pt x="481" y="5"/>
                          <a:pt x="481" y="5"/>
                          <a:pt x="481" y="5"/>
                        </a:cubicBezTo>
                        <a:cubicBezTo>
                          <a:pt x="479" y="2"/>
                          <a:pt x="477" y="0"/>
                          <a:pt x="474" y="0"/>
                        </a:cubicBezTo>
                        <a:cubicBezTo>
                          <a:pt x="114" y="0"/>
                          <a:pt x="114" y="0"/>
                          <a:pt x="114" y="0"/>
                        </a:cubicBezTo>
                        <a:cubicBezTo>
                          <a:pt x="111" y="0"/>
                          <a:pt x="109" y="2"/>
                          <a:pt x="107" y="5"/>
                        </a:cubicBezTo>
                        <a:cubicBezTo>
                          <a:pt x="1" y="197"/>
                          <a:pt x="1" y="197"/>
                          <a:pt x="1" y="197"/>
                        </a:cubicBezTo>
                        <a:cubicBezTo>
                          <a:pt x="0" y="200"/>
                          <a:pt x="0" y="203"/>
                          <a:pt x="1" y="205"/>
                        </a:cubicBezTo>
                        <a:cubicBezTo>
                          <a:pt x="3" y="208"/>
                          <a:pt x="5" y="209"/>
                          <a:pt x="8" y="209"/>
                        </a:cubicBezTo>
                        <a:cubicBezTo>
                          <a:pt x="286" y="209"/>
                          <a:pt x="286" y="209"/>
                          <a:pt x="286" y="209"/>
                        </a:cubicBezTo>
                        <a:cubicBezTo>
                          <a:pt x="286" y="325"/>
                          <a:pt x="286" y="325"/>
                          <a:pt x="286" y="325"/>
                        </a:cubicBezTo>
                        <a:cubicBezTo>
                          <a:pt x="209" y="325"/>
                          <a:pt x="209" y="325"/>
                          <a:pt x="209" y="325"/>
                        </a:cubicBezTo>
                        <a:cubicBezTo>
                          <a:pt x="205" y="325"/>
                          <a:pt x="201" y="328"/>
                          <a:pt x="201" y="333"/>
                        </a:cubicBezTo>
                        <a:cubicBezTo>
                          <a:pt x="201" y="337"/>
                          <a:pt x="205" y="341"/>
                          <a:pt x="209" y="341"/>
                        </a:cubicBezTo>
                        <a:cubicBezTo>
                          <a:pt x="379" y="341"/>
                          <a:pt x="379" y="341"/>
                          <a:pt x="379" y="341"/>
                        </a:cubicBezTo>
                        <a:cubicBezTo>
                          <a:pt x="383" y="341"/>
                          <a:pt x="387" y="337"/>
                          <a:pt x="387" y="333"/>
                        </a:cubicBezTo>
                        <a:cubicBezTo>
                          <a:pt x="387" y="328"/>
                          <a:pt x="383" y="325"/>
                          <a:pt x="379" y="325"/>
                        </a:cubicBezTo>
                        <a:cubicBezTo>
                          <a:pt x="302" y="325"/>
                          <a:pt x="302" y="325"/>
                          <a:pt x="302" y="325"/>
                        </a:cubicBezTo>
                        <a:cubicBezTo>
                          <a:pt x="302" y="209"/>
                          <a:pt x="302" y="209"/>
                          <a:pt x="302" y="209"/>
                        </a:cubicBezTo>
                        <a:cubicBezTo>
                          <a:pt x="455" y="209"/>
                          <a:pt x="455" y="209"/>
                          <a:pt x="455" y="209"/>
                        </a:cubicBezTo>
                        <a:cubicBezTo>
                          <a:pt x="458" y="215"/>
                          <a:pt x="464" y="219"/>
                          <a:pt x="471" y="219"/>
                        </a:cubicBezTo>
                        <a:cubicBezTo>
                          <a:pt x="481" y="219"/>
                          <a:pt x="489" y="211"/>
                          <a:pt x="489" y="201"/>
                        </a:cubicBezTo>
                        <a:cubicBezTo>
                          <a:pt x="489" y="191"/>
                          <a:pt x="481" y="183"/>
                          <a:pt x="471" y="183"/>
                        </a:cubicBezTo>
                        <a:cubicBezTo>
                          <a:pt x="464" y="183"/>
                          <a:pt x="458" y="187"/>
                          <a:pt x="455" y="193"/>
                        </a:cubicBezTo>
                        <a:cubicBezTo>
                          <a:pt x="436" y="193"/>
                          <a:pt x="436" y="193"/>
                          <a:pt x="436" y="193"/>
                        </a:cubicBezTo>
                        <a:cubicBezTo>
                          <a:pt x="417" y="121"/>
                          <a:pt x="417" y="121"/>
                          <a:pt x="417" y="121"/>
                        </a:cubicBezTo>
                        <a:cubicBezTo>
                          <a:pt x="526" y="121"/>
                          <a:pt x="526" y="121"/>
                          <a:pt x="526" y="121"/>
                        </a:cubicBezTo>
                        <a:cubicBezTo>
                          <a:pt x="566" y="193"/>
                          <a:pt x="566" y="193"/>
                          <a:pt x="566" y="193"/>
                        </a:cubicBezTo>
                        <a:cubicBezTo>
                          <a:pt x="542" y="193"/>
                          <a:pt x="542" y="193"/>
                          <a:pt x="542" y="193"/>
                        </a:cubicBezTo>
                        <a:cubicBezTo>
                          <a:pt x="539" y="187"/>
                          <a:pt x="533" y="183"/>
                          <a:pt x="526" y="183"/>
                        </a:cubicBezTo>
                        <a:cubicBezTo>
                          <a:pt x="516" y="183"/>
                          <a:pt x="507" y="191"/>
                          <a:pt x="507" y="201"/>
                        </a:cubicBezTo>
                        <a:cubicBezTo>
                          <a:pt x="507" y="211"/>
                          <a:pt x="516" y="219"/>
                          <a:pt x="526" y="219"/>
                        </a:cubicBezTo>
                        <a:cubicBezTo>
                          <a:pt x="533" y="219"/>
                          <a:pt x="539" y="215"/>
                          <a:pt x="542" y="209"/>
                        </a:cubicBezTo>
                        <a:cubicBezTo>
                          <a:pt x="580" y="209"/>
                          <a:pt x="580" y="209"/>
                          <a:pt x="580" y="209"/>
                        </a:cubicBezTo>
                        <a:cubicBezTo>
                          <a:pt x="582" y="209"/>
                          <a:pt x="585" y="208"/>
                          <a:pt x="587" y="205"/>
                        </a:cubicBezTo>
                        <a:cubicBezTo>
                          <a:pt x="588" y="203"/>
                          <a:pt x="588" y="200"/>
                          <a:pt x="587" y="197"/>
                        </a:cubicBezTo>
                        <a:close/>
                        <a:moveTo>
                          <a:pt x="485" y="46"/>
                        </a:moveTo>
                        <a:cubicBezTo>
                          <a:pt x="397" y="46"/>
                          <a:pt x="397" y="46"/>
                          <a:pt x="397" y="46"/>
                        </a:cubicBezTo>
                        <a:cubicBezTo>
                          <a:pt x="390" y="16"/>
                          <a:pt x="390" y="16"/>
                          <a:pt x="390" y="16"/>
                        </a:cubicBezTo>
                        <a:cubicBezTo>
                          <a:pt x="469" y="16"/>
                          <a:pt x="469" y="16"/>
                          <a:pt x="469" y="16"/>
                        </a:cubicBezTo>
                        <a:lnTo>
                          <a:pt x="485" y="46"/>
                        </a:lnTo>
                        <a:close/>
                        <a:moveTo>
                          <a:pt x="94" y="62"/>
                        </a:moveTo>
                        <a:cubicBezTo>
                          <a:pt x="184" y="62"/>
                          <a:pt x="184" y="62"/>
                          <a:pt x="184" y="62"/>
                        </a:cubicBezTo>
                        <a:cubicBezTo>
                          <a:pt x="173" y="105"/>
                          <a:pt x="173" y="105"/>
                          <a:pt x="173" y="105"/>
                        </a:cubicBezTo>
                        <a:cubicBezTo>
                          <a:pt x="70" y="105"/>
                          <a:pt x="70" y="105"/>
                          <a:pt x="70" y="105"/>
                        </a:cubicBezTo>
                        <a:lnTo>
                          <a:pt x="94" y="62"/>
                        </a:lnTo>
                        <a:close/>
                        <a:moveTo>
                          <a:pt x="201" y="62"/>
                        </a:moveTo>
                        <a:cubicBezTo>
                          <a:pt x="286" y="62"/>
                          <a:pt x="286" y="62"/>
                          <a:pt x="286" y="62"/>
                        </a:cubicBezTo>
                        <a:cubicBezTo>
                          <a:pt x="286" y="105"/>
                          <a:pt x="286" y="105"/>
                          <a:pt x="286" y="105"/>
                        </a:cubicBezTo>
                        <a:cubicBezTo>
                          <a:pt x="189" y="105"/>
                          <a:pt x="189" y="105"/>
                          <a:pt x="189" y="105"/>
                        </a:cubicBezTo>
                        <a:lnTo>
                          <a:pt x="201" y="62"/>
                        </a:lnTo>
                        <a:close/>
                        <a:moveTo>
                          <a:pt x="286" y="16"/>
                        </a:moveTo>
                        <a:cubicBezTo>
                          <a:pt x="286" y="46"/>
                          <a:pt x="286" y="46"/>
                          <a:pt x="286" y="46"/>
                        </a:cubicBezTo>
                        <a:cubicBezTo>
                          <a:pt x="205" y="46"/>
                          <a:pt x="205" y="46"/>
                          <a:pt x="205" y="46"/>
                        </a:cubicBezTo>
                        <a:cubicBezTo>
                          <a:pt x="213" y="16"/>
                          <a:pt x="213" y="16"/>
                          <a:pt x="213" y="16"/>
                        </a:cubicBezTo>
                        <a:lnTo>
                          <a:pt x="286" y="16"/>
                        </a:lnTo>
                        <a:close/>
                        <a:moveTo>
                          <a:pt x="302" y="62"/>
                        </a:moveTo>
                        <a:cubicBezTo>
                          <a:pt x="385" y="62"/>
                          <a:pt x="385" y="62"/>
                          <a:pt x="385" y="62"/>
                        </a:cubicBezTo>
                        <a:cubicBezTo>
                          <a:pt x="396" y="105"/>
                          <a:pt x="396" y="105"/>
                          <a:pt x="396" y="105"/>
                        </a:cubicBezTo>
                        <a:cubicBezTo>
                          <a:pt x="302" y="105"/>
                          <a:pt x="302" y="105"/>
                          <a:pt x="302" y="105"/>
                        </a:cubicBezTo>
                        <a:lnTo>
                          <a:pt x="302" y="62"/>
                        </a:lnTo>
                        <a:close/>
                        <a:moveTo>
                          <a:pt x="302" y="46"/>
                        </a:moveTo>
                        <a:cubicBezTo>
                          <a:pt x="302" y="16"/>
                          <a:pt x="302" y="16"/>
                          <a:pt x="302" y="16"/>
                        </a:cubicBezTo>
                        <a:cubicBezTo>
                          <a:pt x="373" y="16"/>
                          <a:pt x="373" y="16"/>
                          <a:pt x="373" y="16"/>
                        </a:cubicBezTo>
                        <a:cubicBezTo>
                          <a:pt x="381" y="46"/>
                          <a:pt x="381" y="46"/>
                          <a:pt x="381" y="46"/>
                        </a:cubicBezTo>
                        <a:lnTo>
                          <a:pt x="302" y="46"/>
                        </a:lnTo>
                        <a:close/>
                        <a:moveTo>
                          <a:pt x="119" y="16"/>
                        </a:moveTo>
                        <a:cubicBezTo>
                          <a:pt x="196" y="16"/>
                          <a:pt x="196" y="16"/>
                          <a:pt x="196" y="16"/>
                        </a:cubicBezTo>
                        <a:cubicBezTo>
                          <a:pt x="188" y="46"/>
                          <a:pt x="188" y="46"/>
                          <a:pt x="188" y="46"/>
                        </a:cubicBezTo>
                        <a:cubicBezTo>
                          <a:pt x="102" y="46"/>
                          <a:pt x="102" y="46"/>
                          <a:pt x="102" y="46"/>
                        </a:cubicBezTo>
                        <a:lnTo>
                          <a:pt x="119" y="16"/>
                        </a:lnTo>
                        <a:close/>
                        <a:moveTo>
                          <a:pt x="61" y="121"/>
                        </a:moveTo>
                        <a:cubicBezTo>
                          <a:pt x="169" y="121"/>
                          <a:pt x="169" y="121"/>
                          <a:pt x="169" y="121"/>
                        </a:cubicBezTo>
                        <a:cubicBezTo>
                          <a:pt x="149" y="193"/>
                          <a:pt x="149" y="193"/>
                          <a:pt x="149" y="193"/>
                        </a:cubicBezTo>
                        <a:cubicBezTo>
                          <a:pt x="22" y="193"/>
                          <a:pt x="22" y="193"/>
                          <a:pt x="22" y="193"/>
                        </a:cubicBezTo>
                        <a:lnTo>
                          <a:pt x="61" y="121"/>
                        </a:lnTo>
                        <a:close/>
                        <a:moveTo>
                          <a:pt x="166" y="193"/>
                        </a:moveTo>
                        <a:cubicBezTo>
                          <a:pt x="185" y="121"/>
                          <a:pt x="185" y="121"/>
                          <a:pt x="185" y="121"/>
                        </a:cubicBezTo>
                        <a:cubicBezTo>
                          <a:pt x="286" y="121"/>
                          <a:pt x="286" y="121"/>
                          <a:pt x="286" y="121"/>
                        </a:cubicBezTo>
                        <a:cubicBezTo>
                          <a:pt x="286" y="193"/>
                          <a:pt x="286" y="193"/>
                          <a:pt x="286" y="193"/>
                        </a:cubicBezTo>
                        <a:lnTo>
                          <a:pt x="166" y="193"/>
                        </a:lnTo>
                        <a:close/>
                        <a:moveTo>
                          <a:pt x="420" y="193"/>
                        </a:moveTo>
                        <a:cubicBezTo>
                          <a:pt x="302" y="193"/>
                          <a:pt x="302" y="193"/>
                          <a:pt x="302" y="193"/>
                        </a:cubicBezTo>
                        <a:cubicBezTo>
                          <a:pt x="302" y="121"/>
                          <a:pt x="302" y="121"/>
                          <a:pt x="302" y="121"/>
                        </a:cubicBezTo>
                        <a:cubicBezTo>
                          <a:pt x="401" y="121"/>
                          <a:pt x="401" y="121"/>
                          <a:pt x="401" y="121"/>
                        </a:cubicBezTo>
                        <a:lnTo>
                          <a:pt x="420" y="193"/>
                        </a:lnTo>
                        <a:close/>
                        <a:moveTo>
                          <a:pt x="413" y="105"/>
                        </a:moveTo>
                        <a:cubicBezTo>
                          <a:pt x="402" y="62"/>
                          <a:pt x="402" y="62"/>
                          <a:pt x="402" y="62"/>
                        </a:cubicBezTo>
                        <a:cubicBezTo>
                          <a:pt x="494" y="62"/>
                          <a:pt x="494" y="62"/>
                          <a:pt x="494" y="62"/>
                        </a:cubicBezTo>
                        <a:cubicBezTo>
                          <a:pt x="518" y="105"/>
                          <a:pt x="518" y="105"/>
                          <a:pt x="518" y="105"/>
                        </a:cubicBezTo>
                        <a:lnTo>
                          <a:pt x="413" y="105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5" name="Freeform 36">
                    <a:extLst>
                      <a:ext uri="{FF2B5EF4-FFF2-40B4-BE49-F238E27FC236}">
                        <a16:creationId xmlns:a16="http://schemas.microsoft.com/office/drawing/2014/main" id="{59AC967E-263E-42AB-AABA-731A4E82B05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53" y="1337"/>
                    <a:ext cx="441" cy="240"/>
                  </a:xfrm>
                  <a:custGeom>
                    <a:avLst/>
                    <a:gdLst>
                      <a:gd name="T0" fmla="*/ 956 w 186"/>
                      <a:gd name="T1" fmla="*/ 525 h 101"/>
                      <a:gd name="T2" fmla="*/ 1001 w 186"/>
                      <a:gd name="T3" fmla="*/ 570 h 101"/>
                      <a:gd name="T4" fmla="*/ 1046 w 186"/>
                      <a:gd name="T5" fmla="*/ 525 h 101"/>
                      <a:gd name="T6" fmla="*/ 524 w 186"/>
                      <a:gd name="T7" fmla="*/ 0 h 101"/>
                      <a:gd name="T8" fmla="*/ 0 w 186"/>
                      <a:gd name="T9" fmla="*/ 525 h 101"/>
                      <a:gd name="T10" fmla="*/ 45 w 186"/>
                      <a:gd name="T11" fmla="*/ 570 h 101"/>
                      <a:gd name="T12" fmla="*/ 90 w 186"/>
                      <a:gd name="T13" fmla="*/ 525 h 101"/>
                      <a:gd name="T14" fmla="*/ 524 w 186"/>
                      <a:gd name="T15" fmla="*/ 90 h 101"/>
                      <a:gd name="T16" fmla="*/ 956 w 186"/>
                      <a:gd name="T17" fmla="*/ 525 h 101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86" h="101">
                        <a:moveTo>
                          <a:pt x="170" y="93"/>
                        </a:moveTo>
                        <a:cubicBezTo>
                          <a:pt x="170" y="97"/>
                          <a:pt x="173" y="101"/>
                          <a:pt x="178" y="101"/>
                        </a:cubicBezTo>
                        <a:cubicBezTo>
                          <a:pt x="182" y="101"/>
                          <a:pt x="186" y="97"/>
                          <a:pt x="186" y="93"/>
                        </a:cubicBezTo>
                        <a:cubicBezTo>
                          <a:pt x="186" y="42"/>
                          <a:pt x="144" y="0"/>
                          <a:pt x="93" y="0"/>
                        </a:cubicBezTo>
                        <a:cubicBezTo>
                          <a:pt x="42" y="0"/>
                          <a:pt x="0" y="42"/>
                          <a:pt x="0" y="93"/>
                        </a:cubicBezTo>
                        <a:cubicBezTo>
                          <a:pt x="0" y="97"/>
                          <a:pt x="4" y="101"/>
                          <a:pt x="8" y="101"/>
                        </a:cubicBezTo>
                        <a:cubicBezTo>
                          <a:pt x="13" y="101"/>
                          <a:pt x="16" y="97"/>
                          <a:pt x="16" y="93"/>
                        </a:cubicBezTo>
                        <a:cubicBezTo>
                          <a:pt x="16" y="51"/>
                          <a:pt x="51" y="16"/>
                          <a:pt x="93" y="16"/>
                        </a:cubicBezTo>
                        <a:cubicBezTo>
                          <a:pt x="135" y="16"/>
                          <a:pt x="170" y="51"/>
                          <a:pt x="170" y="93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6" name="Freeform 37">
                    <a:extLst>
                      <a:ext uri="{FF2B5EF4-FFF2-40B4-BE49-F238E27FC236}">
                        <a16:creationId xmlns:a16="http://schemas.microsoft.com/office/drawing/2014/main" id="{793497CA-8F37-4474-8DCB-0EEA2D511C4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48" y="1430"/>
                    <a:ext cx="254" cy="137"/>
                  </a:xfrm>
                  <a:custGeom>
                    <a:avLst/>
                    <a:gdLst>
                      <a:gd name="T0" fmla="*/ 0 w 107"/>
                      <a:gd name="T1" fmla="*/ 302 h 58"/>
                      <a:gd name="T2" fmla="*/ 21 w 107"/>
                      <a:gd name="T3" fmla="*/ 324 h 58"/>
                      <a:gd name="T4" fmla="*/ 45 w 107"/>
                      <a:gd name="T5" fmla="*/ 302 h 58"/>
                      <a:gd name="T6" fmla="*/ 299 w 107"/>
                      <a:gd name="T7" fmla="*/ 45 h 58"/>
                      <a:gd name="T8" fmla="*/ 558 w 107"/>
                      <a:gd name="T9" fmla="*/ 302 h 58"/>
                      <a:gd name="T10" fmla="*/ 582 w 107"/>
                      <a:gd name="T11" fmla="*/ 324 h 58"/>
                      <a:gd name="T12" fmla="*/ 603 w 107"/>
                      <a:gd name="T13" fmla="*/ 302 h 58"/>
                      <a:gd name="T14" fmla="*/ 299 w 107"/>
                      <a:gd name="T15" fmla="*/ 0 h 58"/>
                      <a:gd name="T16" fmla="*/ 0 w 107"/>
                      <a:gd name="T17" fmla="*/ 302 h 58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07" h="58">
                        <a:moveTo>
                          <a:pt x="0" y="54"/>
                        </a:moveTo>
                        <a:cubicBezTo>
                          <a:pt x="0" y="56"/>
                          <a:pt x="1" y="58"/>
                          <a:pt x="4" y="58"/>
                        </a:cubicBezTo>
                        <a:cubicBezTo>
                          <a:pt x="6" y="58"/>
                          <a:pt x="8" y="56"/>
                          <a:pt x="8" y="54"/>
                        </a:cubicBezTo>
                        <a:cubicBezTo>
                          <a:pt x="8" y="29"/>
                          <a:pt x="28" y="8"/>
                          <a:pt x="53" y="8"/>
                        </a:cubicBezTo>
                        <a:cubicBezTo>
                          <a:pt x="78" y="8"/>
                          <a:pt x="99" y="29"/>
                          <a:pt x="99" y="54"/>
                        </a:cubicBezTo>
                        <a:cubicBezTo>
                          <a:pt x="99" y="56"/>
                          <a:pt x="101" y="58"/>
                          <a:pt x="103" y="58"/>
                        </a:cubicBezTo>
                        <a:cubicBezTo>
                          <a:pt x="105" y="58"/>
                          <a:pt x="107" y="56"/>
                          <a:pt x="107" y="54"/>
                        </a:cubicBezTo>
                        <a:cubicBezTo>
                          <a:pt x="107" y="24"/>
                          <a:pt x="83" y="0"/>
                          <a:pt x="53" y="0"/>
                        </a:cubicBezTo>
                        <a:cubicBezTo>
                          <a:pt x="24" y="0"/>
                          <a:pt x="0" y="24"/>
                          <a:pt x="0" y="54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7" name="Freeform 38">
                    <a:extLst>
                      <a:ext uri="{FF2B5EF4-FFF2-40B4-BE49-F238E27FC236}">
                        <a16:creationId xmlns:a16="http://schemas.microsoft.com/office/drawing/2014/main" id="{4C238F37-80BE-4E75-9C1F-97C088AADC9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75" y="1413"/>
                    <a:ext cx="164" cy="86"/>
                  </a:xfrm>
                  <a:custGeom>
                    <a:avLst/>
                    <a:gdLst>
                      <a:gd name="T0" fmla="*/ 29 w 69"/>
                      <a:gd name="T1" fmla="*/ 69 h 36"/>
                      <a:gd name="T2" fmla="*/ 340 w 69"/>
                      <a:gd name="T3" fmla="*/ 201 h 36"/>
                      <a:gd name="T4" fmla="*/ 357 w 69"/>
                      <a:gd name="T5" fmla="*/ 205 h 36"/>
                      <a:gd name="T6" fmla="*/ 385 w 69"/>
                      <a:gd name="T7" fmla="*/ 182 h 36"/>
                      <a:gd name="T8" fmla="*/ 366 w 69"/>
                      <a:gd name="T9" fmla="*/ 136 h 36"/>
                      <a:gd name="T10" fmla="*/ 50 w 69"/>
                      <a:gd name="T11" fmla="*/ 5 h 36"/>
                      <a:gd name="T12" fmla="*/ 5 w 69"/>
                      <a:gd name="T13" fmla="*/ 24 h 36"/>
                      <a:gd name="T14" fmla="*/ 29 w 69"/>
                      <a:gd name="T15" fmla="*/ 69 h 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69" h="36">
                        <a:moveTo>
                          <a:pt x="5" y="12"/>
                        </a:moveTo>
                        <a:cubicBezTo>
                          <a:pt x="60" y="35"/>
                          <a:pt x="60" y="35"/>
                          <a:pt x="60" y="35"/>
                        </a:cubicBezTo>
                        <a:cubicBezTo>
                          <a:pt x="61" y="36"/>
                          <a:pt x="62" y="36"/>
                          <a:pt x="63" y="36"/>
                        </a:cubicBezTo>
                        <a:cubicBezTo>
                          <a:pt x="65" y="36"/>
                          <a:pt x="67" y="35"/>
                          <a:pt x="68" y="32"/>
                        </a:cubicBezTo>
                        <a:cubicBezTo>
                          <a:pt x="69" y="29"/>
                          <a:pt x="68" y="26"/>
                          <a:pt x="65" y="24"/>
                        </a:cubicBezTo>
                        <a:cubicBezTo>
                          <a:pt x="9" y="1"/>
                          <a:pt x="9" y="1"/>
                          <a:pt x="9" y="1"/>
                        </a:cubicBezTo>
                        <a:cubicBezTo>
                          <a:pt x="6" y="0"/>
                          <a:pt x="3" y="1"/>
                          <a:pt x="1" y="4"/>
                        </a:cubicBezTo>
                        <a:cubicBezTo>
                          <a:pt x="0" y="8"/>
                          <a:pt x="1" y="11"/>
                          <a:pt x="5" y="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8" name="Freeform 39">
                    <a:extLst>
                      <a:ext uri="{FF2B5EF4-FFF2-40B4-BE49-F238E27FC236}">
                        <a16:creationId xmlns:a16="http://schemas.microsoft.com/office/drawing/2014/main" id="{198D1C6D-65D4-4DB8-8703-9E37BEEBF0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41" y="1209"/>
                    <a:ext cx="116" cy="145"/>
                  </a:xfrm>
                  <a:custGeom>
                    <a:avLst/>
                    <a:gdLst>
                      <a:gd name="T0" fmla="*/ 208 w 49"/>
                      <a:gd name="T1" fmla="*/ 333 h 61"/>
                      <a:gd name="T2" fmla="*/ 234 w 49"/>
                      <a:gd name="T3" fmla="*/ 345 h 61"/>
                      <a:gd name="T4" fmla="*/ 258 w 49"/>
                      <a:gd name="T5" fmla="*/ 340 h 61"/>
                      <a:gd name="T6" fmla="*/ 263 w 49"/>
                      <a:gd name="T7" fmla="*/ 295 h 61"/>
                      <a:gd name="T8" fmla="*/ 66 w 49"/>
                      <a:gd name="T9" fmla="*/ 17 h 61"/>
                      <a:gd name="T10" fmla="*/ 17 w 49"/>
                      <a:gd name="T11" fmla="*/ 12 h 61"/>
                      <a:gd name="T12" fmla="*/ 12 w 49"/>
                      <a:gd name="T13" fmla="*/ 57 h 61"/>
                      <a:gd name="T14" fmla="*/ 208 w 49"/>
                      <a:gd name="T15" fmla="*/ 333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9" h="61">
                        <a:moveTo>
                          <a:pt x="37" y="59"/>
                        </a:moveTo>
                        <a:cubicBezTo>
                          <a:pt x="39" y="60"/>
                          <a:pt x="40" y="61"/>
                          <a:pt x="42" y="61"/>
                        </a:cubicBezTo>
                        <a:cubicBezTo>
                          <a:pt x="44" y="61"/>
                          <a:pt x="45" y="61"/>
                          <a:pt x="46" y="60"/>
                        </a:cubicBezTo>
                        <a:cubicBezTo>
                          <a:pt x="49" y="58"/>
                          <a:pt x="49" y="54"/>
                          <a:pt x="47" y="52"/>
                        </a:cubicBezTo>
                        <a:cubicBezTo>
                          <a:pt x="12" y="3"/>
                          <a:pt x="12" y="3"/>
                          <a:pt x="12" y="3"/>
                        </a:cubicBezTo>
                        <a:cubicBezTo>
                          <a:pt x="10" y="0"/>
                          <a:pt x="6" y="0"/>
                          <a:pt x="3" y="2"/>
                        </a:cubicBezTo>
                        <a:cubicBezTo>
                          <a:pt x="0" y="3"/>
                          <a:pt x="0" y="7"/>
                          <a:pt x="2" y="10"/>
                        </a:cubicBezTo>
                        <a:lnTo>
                          <a:pt x="37" y="59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29" name="Freeform 40">
                    <a:extLst>
                      <a:ext uri="{FF2B5EF4-FFF2-40B4-BE49-F238E27FC236}">
                        <a16:creationId xmlns:a16="http://schemas.microsoft.com/office/drawing/2014/main" id="{AB94184E-53E6-4916-A20F-061C20C015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04" y="1216"/>
                    <a:ext cx="116" cy="145"/>
                  </a:xfrm>
                  <a:custGeom>
                    <a:avLst/>
                    <a:gdLst>
                      <a:gd name="T0" fmla="*/ 17 w 49"/>
                      <a:gd name="T1" fmla="*/ 340 h 61"/>
                      <a:gd name="T2" fmla="*/ 40 w 49"/>
                      <a:gd name="T3" fmla="*/ 345 h 61"/>
                      <a:gd name="T4" fmla="*/ 66 w 49"/>
                      <a:gd name="T5" fmla="*/ 333 h 61"/>
                      <a:gd name="T6" fmla="*/ 263 w 49"/>
                      <a:gd name="T7" fmla="*/ 57 h 61"/>
                      <a:gd name="T8" fmla="*/ 258 w 49"/>
                      <a:gd name="T9" fmla="*/ 12 h 61"/>
                      <a:gd name="T10" fmla="*/ 213 w 49"/>
                      <a:gd name="T11" fmla="*/ 17 h 61"/>
                      <a:gd name="T12" fmla="*/ 12 w 49"/>
                      <a:gd name="T13" fmla="*/ 295 h 61"/>
                      <a:gd name="T14" fmla="*/ 17 w 49"/>
                      <a:gd name="T15" fmla="*/ 340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9" h="61">
                        <a:moveTo>
                          <a:pt x="3" y="60"/>
                        </a:moveTo>
                        <a:cubicBezTo>
                          <a:pt x="4" y="61"/>
                          <a:pt x="6" y="61"/>
                          <a:pt x="7" y="61"/>
                        </a:cubicBezTo>
                        <a:cubicBezTo>
                          <a:pt x="9" y="61"/>
                          <a:pt x="11" y="61"/>
                          <a:pt x="12" y="59"/>
                        </a:cubicBezTo>
                        <a:cubicBezTo>
                          <a:pt x="47" y="10"/>
                          <a:pt x="47" y="10"/>
                          <a:pt x="47" y="10"/>
                        </a:cubicBezTo>
                        <a:cubicBezTo>
                          <a:pt x="49" y="8"/>
                          <a:pt x="49" y="4"/>
                          <a:pt x="46" y="2"/>
                        </a:cubicBezTo>
                        <a:cubicBezTo>
                          <a:pt x="43" y="0"/>
                          <a:pt x="40" y="0"/>
                          <a:pt x="38" y="3"/>
                        </a:cubicBezTo>
                        <a:cubicBezTo>
                          <a:pt x="2" y="52"/>
                          <a:pt x="2" y="52"/>
                          <a:pt x="2" y="52"/>
                        </a:cubicBezTo>
                        <a:cubicBezTo>
                          <a:pt x="0" y="55"/>
                          <a:pt x="1" y="58"/>
                          <a:pt x="3" y="6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0" name="Freeform 41">
                    <a:extLst>
                      <a:ext uri="{FF2B5EF4-FFF2-40B4-BE49-F238E27FC236}">
                        <a16:creationId xmlns:a16="http://schemas.microsoft.com/office/drawing/2014/main" id="{93E5BDFF-6765-48CB-98C0-8E664BE13F2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109" y="1413"/>
                    <a:ext cx="163" cy="86"/>
                  </a:xfrm>
                  <a:custGeom>
                    <a:avLst/>
                    <a:gdLst>
                      <a:gd name="T0" fmla="*/ 5 w 69"/>
                      <a:gd name="T1" fmla="*/ 182 h 36"/>
                      <a:gd name="T2" fmla="*/ 40 w 69"/>
                      <a:gd name="T3" fmla="*/ 205 h 36"/>
                      <a:gd name="T4" fmla="*/ 50 w 69"/>
                      <a:gd name="T5" fmla="*/ 201 h 36"/>
                      <a:gd name="T6" fmla="*/ 364 w 69"/>
                      <a:gd name="T7" fmla="*/ 69 h 36"/>
                      <a:gd name="T8" fmla="*/ 380 w 69"/>
                      <a:gd name="T9" fmla="*/ 24 h 36"/>
                      <a:gd name="T10" fmla="*/ 335 w 69"/>
                      <a:gd name="T11" fmla="*/ 5 h 36"/>
                      <a:gd name="T12" fmla="*/ 21 w 69"/>
                      <a:gd name="T13" fmla="*/ 136 h 36"/>
                      <a:gd name="T14" fmla="*/ 5 w 69"/>
                      <a:gd name="T15" fmla="*/ 182 h 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69" h="36">
                        <a:moveTo>
                          <a:pt x="1" y="32"/>
                        </a:moveTo>
                        <a:cubicBezTo>
                          <a:pt x="2" y="35"/>
                          <a:pt x="4" y="36"/>
                          <a:pt x="7" y="36"/>
                        </a:cubicBezTo>
                        <a:cubicBezTo>
                          <a:pt x="7" y="36"/>
                          <a:pt x="8" y="36"/>
                          <a:pt x="9" y="35"/>
                        </a:cubicBezTo>
                        <a:cubicBezTo>
                          <a:pt x="65" y="12"/>
                          <a:pt x="65" y="12"/>
                          <a:pt x="65" y="12"/>
                        </a:cubicBezTo>
                        <a:cubicBezTo>
                          <a:pt x="68" y="11"/>
                          <a:pt x="69" y="8"/>
                          <a:pt x="68" y="4"/>
                        </a:cubicBezTo>
                        <a:cubicBezTo>
                          <a:pt x="67" y="1"/>
                          <a:pt x="63" y="0"/>
                          <a:pt x="60" y="1"/>
                        </a:cubicBezTo>
                        <a:cubicBezTo>
                          <a:pt x="4" y="24"/>
                          <a:pt x="4" y="24"/>
                          <a:pt x="4" y="24"/>
                        </a:cubicBezTo>
                        <a:cubicBezTo>
                          <a:pt x="1" y="26"/>
                          <a:pt x="0" y="29"/>
                          <a:pt x="1" y="3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1" name="Freeform 42">
                    <a:extLst>
                      <a:ext uri="{FF2B5EF4-FFF2-40B4-BE49-F238E27FC236}">
                        <a16:creationId xmlns:a16="http://schemas.microsoft.com/office/drawing/2014/main" id="{73F97102-9FBB-4BF3-91D3-521B0E8859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62" y="1223"/>
                    <a:ext cx="28" cy="95"/>
                  </a:xfrm>
                  <a:custGeom>
                    <a:avLst/>
                    <a:gdLst>
                      <a:gd name="T0" fmla="*/ 33 w 12"/>
                      <a:gd name="T1" fmla="*/ 226 h 40"/>
                      <a:gd name="T2" fmla="*/ 65 w 12"/>
                      <a:gd name="T3" fmla="*/ 192 h 40"/>
                      <a:gd name="T4" fmla="*/ 65 w 12"/>
                      <a:gd name="T5" fmla="*/ 33 h 40"/>
                      <a:gd name="T6" fmla="*/ 33 w 12"/>
                      <a:gd name="T7" fmla="*/ 0 h 40"/>
                      <a:gd name="T8" fmla="*/ 0 w 12"/>
                      <a:gd name="T9" fmla="*/ 33 h 40"/>
                      <a:gd name="T10" fmla="*/ 0 w 12"/>
                      <a:gd name="T11" fmla="*/ 192 h 40"/>
                      <a:gd name="T12" fmla="*/ 33 w 12"/>
                      <a:gd name="T13" fmla="*/ 226 h 4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12" h="40">
                        <a:moveTo>
                          <a:pt x="6" y="40"/>
                        </a:moveTo>
                        <a:cubicBezTo>
                          <a:pt x="9" y="40"/>
                          <a:pt x="12" y="38"/>
                          <a:pt x="12" y="34"/>
                        </a:cubicBezTo>
                        <a:cubicBezTo>
                          <a:pt x="12" y="6"/>
                          <a:pt x="12" y="6"/>
                          <a:pt x="12" y="6"/>
                        </a:cubicBezTo>
                        <a:cubicBezTo>
                          <a:pt x="12" y="3"/>
                          <a:pt x="9" y="0"/>
                          <a:pt x="6" y="0"/>
                        </a:cubicBezTo>
                        <a:cubicBezTo>
                          <a:pt x="3" y="0"/>
                          <a:pt x="0" y="3"/>
                          <a:pt x="0" y="6"/>
                        </a:cubicBezTo>
                        <a:cubicBezTo>
                          <a:pt x="0" y="34"/>
                          <a:pt x="0" y="34"/>
                          <a:pt x="0" y="34"/>
                        </a:cubicBezTo>
                        <a:cubicBezTo>
                          <a:pt x="0" y="38"/>
                          <a:pt x="3" y="40"/>
                          <a:pt x="6" y="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2" name="Freeform 43">
                    <a:extLst>
                      <a:ext uri="{FF2B5EF4-FFF2-40B4-BE49-F238E27FC236}">
                        <a16:creationId xmlns:a16="http://schemas.microsoft.com/office/drawing/2014/main" id="{42146C77-262A-4A8B-B56F-A9B125BC85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064" y="1351"/>
                    <a:ext cx="83" cy="74"/>
                  </a:xfrm>
                  <a:custGeom>
                    <a:avLst/>
                    <a:gdLst>
                      <a:gd name="T0" fmla="*/ 17 w 35"/>
                      <a:gd name="T1" fmla="*/ 165 h 31"/>
                      <a:gd name="T2" fmla="*/ 40 w 35"/>
                      <a:gd name="T3" fmla="*/ 177 h 31"/>
                      <a:gd name="T4" fmla="*/ 62 w 35"/>
                      <a:gd name="T5" fmla="*/ 165 h 31"/>
                      <a:gd name="T6" fmla="*/ 180 w 35"/>
                      <a:gd name="T7" fmla="*/ 62 h 31"/>
                      <a:gd name="T8" fmla="*/ 180 w 35"/>
                      <a:gd name="T9" fmla="*/ 12 h 31"/>
                      <a:gd name="T10" fmla="*/ 135 w 35"/>
                      <a:gd name="T11" fmla="*/ 12 h 31"/>
                      <a:gd name="T12" fmla="*/ 17 w 35"/>
                      <a:gd name="T13" fmla="*/ 115 h 31"/>
                      <a:gd name="T14" fmla="*/ 17 w 35"/>
                      <a:gd name="T15" fmla="*/ 165 h 3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5" h="31">
                        <a:moveTo>
                          <a:pt x="3" y="29"/>
                        </a:moveTo>
                        <a:cubicBezTo>
                          <a:pt x="4" y="30"/>
                          <a:pt x="5" y="31"/>
                          <a:pt x="7" y="31"/>
                        </a:cubicBezTo>
                        <a:cubicBezTo>
                          <a:pt x="9" y="31"/>
                          <a:pt x="10" y="30"/>
                          <a:pt x="11" y="29"/>
                        </a:cubicBezTo>
                        <a:cubicBezTo>
                          <a:pt x="32" y="11"/>
                          <a:pt x="32" y="11"/>
                          <a:pt x="32" y="11"/>
                        </a:cubicBezTo>
                        <a:cubicBezTo>
                          <a:pt x="34" y="9"/>
                          <a:pt x="35" y="5"/>
                          <a:pt x="32" y="2"/>
                        </a:cubicBezTo>
                        <a:cubicBezTo>
                          <a:pt x="30" y="0"/>
                          <a:pt x="26" y="0"/>
                          <a:pt x="24" y="2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1" y="23"/>
                          <a:pt x="0" y="26"/>
                          <a:pt x="3" y="29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  <p:sp>
                <p:nvSpPr>
                  <p:cNvPr id="333" name="Freeform 44">
                    <a:extLst>
                      <a:ext uri="{FF2B5EF4-FFF2-40B4-BE49-F238E27FC236}">
                        <a16:creationId xmlns:a16="http://schemas.microsoft.com/office/drawing/2014/main" id="{49445070-3532-4B8C-B289-46EE9EEFAD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603" y="1342"/>
                    <a:ext cx="83" cy="76"/>
                  </a:xfrm>
                  <a:custGeom>
                    <a:avLst/>
                    <a:gdLst>
                      <a:gd name="T0" fmla="*/ 135 w 35"/>
                      <a:gd name="T1" fmla="*/ 169 h 32"/>
                      <a:gd name="T2" fmla="*/ 157 w 35"/>
                      <a:gd name="T3" fmla="*/ 181 h 32"/>
                      <a:gd name="T4" fmla="*/ 180 w 35"/>
                      <a:gd name="T5" fmla="*/ 169 h 32"/>
                      <a:gd name="T6" fmla="*/ 180 w 35"/>
                      <a:gd name="T7" fmla="*/ 119 h 32"/>
                      <a:gd name="T8" fmla="*/ 62 w 35"/>
                      <a:gd name="T9" fmla="*/ 17 h 32"/>
                      <a:gd name="T10" fmla="*/ 17 w 35"/>
                      <a:gd name="T11" fmla="*/ 17 h 32"/>
                      <a:gd name="T12" fmla="*/ 17 w 35"/>
                      <a:gd name="T13" fmla="*/ 69 h 32"/>
                      <a:gd name="T14" fmla="*/ 135 w 35"/>
                      <a:gd name="T15" fmla="*/ 169 h 32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5" h="32">
                        <a:moveTo>
                          <a:pt x="24" y="30"/>
                        </a:moveTo>
                        <a:cubicBezTo>
                          <a:pt x="25" y="31"/>
                          <a:pt x="27" y="32"/>
                          <a:pt x="28" y="32"/>
                        </a:cubicBezTo>
                        <a:cubicBezTo>
                          <a:pt x="30" y="32"/>
                          <a:pt x="31" y="31"/>
                          <a:pt x="32" y="30"/>
                        </a:cubicBezTo>
                        <a:cubicBezTo>
                          <a:pt x="35" y="27"/>
                          <a:pt x="34" y="23"/>
                          <a:pt x="32" y="21"/>
                        </a:cubicBezTo>
                        <a:cubicBezTo>
                          <a:pt x="11" y="3"/>
                          <a:pt x="11" y="3"/>
                          <a:pt x="11" y="3"/>
                        </a:cubicBezTo>
                        <a:cubicBezTo>
                          <a:pt x="9" y="0"/>
                          <a:pt x="5" y="1"/>
                          <a:pt x="3" y="3"/>
                        </a:cubicBezTo>
                        <a:cubicBezTo>
                          <a:pt x="0" y="6"/>
                          <a:pt x="1" y="9"/>
                          <a:pt x="3" y="12"/>
                        </a:cubicBezTo>
                        <a:lnTo>
                          <a:pt x="24" y="30"/>
                        </a:lnTo>
                        <a:close/>
                      </a:path>
                    </a:pathLst>
                  </a:custGeom>
                  <a:grp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defTabSz="453661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kumimoji="1" lang="zh-CN" altLang="en-US" sz="1798">
                      <a:solidFill>
                        <a:prstClr val="black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endParaRPr>
                  </a:p>
                </p:txBody>
              </p:sp>
            </p:grpSp>
            <p:sp>
              <p:nvSpPr>
                <p:cNvPr id="323" name="椭圆 322">
                  <a:extLst>
                    <a:ext uri="{FF2B5EF4-FFF2-40B4-BE49-F238E27FC236}">
                      <a16:creationId xmlns:a16="http://schemas.microsoft.com/office/drawing/2014/main" id="{3883EBE5-66AD-4CEB-95BB-394A65DC8A1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095397" y="5100652"/>
                  <a:ext cx="548640" cy="548640"/>
                </a:xfrm>
                <a:prstGeom prst="ellipse">
                  <a:avLst/>
                </a:prstGeom>
                <a:gradFill flip="none" rotWithShape="1">
                  <a:gsLst>
                    <a:gs pos="38000">
                      <a:srgbClr val="666666">
                        <a:lumMod val="60000"/>
                        <a:lumOff val="40000"/>
                        <a:alpha val="2000"/>
                      </a:srgbClr>
                    </a:gs>
                    <a:gs pos="100000">
                      <a:srgbClr val="666666">
                        <a:lumMod val="60000"/>
                        <a:lumOff val="40000"/>
                        <a:alpha val="15000"/>
                      </a:srgbClr>
                    </a:gs>
                  </a:gsLst>
                  <a:path path="shape">
                    <a:fillToRect l="50000" t="50000" r="50000" b="50000"/>
                  </a:path>
                  <a:tileRect/>
                </a:gradFill>
                <a:ln w="6350" cap="flat" cmpd="sng" algn="ctr">
                  <a:gradFill flip="none" rotWithShape="1">
                    <a:gsLst>
                      <a:gs pos="0">
                        <a:srgbClr val="666666">
                          <a:lumMod val="60000"/>
                          <a:lumOff val="40000"/>
                          <a:alpha val="80000"/>
                        </a:srgbClr>
                      </a:gs>
                      <a:gs pos="100000">
                        <a:srgbClr val="666666">
                          <a:lumMod val="60000"/>
                          <a:lumOff val="40000"/>
                          <a:alpha val="40000"/>
                        </a:srgbClr>
                      </a:gs>
                    </a:gsLst>
                    <a:lin ang="0" scaled="0"/>
                    <a:tileRect/>
                  </a:gra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wrap="square" lIns="0" tIns="0" rIns="0" bIns="0" anchor="ctr" anchorCtr="1"/>
                <a:lstStyle/>
                <a:p>
                  <a:pPr algn="ctr" defTabSz="913623"/>
                  <a:endParaRPr lang="zh-CN" altLang="en-US" sz="1200" b="1" kern="0" spc="50" dirty="0">
                    <a:solidFill>
                      <a:sysClr val="windowText" lastClr="000000"/>
                    </a:solidFill>
                    <a:latin typeface="Calibri" panose="020F0502020204030204"/>
                    <a:ea typeface="等线" panose="02010600030101010101" pitchFamily="2" charset="-122"/>
                    <a:cs typeface="Arial" pitchFamily="34" charset="0"/>
                  </a:endParaRPr>
                </a:p>
              </p:txBody>
            </p:sp>
          </p:grpSp>
        </p:grpSp>
      </p:grpSp>
      <p:grpSp>
        <p:nvGrpSpPr>
          <p:cNvPr id="334" name="组合 333">
            <a:extLst>
              <a:ext uri="{FF2B5EF4-FFF2-40B4-BE49-F238E27FC236}">
                <a16:creationId xmlns:a16="http://schemas.microsoft.com/office/drawing/2014/main" id="{FDD1877B-A871-4FF0-9E79-A805B2FD68C5}"/>
              </a:ext>
            </a:extLst>
          </p:cNvPr>
          <p:cNvGrpSpPr/>
          <p:nvPr/>
        </p:nvGrpSpPr>
        <p:grpSpPr>
          <a:xfrm>
            <a:off x="4868249" y="2315791"/>
            <a:ext cx="2472963" cy="2559320"/>
            <a:chOff x="4836660" y="2720507"/>
            <a:chExt cx="2473929" cy="2560320"/>
          </a:xfrm>
        </p:grpSpPr>
        <p:sp>
          <p:nvSpPr>
            <p:cNvPr id="335" name="文本框 334">
              <a:extLst>
                <a:ext uri="{FF2B5EF4-FFF2-40B4-BE49-F238E27FC236}">
                  <a16:creationId xmlns:a16="http://schemas.microsoft.com/office/drawing/2014/main" id="{911AE9A7-0F55-4DAF-AA94-6BD998585A1A}"/>
                </a:ext>
              </a:extLst>
            </p:cNvPr>
            <p:cNvSpPr txBox="1"/>
            <p:nvPr/>
          </p:nvSpPr>
          <p:spPr>
            <a:xfrm>
              <a:off x="4836660" y="2720507"/>
              <a:ext cx="91440" cy="256032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914112" fontAlgn="ctr">
                <a:defRPr/>
              </a:pPr>
              <a:r>
                <a:rPr kumimoji="1"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更美好的生活</a:t>
              </a:r>
            </a:p>
          </p:txBody>
        </p:sp>
        <p:sp>
          <p:nvSpPr>
            <p:cNvPr id="336" name="文本框 335">
              <a:extLst>
                <a:ext uri="{FF2B5EF4-FFF2-40B4-BE49-F238E27FC236}">
                  <a16:creationId xmlns:a16="http://schemas.microsoft.com/office/drawing/2014/main" id="{2948D664-DD5E-494B-96B1-02440AEA1EEC}"/>
                </a:ext>
              </a:extLst>
            </p:cNvPr>
            <p:cNvSpPr txBox="1"/>
            <p:nvPr/>
          </p:nvSpPr>
          <p:spPr>
            <a:xfrm>
              <a:off x="7219149" y="2720507"/>
              <a:ext cx="91440" cy="256032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 defTabSz="914112" fontAlgn="ctr">
                <a:defRPr/>
              </a:pPr>
              <a:r>
                <a:rPr kumimoji="1"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更和谐的社会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359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77E3B732-DDF7-4011-B681-28F511DF8898}"/>
    </a:ext>
  </a:extLst>
</a:theme>
</file>

<file path=ppt/theme/theme2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3.xml><?xml version="1.0" encoding="utf-8"?>
<a:theme xmlns:a="http://schemas.openxmlformats.org/drawingml/2006/main" name="3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模板_白色_16_9" id="{7CD4B91F-273A-4322-964F-6BD7E403B39E}" vid="{7466A2A5-F21C-401E-B6D0-CA69BF331BD4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7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</a:themeOverride>
</file>

<file path=ppt/theme/themeOverride8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</a:themeOverride>
</file>

<file path=ppt/theme/themeOverride65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14940</TotalTime>
  <Words>71039</Words>
  <Application>Microsoft Office PowerPoint</Application>
  <PresentationFormat>自定义</PresentationFormat>
  <Paragraphs>7682</Paragraphs>
  <Slides>149</Slides>
  <Notes>149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149</vt:i4>
      </vt:variant>
    </vt:vector>
  </HeadingPairs>
  <TitlesOfParts>
    <vt:vector size="176" baseType="lpstr">
      <vt:lpstr>.AppleSystemUIFont</vt:lpstr>
      <vt:lpstr>Akkurat Pro</vt:lpstr>
      <vt:lpstr>FZLanTingHeiS-R-GB</vt:lpstr>
      <vt:lpstr>Helvetica Neue</vt:lpstr>
      <vt:lpstr>Huawei Sans</vt:lpstr>
      <vt:lpstr>等线</vt:lpstr>
      <vt:lpstr>方正兰亭粗黑简体</vt:lpstr>
      <vt:lpstr>方正兰亭黑简体</vt:lpstr>
      <vt:lpstr>方正兰亭细黑简体</vt:lpstr>
      <vt:lpstr>方正兰亭中黑简体</vt:lpstr>
      <vt:lpstr>思源黑体 CN Bold</vt:lpstr>
      <vt:lpstr>微软雅黑</vt:lpstr>
      <vt:lpstr>微软雅黑</vt:lpstr>
      <vt:lpstr>Arial</vt:lpstr>
      <vt:lpstr>Arial Narrow</vt:lpstr>
      <vt:lpstr>Calibri</vt:lpstr>
      <vt:lpstr>Calibri Light</vt:lpstr>
      <vt:lpstr>Franklin Gothic Book</vt:lpstr>
      <vt:lpstr>Helvetica</vt:lpstr>
      <vt:lpstr>Montserrat</vt:lpstr>
      <vt:lpstr>Times New Roman</vt:lpstr>
      <vt:lpstr>Wingdings</vt:lpstr>
      <vt:lpstr>封面页_图片版 </vt:lpstr>
      <vt:lpstr>4_章节页</vt:lpstr>
      <vt:lpstr>33_章节页</vt:lpstr>
      <vt:lpstr>结束页</vt:lpstr>
      <vt:lpstr>5_章节页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Wangwanli</dc:creator>
  <cp:lastModifiedBy>zhengyouan</cp:lastModifiedBy>
  <cp:revision>815</cp:revision>
  <dcterms:created xsi:type="dcterms:W3CDTF">2020-08-28T08:44:19Z</dcterms:created>
  <dcterms:modified xsi:type="dcterms:W3CDTF">2026-05-12T12:43:28Z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(3)unG7UO3YDknycb3t/EAYm7mhMKOXYnxfHGActAPmabwrZwin388XLR8zyzBi1Ei2usl/5U+c
YbSRQm6Thk8y+CBuCcUgBl7SKakYs0LpepBQWut5hWhdwWGXFBLaxaWOc8Idg8TlYIDb7E91
0KKCizIvY4XkFx7KOMpiJRmRSc/WT43FGqsxZfrbmmX37LHzBq76hLT2nNVOzStT5LZv+qGP
Fma4W6Epv4kVg0H70t</vt:lpwstr>
  </property>
  <property fmtid="{D5CDD505-2E9C-101B-9397-08002B2CF9AE}" pid="3" name="_2015_ms_pID_7253431">
    <vt:lpwstr>5pRSJPixeYyPobLeD1Ay+XX9uIyhRgUOj5vJSdEFiVkj9i/E7T11Ro
+bMiDXVjud7Bim8TVB7OmMSuV47gb4VfD1saVpzLo8osgcfJb6Jl64YUrGeeknLfAQ6GQJ5C
xtKieixVMeqjNNHCQtfxORmjeJwClGnW4dBsl2InpMa2pGMsVWecp3VH2q/XUwLgxB6xONPn
3KPSI3PLVrji2n1JvSELKlFzxHUf2K8VHezG</vt:lpwstr>
  </property>
  <property fmtid="{D5CDD505-2E9C-101B-9397-08002B2CF9AE}" pid="4" name="_2015_ms_pID_7253432">
    <vt:lpwstr>BUSaLZ+UogWU7fZQ4E7oBrY=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1706252334</vt:lpwstr>
  </property>
</Properties>
</file>